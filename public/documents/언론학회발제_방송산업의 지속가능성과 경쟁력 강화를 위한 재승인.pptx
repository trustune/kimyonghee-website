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5"/>
  </p:notesMasterIdLst>
  <p:sldIdLst>
    <p:sldId id="256" r:id="rId2"/>
    <p:sldId id="7616" r:id="rId3"/>
    <p:sldId id="266" r:id="rId4"/>
    <p:sldId id="267" r:id="rId5"/>
    <p:sldId id="268" r:id="rId6"/>
    <p:sldId id="269" r:id="rId7"/>
    <p:sldId id="7617" r:id="rId8"/>
    <p:sldId id="270" r:id="rId9"/>
    <p:sldId id="271" r:id="rId10"/>
    <p:sldId id="272" r:id="rId11"/>
    <p:sldId id="274" r:id="rId12"/>
    <p:sldId id="7618" r:id="rId13"/>
    <p:sldId id="275" r:id="rId14"/>
    <p:sldId id="276" r:id="rId15"/>
    <p:sldId id="278" r:id="rId16"/>
    <p:sldId id="279" r:id="rId17"/>
    <p:sldId id="280" r:id="rId18"/>
    <p:sldId id="7619" r:id="rId19"/>
    <p:sldId id="281" r:id="rId20"/>
    <p:sldId id="282" r:id="rId21"/>
    <p:sldId id="285" r:id="rId22"/>
    <p:sldId id="284" r:id="rId23"/>
    <p:sldId id="286" r:id="rId24"/>
    <p:sldId id="287" r:id="rId25"/>
    <p:sldId id="288" r:id="rId26"/>
    <p:sldId id="7620" r:id="rId27"/>
    <p:sldId id="283" r:id="rId28"/>
    <p:sldId id="289" r:id="rId29"/>
    <p:sldId id="290" r:id="rId30"/>
    <p:sldId id="7621" r:id="rId31"/>
    <p:sldId id="7622" r:id="rId32"/>
    <p:sldId id="7623" r:id="rId33"/>
    <p:sldId id="265" r:id="rId34"/>
  </p:sldIdLst>
  <p:sldSz cx="18288000" cy="10287000"/>
  <p:notesSz cx="6858000" cy="9144000"/>
  <p:embeddedFontLst>
    <p:embeddedFont>
      <p:font typeface="Noto Sans KR" panose="020B0200000000000000" pitchFamily="50" charset="-127"/>
      <p:regular r:id="rId36"/>
      <p:bold r:id="rId37"/>
    </p:embeddedFont>
    <p:embeddedFont>
      <p:font typeface="맑은 고딕" panose="020B0503020000020004" pitchFamily="50" charset="-127"/>
      <p:regular r:id="rId38"/>
      <p:bold r:id="rId39"/>
    </p:embeddedFont>
    <p:embeddedFont>
      <p:font typeface="조선굵은명조" panose="02030504000101010101" pitchFamily="18" charset="-127"/>
      <p:regular r:id="rId40"/>
    </p:embeddedFont>
    <p:embeddedFont>
      <p:font typeface="페이퍼로지 2 ExtraLight" pitchFamily="2" charset="-127"/>
      <p:regular r:id="rId41"/>
    </p:embeddedFont>
    <p:embeddedFont>
      <p:font typeface="페이퍼로지 3 Light" pitchFamily="2" charset="-127"/>
      <p:regular r:id="rId42"/>
    </p:embeddedFont>
    <p:embeddedFont>
      <p:font typeface="페이퍼로지 4 Regular" pitchFamily="2" charset="-127"/>
      <p:regular r:id="rId43"/>
    </p:embeddedFont>
    <p:embeddedFont>
      <p:font typeface="페이퍼로지 5 Medium" pitchFamily="2" charset="-127"/>
      <p:regular r:id="rId44"/>
    </p:embeddedFont>
    <p:embeddedFont>
      <p:font typeface="페이퍼로지 6 SemiBold" pitchFamily="2" charset="-127"/>
      <p:bold r:id="rId45"/>
    </p:embeddedFont>
    <p:embeddedFont>
      <p:font typeface="페이퍼로지 7 Bold" pitchFamily="2" charset="-127"/>
      <p:bold r:id="rId4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6" userDrawn="1">
          <p15:clr>
            <a:srgbClr val="A4A3A4"/>
          </p15:clr>
        </p15:guide>
        <p15:guide id="2" pos="283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4" d="100"/>
          <a:sy n="44" d="100"/>
        </p:scale>
        <p:origin x="66" y="3126"/>
      </p:cViewPr>
      <p:guideLst>
        <p:guide orient="horz" pos="2136"/>
        <p:guide pos="283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4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7.fntdata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2.fntdata"/><Relationship Id="rId40" Type="http://schemas.openxmlformats.org/officeDocument/2006/relationships/font" Target="fonts/font5.fntdata"/><Relationship Id="rId45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1.fntdata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43" Type="http://schemas.openxmlformats.org/officeDocument/2006/relationships/font" Target="fonts/font8.fntdata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3.fntdata"/><Relationship Id="rId46" Type="http://schemas.openxmlformats.org/officeDocument/2006/relationships/font" Target="fonts/font11.fntdata"/><Relationship Id="rId20" Type="http://schemas.openxmlformats.org/officeDocument/2006/relationships/slide" Target="slides/slide19.xml"/><Relationship Id="rId41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AD0BF3-1F1E-448C-9BB0-0DC83112AB3A}" type="datetimeFigureOut">
              <a:rPr lang="ko-KR" altLang="en-US" smtClean="0"/>
              <a:t>2025-10-11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4402AF-67F7-4B6A-8F8C-F5B61C7D80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42600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5697200" y="9715500"/>
            <a:ext cx="2133600" cy="365125"/>
          </a:xfrm>
        </p:spPr>
        <p:txBody>
          <a:bodyPr/>
          <a:lstStyle>
            <a:lvl1pPr>
              <a:defRPr sz="1400">
                <a:latin typeface="+mn-ea"/>
                <a:ea typeface="+mn-ea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0_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11"/>
          <p:cNvSpPr>
            <a:spLocks noGrp="1"/>
          </p:cNvSpPr>
          <p:nvPr>
            <p:ph type="body" sz="quarter" idx="12" hasCustomPrompt="1"/>
          </p:nvPr>
        </p:nvSpPr>
        <p:spPr>
          <a:xfrm>
            <a:off x="0" y="5250660"/>
            <a:ext cx="18288000" cy="139303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>
                <a:latin typeface="페이퍼로지 6 SemiBold" pitchFamily="2" charset="-127"/>
                <a:ea typeface="페이퍼로지 6 SemiBold" pitchFamily="2" charset="-127"/>
              </a:defRPr>
            </a:lvl1pPr>
          </a:lstStyle>
          <a:p>
            <a:pPr lvl="0"/>
            <a:r>
              <a:rPr lang="en-US" altLang="ko-KR" dirty="0"/>
              <a:t>PPT </a:t>
            </a:r>
            <a:r>
              <a:rPr lang="ko-KR" altLang="en-US" dirty="0"/>
              <a:t>문서 </a:t>
            </a:r>
            <a:r>
              <a:rPr lang="en-US" altLang="ko-KR" dirty="0"/>
              <a:t>Policy</a:t>
            </a:r>
            <a:endParaRPr lang="ko-KR" altLang="en-US" dirty="0"/>
          </a:p>
        </p:txBody>
      </p:sp>
      <p:sp>
        <p:nvSpPr>
          <p:cNvPr id="5" name="직사각형 4"/>
          <p:cNvSpPr/>
          <p:nvPr userDrawn="1"/>
        </p:nvSpPr>
        <p:spPr bwMode="auto">
          <a:xfrm>
            <a:off x="8213437" y="3643302"/>
            <a:ext cx="1861130" cy="1512168"/>
          </a:xfrm>
          <a:prstGeom prst="rect">
            <a:avLst/>
          </a:prstGeom>
          <a:solidFill>
            <a:schemeClr val="accent1"/>
          </a:solidFill>
          <a:ln w="317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marL="0" marR="0" lvl="0" indent="0" algn="ctr" defTabSz="13716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7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페이퍼로지 6 SemiBold" pitchFamily="2" charset="-127"/>
              <a:ea typeface="페이퍼로지 6 SemiBold" pitchFamily="2" charset="-127"/>
              <a:cs typeface="+mn-cs"/>
            </a:endParaRPr>
          </a:p>
        </p:txBody>
      </p:sp>
      <p:sp>
        <p:nvSpPr>
          <p:cNvPr id="4" name="텍스트 개체 틀 11"/>
          <p:cNvSpPr>
            <a:spLocks noGrp="1"/>
          </p:cNvSpPr>
          <p:nvPr>
            <p:ph type="body" sz="quarter" idx="13" hasCustomPrompt="1"/>
          </p:nvPr>
        </p:nvSpPr>
        <p:spPr>
          <a:xfrm>
            <a:off x="8206154" y="3643302"/>
            <a:ext cx="1875693" cy="1500198"/>
          </a:xfrm>
          <a:prstGeom prst="rect">
            <a:avLst/>
          </a:prstGeom>
          <a:solidFill>
            <a:srgbClr val="00ACFF"/>
          </a:solidFill>
        </p:spPr>
        <p:txBody>
          <a:bodyPr anchor="ctr"/>
          <a:lstStyle>
            <a:lvl1pPr marL="0" indent="0" algn="ctr">
              <a:buNone/>
              <a:defRPr sz="5400">
                <a:solidFill>
                  <a:schemeClr val="bg1"/>
                </a:solidFill>
                <a:latin typeface="페이퍼로지 6 SemiBold" pitchFamily="2" charset="-127"/>
                <a:ea typeface="페이퍼로지 6 SemiBold" pitchFamily="2" charset="-127"/>
              </a:defRPr>
            </a:lvl1pPr>
          </a:lstStyle>
          <a:p>
            <a:pPr lvl="0"/>
            <a:r>
              <a:rPr lang="en-US" altLang="ko-KR" dirty="0"/>
              <a:t>O</a:t>
            </a:r>
            <a:endParaRPr lang="ko-KR" altLang="en-US" dirty="0"/>
          </a:p>
        </p:txBody>
      </p:sp>
      <p:grpSp>
        <p:nvGrpSpPr>
          <p:cNvPr id="14" name="그룹 13"/>
          <p:cNvGrpSpPr/>
          <p:nvPr userDrawn="1"/>
        </p:nvGrpSpPr>
        <p:grpSpPr>
          <a:xfrm>
            <a:off x="14132187" y="6929502"/>
            <a:ext cx="4132350" cy="3357534"/>
            <a:chOff x="7680335" y="4645068"/>
            <a:chExt cx="2238356" cy="2238356"/>
          </a:xfrm>
        </p:grpSpPr>
        <p:sp>
          <p:nvSpPr>
            <p:cNvPr id="7" name="직각 삼각형 6"/>
            <p:cNvSpPr/>
            <p:nvPr userDrawn="1"/>
          </p:nvSpPr>
          <p:spPr bwMode="auto">
            <a:xfrm flipH="1">
              <a:off x="7680335" y="4645068"/>
              <a:ext cx="2238356" cy="2238356"/>
            </a:xfrm>
            <a:prstGeom prst="rtTriangle">
              <a:avLst/>
            </a:prstGeom>
            <a:solidFill>
              <a:schemeClr val="bg1">
                <a:lumMod val="95000"/>
              </a:schemeClr>
            </a:solidFill>
            <a:ln w="31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marL="0" marR="0" lvl="0" indent="0" algn="ctr" defTabSz="13716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페이퍼로지 6 SemiBold" pitchFamily="2" charset="-127"/>
                <a:ea typeface="페이퍼로지 6 SemiBold" pitchFamily="2" charset="-127"/>
                <a:cs typeface="+mn-cs"/>
              </a:endParaRPr>
            </a:p>
          </p:txBody>
        </p:sp>
        <p:sp>
          <p:nvSpPr>
            <p:cNvPr id="8" name="직각 삼각형 7"/>
            <p:cNvSpPr/>
            <p:nvPr userDrawn="1"/>
          </p:nvSpPr>
          <p:spPr bwMode="auto">
            <a:xfrm flipH="1">
              <a:off x="8561393" y="5526126"/>
              <a:ext cx="1357298" cy="1357298"/>
            </a:xfrm>
            <a:prstGeom prst="rtTriangle">
              <a:avLst/>
            </a:prstGeom>
            <a:solidFill>
              <a:schemeClr val="bg1"/>
            </a:solidFill>
            <a:ln w="31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marL="0" marR="0" lvl="0" indent="0" algn="ctr" defTabSz="13716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페이퍼로지 6 SemiBold" pitchFamily="2" charset="-127"/>
                <a:ea typeface="페이퍼로지 6 SemiBold" pitchFamily="2" charset="-127"/>
                <a:cs typeface="+mn-cs"/>
              </a:endParaRPr>
            </a:p>
          </p:txBody>
        </p:sp>
        <p:sp>
          <p:nvSpPr>
            <p:cNvPr id="9" name="직각 삼각형 8"/>
            <p:cNvSpPr/>
            <p:nvPr userDrawn="1"/>
          </p:nvSpPr>
          <p:spPr bwMode="auto">
            <a:xfrm flipH="1">
              <a:off x="8667776" y="5632509"/>
              <a:ext cx="1250915" cy="1250915"/>
            </a:xfrm>
            <a:prstGeom prst="rtTriangle">
              <a:avLst/>
            </a:prstGeom>
            <a:solidFill>
              <a:srgbClr val="00ACFF"/>
            </a:solidFill>
            <a:ln w="31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marL="0" marR="0" lvl="0" indent="0" algn="ctr" defTabSz="13716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페이퍼로지 6 SemiBold" pitchFamily="2" charset="-127"/>
                <a:ea typeface="페이퍼로지 6 SemiBold" pitchFamily="2" charset="-127"/>
                <a:cs typeface="+mn-cs"/>
              </a:endParaRPr>
            </a:p>
          </p:txBody>
        </p:sp>
        <p:sp>
          <p:nvSpPr>
            <p:cNvPr id="10" name="직각 삼각형 9"/>
            <p:cNvSpPr/>
            <p:nvPr userDrawn="1"/>
          </p:nvSpPr>
          <p:spPr bwMode="auto">
            <a:xfrm flipH="1">
              <a:off x="8918559" y="5883292"/>
              <a:ext cx="1000132" cy="1000132"/>
            </a:xfrm>
            <a:prstGeom prst="rtTriangle">
              <a:avLst/>
            </a:prstGeom>
            <a:solidFill>
              <a:schemeClr val="bg1"/>
            </a:solidFill>
            <a:ln w="31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marL="0" marR="0" lvl="0" indent="0" algn="ctr" defTabSz="13716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페이퍼로지 6 SemiBold" pitchFamily="2" charset="-127"/>
                <a:ea typeface="페이퍼로지 6 SemiBold" pitchFamily="2" charset="-127"/>
                <a:cs typeface="+mn-cs"/>
              </a:endParaRPr>
            </a:p>
          </p:txBody>
        </p:sp>
        <p:sp>
          <p:nvSpPr>
            <p:cNvPr id="11" name="직각 삼각형 10"/>
            <p:cNvSpPr/>
            <p:nvPr userDrawn="1"/>
          </p:nvSpPr>
          <p:spPr bwMode="auto">
            <a:xfrm flipH="1">
              <a:off x="9234691" y="6199424"/>
              <a:ext cx="684000" cy="684000"/>
            </a:xfrm>
            <a:prstGeom prst="rtTriangle">
              <a:avLst/>
            </a:prstGeom>
            <a:solidFill>
              <a:schemeClr val="bg1">
                <a:lumMod val="95000"/>
              </a:schemeClr>
            </a:solidFill>
            <a:ln w="31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marL="0" marR="0" lvl="0" indent="0" algn="ctr" defTabSz="13716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페이퍼로지 6 SemiBold" pitchFamily="2" charset="-127"/>
                <a:ea typeface="페이퍼로지 6 SemiBold" pitchFamily="2" charset="-127"/>
                <a:cs typeface="+mn-cs"/>
              </a:endParaRPr>
            </a:p>
          </p:txBody>
        </p:sp>
        <p:sp>
          <p:nvSpPr>
            <p:cNvPr id="12" name="직각 삼각형 11"/>
            <p:cNvSpPr/>
            <p:nvPr userDrawn="1"/>
          </p:nvSpPr>
          <p:spPr bwMode="auto">
            <a:xfrm flipH="1">
              <a:off x="9414691" y="6379424"/>
              <a:ext cx="504000" cy="504000"/>
            </a:xfrm>
            <a:prstGeom prst="rtTriangle">
              <a:avLst/>
            </a:prstGeom>
            <a:solidFill>
              <a:schemeClr val="bg1"/>
            </a:solidFill>
            <a:ln w="31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marL="0" marR="0" lvl="0" indent="0" algn="ctr" defTabSz="13716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페이퍼로지 6 SemiBold" pitchFamily="2" charset="-127"/>
                <a:ea typeface="페이퍼로지 6 SemiBold" pitchFamily="2" charset="-127"/>
                <a:cs typeface="+mn-cs"/>
              </a:endParaRPr>
            </a:p>
          </p:txBody>
        </p:sp>
      </p:grpSp>
      <p:grpSp>
        <p:nvGrpSpPr>
          <p:cNvPr id="23" name="그룹 22"/>
          <p:cNvGrpSpPr/>
          <p:nvPr userDrawn="1"/>
        </p:nvGrpSpPr>
        <p:grpSpPr>
          <a:xfrm>
            <a:off x="-8028" y="0"/>
            <a:ext cx="4132350" cy="3357534"/>
            <a:chOff x="7439043" y="-1319246"/>
            <a:chExt cx="2238356" cy="2238356"/>
          </a:xfrm>
        </p:grpSpPr>
        <p:sp>
          <p:nvSpPr>
            <p:cNvPr id="16" name="직각 삼각형 15"/>
            <p:cNvSpPr/>
            <p:nvPr userDrawn="1"/>
          </p:nvSpPr>
          <p:spPr bwMode="auto">
            <a:xfrm flipV="1">
              <a:off x="7439043" y="-1319246"/>
              <a:ext cx="2238356" cy="2238356"/>
            </a:xfrm>
            <a:prstGeom prst="rtTriangle">
              <a:avLst/>
            </a:prstGeom>
            <a:solidFill>
              <a:schemeClr val="bg1">
                <a:lumMod val="95000"/>
              </a:schemeClr>
            </a:solidFill>
            <a:ln w="31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marL="0" marR="0" lvl="0" indent="0" algn="ctr" defTabSz="13716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페이퍼로지 6 SemiBold" pitchFamily="2" charset="-127"/>
                <a:ea typeface="페이퍼로지 6 SemiBold" pitchFamily="2" charset="-127"/>
                <a:cs typeface="+mn-cs"/>
              </a:endParaRPr>
            </a:p>
          </p:txBody>
        </p:sp>
        <p:sp>
          <p:nvSpPr>
            <p:cNvPr id="17" name="직각 삼각형 16"/>
            <p:cNvSpPr/>
            <p:nvPr userDrawn="1"/>
          </p:nvSpPr>
          <p:spPr bwMode="auto">
            <a:xfrm flipV="1">
              <a:off x="7439043" y="-1319246"/>
              <a:ext cx="1980000" cy="1980000"/>
            </a:xfrm>
            <a:prstGeom prst="rtTriangle">
              <a:avLst/>
            </a:prstGeom>
            <a:solidFill>
              <a:schemeClr val="bg1"/>
            </a:solidFill>
            <a:ln w="31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marL="0" marR="0" lvl="0" indent="0" algn="ctr" defTabSz="13716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페이퍼로지 6 SemiBold" pitchFamily="2" charset="-127"/>
                <a:ea typeface="페이퍼로지 6 SemiBold" pitchFamily="2" charset="-127"/>
                <a:cs typeface="+mn-cs"/>
              </a:endParaRPr>
            </a:p>
          </p:txBody>
        </p:sp>
        <p:sp>
          <p:nvSpPr>
            <p:cNvPr id="18" name="직각 삼각형 17"/>
            <p:cNvSpPr/>
            <p:nvPr userDrawn="1"/>
          </p:nvSpPr>
          <p:spPr bwMode="auto">
            <a:xfrm flipV="1">
              <a:off x="7439043" y="-1319246"/>
              <a:ext cx="1620000" cy="1620000"/>
            </a:xfrm>
            <a:prstGeom prst="rtTriangle">
              <a:avLst/>
            </a:prstGeom>
            <a:solidFill>
              <a:schemeClr val="bg1">
                <a:lumMod val="95000"/>
              </a:schemeClr>
            </a:solidFill>
            <a:ln w="31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marL="0" marR="0" lvl="0" indent="0" algn="ctr" defTabSz="13716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페이퍼로지 6 SemiBold" pitchFamily="2" charset="-127"/>
                <a:ea typeface="페이퍼로지 6 SemiBold" pitchFamily="2" charset="-127"/>
                <a:cs typeface="+mn-cs"/>
              </a:endParaRPr>
            </a:p>
          </p:txBody>
        </p:sp>
        <p:sp>
          <p:nvSpPr>
            <p:cNvPr id="19" name="직각 삼각형 18"/>
            <p:cNvSpPr/>
            <p:nvPr userDrawn="1"/>
          </p:nvSpPr>
          <p:spPr bwMode="auto">
            <a:xfrm flipV="1">
              <a:off x="7439043" y="-1319246"/>
              <a:ext cx="844565" cy="844565"/>
            </a:xfrm>
            <a:prstGeom prst="rtTriangle">
              <a:avLst/>
            </a:prstGeom>
            <a:solidFill>
              <a:schemeClr val="bg1"/>
            </a:solidFill>
            <a:ln w="31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marL="0" marR="0" lvl="0" indent="0" algn="ctr" defTabSz="13716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페이퍼로지 6 SemiBold" pitchFamily="2" charset="-127"/>
                <a:ea typeface="페이퍼로지 6 SemiBold" pitchFamily="2" charset="-127"/>
                <a:cs typeface="+mn-cs"/>
              </a:endParaRPr>
            </a:p>
          </p:txBody>
        </p:sp>
        <p:sp>
          <p:nvSpPr>
            <p:cNvPr id="20" name="직각 삼각형 19"/>
            <p:cNvSpPr/>
            <p:nvPr userDrawn="1"/>
          </p:nvSpPr>
          <p:spPr bwMode="auto">
            <a:xfrm flipV="1">
              <a:off x="7439043" y="-1319246"/>
              <a:ext cx="684000" cy="684000"/>
            </a:xfrm>
            <a:prstGeom prst="rtTriangle">
              <a:avLst/>
            </a:prstGeom>
            <a:solidFill>
              <a:srgbClr val="00ACFF"/>
            </a:solidFill>
            <a:ln w="3175" cap="flat" cmpd="sng" algn="ctr">
              <a:solidFill>
                <a:srgbClr val="00AC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marL="0" marR="0" lvl="0" indent="0" algn="ctr" defTabSz="13716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페이퍼로지 6 SemiBold" pitchFamily="2" charset="-127"/>
                <a:ea typeface="페이퍼로지 6 SemiBold" pitchFamily="2" charset="-127"/>
                <a:cs typeface="+mn-cs"/>
              </a:endParaRPr>
            </a:p>
          </p:txBody>
        </p:sp>
        <p:sp>
          <p:nvSpPr>
            <p:cNvPr id="21" name="직각 삼각형 20"/>
            <p:cNvSpPr/>
            <p:nvPr userDrawn="1"/>
          </p:nvSpPr>
          <p:spPr bwMode="auto">
            <a:xfrm flipV="1">
              <a:off x="7439043" y="-1319246"/>
              <a:ext cx="504000" cy="504000"/>
            </a:xfrm>
            <a:prstGeom prst="rtTriangle">
              <a:avLst/>
            </a:prstGeom>
            <a:solidFill>
              <a:schemeClr val="bg1"/>
            </a:solidFill>
            <a:ln w="31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marL="0" marR="0" lvl="0" indent="0" algn="ctr" defTabSz="13716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페이퍼로지 6 SemiBold" pitchFamily="2" charset="-127"/>
                <a:ea typeface="페이퍼로지 6 SemiBold" pitchFamily="2" charset="-127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103180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1028700" y="1169525"/>
            <a:ext cx="16230600" cy="0"/>
          </a:xfrm>
          <a:prstGeom prst="line">
            <a:avLst/>
          </a:prstGeom>
          <a:ln w="19050" cap="flat">
            <a:solidFill>
              <a:srgbClr val="D9D9D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3" name="Group 3"/>
          <p:cNvGrpSpPr/>
          <p:nvPr/>
        </p:nvGrpSpPr>
        <p:grpSpPr>
          <a:xfrm>
            <a:off x="1028700" y="8352123"/>
            <a:ext cx="16230600" cy="1085101"/>
            <a:chOff x="0" y="0"/>
            <a:chExt cx="8160170" cy="54555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60169" cy="545550"/>
            </a:xfrm>
            <a:custGeom>
              <a:avLst/>
              <a:gdLst/>
              <a:ahLst/>
              <a:cxnLst/>
              <a:rect l="l" t="t" r="r" b="b"/>
              <a:pathLst>
                <a:path w="8160169" h="545550">
                  <a:moveTo>
                    <a:pt x="6678" y="0"/>
                  </a:moveTo>
                  <a:lnTo>
                    <a:pt x="8153491" y="0"/>
                  </a:lnTo>
                  <a:cubicBezTo>
                    <a:pt x="8157180" y="0"/>
                    <a:pt x="8160169" y="2990"/>
                    <a:pt x="8160169" y="6678"/>
                  </a:cubicBezTo>
                  <a:lnTo>
                    <a:pt x="8160169" y="538872"/>
                  </a:lnTo>
                  <a:cubicBezTo>
                    <a:pt x="8160169" y="542561"/>
                    <a:pt x="8157180" y="545550"/>
                    <a:pt x="8153491" y="545550"/>
                  </a:cubicBezTo>
                  <a:lnTo>
                    <a:pt x="6678" y="545550"/>
                  </a:lnTo>
                  <a:cubicBezTo>
                    <a:pt x="2990" y="545550"/>
                    <a:pt x="0" y="542561"/>
                    <a:pt x="0" y="538872"/>
                  </a:cubicBezTo>
                  <a:lnTo>
                    <a:pt x="0" y="6678"/>
                  </a:lnTo>
                  <a:cubicBezTo>
                    <a:pt x="0" y="2990"/>
                    <a:pt x="2990" y="0"/>
                    <a:pt x="6678" y="0"/>
                  </a:cubicBezTo>
                  <a:close/>
                </a:path>
              </a:pathLst>
            </a:custGeom>
            <a:solidFill>
              <a:srgbClr val="00ACFF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9525"/>
              <a:ext cx="8160170" cy="555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27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28700" y="2802306"/>
            <a:ext cx="14592300" cy="10259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158"/>
              </a:lnSpc>
            </a:pPr>
            <a:r>
              <a:rPr lang="ko-KR" altLang="en-US" sz="5400" b="1" spc="-228">
                <a:solidFill>
                  <a:srgbClr val="454444"/>
                </a:solidFill>
                <a:latin typeface="페이퍼로지 6 SemiBold" pitchFamily="2" charset="-127"/>
                <a:ea typeface="페이퍼로지 6 SemiBold" pitchFamily="2" charset="-127"/>
                <a:cs typeface="Nanum Square Bold"/>
                <a:sym typeface="Nanum Square Bold"/>
              </a:rPr>
              <a:t>방송산업의 지속가능성과 경쟁력 강화를 위한 재승인</a:t>
            </a:r>
            <a:endParaRPr lang="en-US" sz="5400" b="1" spc="-228">
              <a:solidFill>
                <a:srgbClr val="454444"/>
              </a:solidFill>
              <a:latin typeface="페이퍼로지 6 SemiBold" pitchFamily="2" charset="-127"/>
              <a:ea typeface="페이퍼로지 6 SemiBold" pitchFamily="2" charset="-127"/>
              <a:cs typeface="Nanum Square Bold"/>
              <a:sym typeface="Nanum Square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028700" y="3830349"/>
            <a:ext cx="7512193" cy="10644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579"/>
              </a:lnSpc>
            </a:pPr>
            <a:r>
              <a:rPr lang="ko-KR" altLang="en-US" sz="5400" b="1" spc="-239">
                <a:solidFill>
                  <a:srgbClr val="15A9F1"/>
                </a:solidFill>
                <a:latin typeface="페이퍼로지 6 SemiBold" pitchFamily="2" charset="-127"/>
                <a:ea typeface="페이퍼로지 6 SemiBold" pitchFamily="2" charset="-127"/>
                <a:cs typeface="Nanum Square Bold"/>
                <a:sym typeface="Nanum Square Bold"/>
              </a:rPr>
              <a:t>제도 개선 방향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09659" y="5409174"/>
            <a:ext cx="6946573" cy="7437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17"/>
              </a:lnSpc>
            </a:pPr>
            <a:r>
              <a:rPr lang="ko-KR" altLang="en-US" sz="2431">
                <a:solidFill>
                  <a:srgbClr val="454444"/>
                </a:solidFill>
                <a:latin typeface="페이퍼로지 3 Light" pitchFamily="2" charset="-127"/>
                <a:ea typeface="페이퍼로지 3 Light" pitchFamily="2" charset="-127"/>
                <a:cs typeface="Nanum Square"/>
                <a:sym typeface="Nanum Square"/>
              </a:rPr>
              <a:t>종편채널 콘텐츠 투자비 준수 조건의 재검토</a:t>
            </a:r>
            <a:br>
              <a:rPr lang="ko-KR" altLang="en-US" sz="2431">
                <a:solidFill>
                  <a:srgbClr val="454444"/>
                </a:solidFill>
                <a:latin typeface="페이퍼로지 3 Light" pitchFamily="2" charset="-127"/>
                <a:ea typeface="페이퍼로지 3 Light" pitchFamily="2" charset="-127"/>
                <a:cs typeface="Nanum Square"/>
                <a:sym typeface="Nanum Square"/>
              </a:rPr>
            </a:br>
            <a:r>
              <a:rPr lang="en-US" altLang="ko-KR" sz="2431">
                <a:solidFill>
                  <a:srgbClr val="454444"/>
                </a:solidFill>
                <a:latin typeface="페이퍼로지 3 Light" pitchFamily="2" charset="-127"/>
                <a:ea typeface="페이퍼로지 3 Light" pitchFamily="2" charset="-127"/>
                <a:cs typeface="Nanum Square"/>
                <a:sym typeface="Nanum Square"/>
              </a:rPr>
              <a:t>"</a:t>
            </a:r>
            <a:r>
              <a:rPr lang="ko-KR" altLang="en-US" sz="2431">
                <a:solidFill>
                  <a:srgbClr val="454444"/>
                </a:solidFill>
                <a:latin typeface="페이퍼로지 3 Light" pitchFamily="2" charset="-127"/>
                <a:ea typeface="페이퍼로지 3 Light" pitchFamily="2" charset="-127"/>
                <a:cs typeface="Nanum Square"/>
                <a:sym typeface="Nanum Square"/>
              </a:rPr>
              <a:t>투자의 역설</a:t>
            </a:r>
            <a:r>
              <a:rPr lang="en-US" altLang="ko-KR" sz="2431">
                <a:solidFill>
                  <a:srgbClr val="454444"/>
                </a:solidFill>
                <a:latin typeface="페이퍼로지 3 Light" pitchFamily="2" charset="-127"/>
                <a:ea typeface="페이퍼로지 3 Light" pitchFamily="2" charset="-127"/>
                <a:cs typeface="Nanum Square"/>
                <a:sym typeface="Nanum Square"/>
              </a:rPr>
              <a:t>"</a:t>
            </a:r>
            <a:r>
              <a:rPr lang="ko-KR" altLang="en-US" sz="2431">
                <a:solidFill>
                  <a:srgbClr val="454444"/>
                </a:solidFill>
                <a:latin typeface="페이퍼로지 3 Light" pitchFamily="2" charset="-127"/>
                <a:ea typeface="페이퍼로지 3 Light" pitchFamily="2" charset="-127"/>
                <a:cs typeface="Nanum Square"/>
                <a:sym typeface="Nanum Square"/>
              </a:rPr>
              <a:t>을 중심으로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652584" y="8723224"/>
            <a:ext cx="2429909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ko-KR" altLang="en-US" sz="2000">
                <a:solidFill>
                  <a:srgbClr val="FFFFFF"/>
                </a:solidFill>
                <a:latin typeface="페이퍼로지 3 Light" pitchFamily="2" charset="-127"/>
                <a:ea typeface="페이퍼로지 3 Light" pitchFamily="2" charset="-127"/>
                <a:cs typeface="Nanum Square"/>
                <a:sym typeface="Nanum Square"/>
              </a:rPr>
              <a:t>발표자</a:t>
            </a:r>
            <a:r>
              <a:rPr lang="en-US" altLang="ko-KR" sz="2000">
                <a:solidFill>
                  <a:srgbClr val="FFFFFF"/>
                </a:solidFill>
                <a:latin typeface="페이퍼로지 3 Light" pitchFamily="2" charset="-127"/>
                <a:ea typeface="페이퍼로지 3 Light" pitchFamily="2" charset="-127"/>
                <a:cs typeface="Nanum Square"/>
                <a:sym typeface="Nanum Square"/>
              </a:rPr>
              <a:t>: </a:t>
            </a:r>
            <a:r>
              <a:rPr lang="ko-KR" altLang="en-US" sz="2000">
                <a:solidFill>
                  <a:srgbClr val="FFFFFF"/>
                </a:solidFill>
                <a:latin typeface="페이퍼로지 3 Light" pitchFamily="2" charset="-127"/>
                <a:ea typeface="페이퍼로지 3 Light" pitchFamily="2" charset="-127"/>
                <a:cs typeface="Nanum Square"/>
                <a:sym typeface="Nanum Square"/>
              </a:rPr>
              <a:t>김용희</a:t>
            </a:r>
            <a:r>
              <a:rPr lang="en-US" altLang="ko-KR" sz="2000">
                <a:solidFill>
                  <a:srgbClr val="FFFFFF"/>
                </a:solidFill>
                <a:latin typeface="페이퍼로지 3 Light" pitchFamily="2" charset="-127"/>
                <a:ea typeface="페이퍼로지 3 Light" pitchFamily="2" charset="-127"/>
                <a:cs typeface="Nanum Square"/>
                <a:sym typeface="Nanum Square"/>
              </a:rPr>
              <a:t>(</a:t>
            </a:r>
            <a:r>
              <a:rPr lang="ko-KR" altLang="en-US" sz="2000">
                <a:solidFill>
                  <a:srgbClr val="FFFFFF"/>
                </a:solidFill>
                <a:latin typeface="페이퍼로지 3 Light" pitchFamily="2" charset="-127"/>
                <a:ea typeface="페이퍼로지 3 Light" pitchFamily="2" charset="-127"/>
                <a:cs typeface="Nanum Square"/>
                <a:sym typeface="Nanum Square"/>
              </a:rPr>
              <a:t>선문대</a:t>
            </a:r>
            <a:r>
              <a:rPr lang="en-US" altLang="ko-KR" sz="2000">
                <a:solidFill>
                  <a:srgbClr val="FFFFFF"/>
                </a:solidFill>
                <a:latin typeface="페이퍼로지 3 Light" pitchFamily="2" charset="-127"/>
                <a:ea typeface="페이퍼로지 3 Light" pitchFamily="2" charset="-127"/>
                <a:cs typeface="Nanum Square"/>
                <a:sym typeface="Nanum Square"/>
              </a:rPr>
              <a:t>)</a:t>
            </a:r>
            <a:endParaRPr lang="en-US" sz="2000">
              <a:solidFill>
                <a:srgbClr val="FFFFFF"/>
              </a:solidFill>
              <a:latin typeface="페이퍼로지 3 Light" pitchFamily="2" charset="-127"/>
              <a:ea typeface="페이퍼로지 3 Light" pitchFamily="2" charset="-127"/>
              <a:cs typeface="Nanum Square"/>
              <a:sym typeface="Nanum Square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5135245" y="792625"/>
            <a:ext cx="2124055" cy="2116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768"/>
              </a:lnSpc>
            </a:pPr>
            <a:r>
              <a:rPr lang="ko-KR" altLang="en-US" sz="1474" b="1">
                <a:solidFill>
                  <a:srgbClr val="545454"/>
                </a:solidFill>
                <a:latin typeface="페이퍼로지 6 SemiBold" pitchFamily="2" charset="-127"/>
                <a:ea typeface="페이퍼로지 6 SemiBold" pitchFamily="2" charset="-127"/>
                <a:cs typeface="Nanum Square Bold"/>
                <a:sym typeface="Nanum Square Bold"/>
              </a:rPr>
              <a:t>선문대학교</a:t>
            </a:r>
            <a:endParaRPr lang="en-US" sz="1474" b="1">
              <a:solidFill>
                <a:srgbClr val="545454"/>
              </a:solidFill>
              <a:latin typeface="페이퍼로지 6 SemiBold" pitchFamily="2" charset="-127"/>
              <a:ea typeface="페이퍼로지 6 SemiBold" pitchFamily="2" charset="-127"/>
              <a:cs typeface="Nanum Square Bold"/>
              <a:sym typeface="Nanum Square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123950" y="811675"/>
            <a:ext cx="3143250" cy="2239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888"/>
              </a:lnSpc>
            </a:pPr>
            <a:r>
              <a:rPr lang="ko-KR" altLang="en-US" sz="1574">
                <a:solidFill>
                  <a:srgbClr val="545454"/>
                </a:solidFill>
                <a:latin typeface="페이퍼로지 3 Light" pitchFamily="2" charset="-127"/>
                <a:ea typeface="페이퍼로지 3 Light" pitchFamily="2" charset="-127"/>
                <a:cs typeface="Nanum Square"/>
                <a:sym typeface="Nanum Square"/>
              </a:rPr>
              <a:t>한국언론학회 </a:t>
            </a:r>
            <a:r>
              <a:rPr lang="en-US" altLang="ko-KR" sz="1574">
                <a:solidFill>
                  <a:srgbClr val="545454"/>
                </a:solidFill>
                <a:latin typeface="페이퍼로지 3 Light" pitchFamily="2" charset="-127"/>
                <a:ea typeface="페이퍼로지 3 Light" pitchFamily="2" charset="-127"/>
                <a:cs typeface="Nanum Square"/>
                <a:sym typeface="Nanum Square"/>
              </a:rPr>
              <a:t>2025 </a:t>
            </a:r>
            <a:r>
              <a:rPr lang="ko-KR" altLang="en-US" sz="1574">
                <a:solidFill>
                  <a:srgbClr val="545454"/>
                </a:solidFill>
                <a:latin typeface="페이퍼로지 3 Light" pitchFamily="2" charset="-127"/>
                <a:ea typeface="페이퍼로지 3 Light" pitchFamily="2" charset="-127"/>
                <a:cs typeface="Nanum Square"/>
                <a:sym typeface="Nanum Square"/>
              </a:rPr>
              <a:t>가을철 학술대회</a:t>
            </a:r>
            <a:endParaRPr lang="en-US" sz="1574">
              <a:solidFill>
                <a:srgbClr val="545454"/>
              </a:solidFill>
              <a:latin typeface="페이퍼로지 3 Light" pitchFamily="2" charset="-127"/>
              <a:ea typeface="페이퍼로지 3 Light" pitchFamily="2" charset="-127"/>
              <a:cs typeface="Nanum Square"/>
              <a:sym typeface="Nanum Square"/>
            </a:endParaRPr>
          </a:p>
        </p:txBody>
      </p:sp>
      <p:sp>
        <p:nvSpPr>
          <p:cNvPr id="14" name="Freeform 14"/>
          <p:cNvSpPr/>
          <p:nvPr/>
        </p:nvSpPr>
        <p:spPr>
          <a:xfrm flipH="1">
            <a:off x="13011952" y="4909134"/>
            <a:ext cx="3961598" cy="3442989"/>
          </a:xfrm>
          <a:custGeom>
            <a:avLst/>
            <a:gdLst/>
            <a:ahLst/>
            <a:cxnLst/>
            <a:rect l="l" t="t" r="r" b="b"/>
            <a:pathLst>
              <a:path w="3961598" h="3442989">
                <a:moveTo>
                  <a:pt x="3961598" y="0"/>
                </a:moveTo>
                <a:lnTo>
                  <a:pt x="0" y="0"/>
                </a:lnTo>
                <a:lnTo>
                  <a:pt x="0" y="3442989"/>
                </a:lnTo>
                <a:lnTo>
                  <a:pt x="3961598" y="3442989"/>
                </a:lnTo>
                <a:lnTo>
                  <a:pt x="396159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6" name="슬라이드 번호 개체 틀 15">
            <a:extLst>
              <a:ext uri="{FF2B5EF4-FFF2-40B4-BE49-F238E27FC236}">
                <a16:creationId xmlns:a16="http://schemas.microsoft.com/office/drawing/2014/main" id="{21D59E77-E1C8-B7B8-307D-5E2CCFE0A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D26D58C-8B61-4440-E004-11AE0A94712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/>
              <a:t>들어가며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06FAE7D-9781-AB74-AB44-7A212FC3A64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dirty="0"/>
              <a:t>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906425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FCB2C6-1185-A080-D0B7-CAB1011953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F523800B-D793-5E8E-0E2A-E4EC90C1F6B6}"/>
              </a:ext>
            </a:extLst>
          </p:cNvPr>
          <p:cNvSpPr/>
          <p:nvPr/>
        </p:nvSpPr>
        <p:spPr>
          <a:xfrm flipV="1">
            <a:off x="1028700" y="1169525"/>
            <a:ext cx="16230600" cy="0"/>
          </a:xfrm>
          <a:prstGeom prst="line">
            <a:avLst/>
          </a:prstGeom>
          <a:ln w="19050" cap="flat">
            <a:solidFill>
              <a:srgbClr val="D9D9D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>
              <a:latin typeface="페이퍼로지 5 Medium" pitchFamily="2" charset="-127"/>
              <a:ea typeface="페이퍼로지 5 Medium" pitchFamily="2" charset="-127"/>
            </a:endParaRPr>
          </a:p>
        </p:txBody>
      </p:sp>
      <p:grpSp>
        <p:nvGrpSpPr>
          <p:cNvPr id="8" name="Group 8">
            <a:extLst>
              <a:ext uri="{FF2B5EF4-FFF2-40B4-BE49-F238E27FC236}">
                <a16:creationId xmlns:a16="http://schemas.microsoft.com/office/drawing/2014/main" id="{53763EEF-6C26-6424-F0CE-9B0BDCA2BC98}"/>
              </a:ext>
            </a:extLst>
          </p:cNvPr>
          <p:cNvGrpSpPr/>
          <p:nvPr/>
        </p:nvGrpSpPr>
        <p:grpSpPr>
          <a:xfrm>
            <a:off x="1028700" y="2915858"/>
            <a:ext cx="16230600" cy="1673860"/>
            <a:chOff x="0" y="0"/>
            <a:chExt cx="8160170" cy="841557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21762CC8-A34F-19F9-7A85-8D80714EBD94}"/>
                </a:ext>
              </a:extLst>
            </p:cNvPr>
            <p:cNvSpPr/>
            <p:nvPr/>
          </p:nvSpPr>
          <p:spPr>
            <a:xfrm>
              <a:off x="0" y="0"/>
              <a:ext cx="8160169" cy="841557"/>
            </a:xfrm>
            <a:custGeom>
              <a:avLst/>
              <a:gdLst/>
              <a:ahLst/>
              <a:cxnLst/>
              <a:rect l="l" t="t" r="r" b="b"/>
              <a:pathLst>
                <a:path w="8160169" h="841557">
                  <a:moveTo>
                    <a:pt x="6678" y="0"/>
                  </a:moveTo>
                  <a:lnTo>
                    <a:pt x="8153491" y="0"/>
                  </a:lnTo>
                  <a:cubicBezTo>
                    <a:pt x="8157180" y="0"/>
                    <a:pt x="8160169" y="2990"/>
                    <a:pt x="8160169" y="6678"/>
                  </a:cubicBezTo>
                  <a:lnTo>
                    <a:pt x="8160169" y="834880"/>
                  </a:lnTo>
                  <a:cubicBezTo>
                    <a:pt x="8160169" y="838568"/>
                    <a:pt x="8157180" y="841557"/>
                    <a:pt x="8153491" y="841557"/>
                  </a:cubicBezTo>
                  <a:lnTo>
                    <a:pt x="6678" y="841557"/>
                  </a:lnTo>
                  <a:cubicBezTo>
                    <a:pt x="2990" y="841557"/>
                    <a:pt x="0" y="838568"/>
                    <a:pt x="0" y="834880"/>
                  </a:cubicBezTo>
                  <a:lnTo>
                    <a:pt x="0" y="6678"/>
                  </a:lnTo>
                  <a:cubicBezTo>
                    <a:pt x="0" y="2990"/>
                    <a:pt x="2990" y="0"/>
                    <a:pt x="6678" y="0"/>
                  </a:cubicBezTo>
                  <a:close/>
                </a:path>
              </a:pathLst>
            </a:custGeom>
            <a:solidFill>
              <a:srgbClr val="00ACFF"/>
            </a:solidFill>
          </p:spPr>
          <p:txBody>
            <a:bodyPr/>
            <a:lstStyle/>
            <a:p>
              <a:endParaRPr lang="ko-KR" altLang="en-US">
                <a:latin typeface="페이퍼로지 5 Medium" pitchFamily="2" charset="-127"/>
                <a:ea typeface="페이퍼로지 5 Medium" pitchFamily="2" charset="-127"/>
              </a:endParaRPr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68576057-A703-0613-01C8-DE8083694951}"/>
                </a:ext>
              </a:extLst>
            </p:cNvPr>
            <p:cNvSpPr txBox="1"/>
            <p:nvPr/>
          </p:nvSpPr>
          <p:spPr>
            <a:xfrm>
              <a:off x="0" y="-9525"/>
              <a:ext cx="8160170" cy="8510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27"/>
                </a:lnSpc>
              </a:pPr>
              <a:endParaRPr>
                <a:latin typeface="페이퍼로지 5 Medium" pitchFamily="2" charset="-127"/>
                <a:ea typeface="페이퍼로지 5 Medium" pitchFamily="2" charset="-127"/>
              </a:endParaRPr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FAC9CCFC-5D9D-1CC4-6BA1-56438479D091}"/>
              </a:ext>
            </a:extLst>
          </p:cNvPr>
          <p:cNvSpPr txBox="1"/>
          <p:nvPr/>
        </p:nvSpPr>
        <p:spPr>
          <a:xfrm>
            <a:off x="1028700" y="1399848"/>
            <a:ext cx="1502946" cy="11319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579"/>
              </a:lnSpc>
            </a:pPr>
            <a:r>
              <a:rPr lang="en-US" sz="7983" spc="-239">
                <a:solidFill>
                  <a:srgbClr val="15A9F1"/>
                </a:solidFill>
                <a:latin typeface="페이퍼로지 5 Medium" pitchFamily="2" charset="-127"/>
                <a:ea typeface="페이퍼로지 5 Medium" pitchFamily="2" charset="-127"/>
                <a:cs typeface="Nanum Square Bold"/>
                <a:sym typeface="Nanum Square Bold"/>
              </a:rPr>
              <a:t>01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07ED1BA6-8D88-A6E6-9BC9-EB580AED48F8}"/>
              </a:ext>
            </a:extLst>
          </p:cNvPr>
          <p:cNvSpPr txBox="1"/>
          <p:nvPr/>
        </p:nvSpPr>
        <p:spPr>
          <a:xfrm>
            <a:off x="2531646" y="1626872"/>
            <a:ext cx="3897016" cy="7905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ko-KR" altLang="en-US" sz="5000">
                <a:solidFill>
                  <a:srgbClr val="454444"/>
                </a:solidFill>
                <a:latin typeface="페이퍼로지 5 Medium" pitchFamily="2" charset="-127"/>
                <a:ea typeface="페이퍼로지 5 Medium" pitchFamily="2" charset="-127"/>
                <a:cs typeface="Nanum Square Bold"/>
                <a:sym typeface="Nanum Square Bold"/>
              </a:rPr>
              <a:t>들어가며</a:t>
            </a:r>
            <a:endParaRPr lang="en-US" sz="5000">
              <a:solidFill>
                <a:srgbClr val="454444"/>
              </a:solidFill>
              <a:latin typeface="페이퍼로지 5 Medium" pitchFamily="2" charset="-127"/>
              <a:ea typeface="페이퍼로지 5 Medium" pitchFamily="2" charset="-127"/>
              <a:cs typeface="Nanum Square Bold"/>
              <a:sym typeface="Nanum Square Bold"/>
            </a:endParaRP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5C9027DF-0AA1-54D8-975A-BEE3D4FC0CBD}"/>
              </a:ext>
            </a:extLst>
          </p:cNvPr>
          <p:cNvSpPr txBox="1"/>
          <p:nvPr/>
        </p:nvSpPr>
        <p:spPr>
          <a:xfrm>
            <a:off x="1123950" y="811675"/>
            <a:ext cx="3295650" cy="2239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888"/>
              </a:lnSpc>
            </a:pPr>
            <a:r>
              <a:rPr lang="ko-KR" altLang="en-US" sz="1574">
                <a:solidFill>
                  <a:srgbClr val="545454"/>
                </a:solidFill>
                <a:latin typeface="페이퍼로지 3 Light" pitchFamily="2" charset="-127"/>
                <a:ea typeface="페이퍼로지 3 Light" pitchFamily="2" charset="-127"/>
                <a:cs typeface="Nanum Square"/>
                <a:sym typeface="Nanum Square"/>
              </a:rPr>
              <a:t>한국언론학회 </a:t>
            </a:r>
            <a:r>
              <a:rPr lang="en-US" altLang="ko-KR" sz="1574">
                <a:solidFill>
                  <a:srgbClr val="545454"/>
                </a:solidFill>
                <a:latin typeface="페이퍼로지 3 Light" pitchFamily="2" charset="-127"/>
                <a:ea typeface="페이퍼로지 3 Light" pitchFamily="2" charset="-127"/>
                <a:cs typeface="Nanum Square"/>
                <a:sym typeface="Nanum Square"/>
              </a:rPr>
              <a:t>2025 </a:t>
            </a:r>
            <a:r>
              <a:rPr lang="ko-KR" altLang="en-US" sz="1574">
                <a:solidFill>
                  <a:srgbClr val="545454"/>
                </a:solidFill>
                <a:latin typeface="페이퍼로지 3 Light" pitchFamily="2" charset="-127"/>
                <a:ea typeface="페이퍼로지 3 Light" pitchFamily="2" charset="-127"/>
                <a:cs typeface="Nanum Square"/>
                <a:sym typeface="Nanum Square"/>
              </a:rPr>
              <a:t>가을철 학술대회</a:t>
            </a:r>
            <a:endParaRPr lang="en-US" altLang="ko-KR" sz="1574">
              <a:solidFill>
                <a:srgbClr val="545454"/>
              </a:solidFill>
              <a:latin typeface="페이퍼로지 3 Light" pitchFamily="2" charset="-127"/>
              <a:ea typeface="페이퍼로지 3 Light" pitchFamily="2" charset="-127"/>
              <a:cs typeface="Nanum Square"/>
              <a:sym typeface="Nanum Square"/>
            </a:endParaRPr>
          </a:p>
        </p:txBody>
      </p:sp>
      <p:sp>
        <p:nvSpPr>
          <p:cNvPr id="20" name="TextBox 12">
            <a:extLst>
              <a:ext uri="{FF2B5EF4-FFF2-40B4-BE49-F238E27FC236}">
                <a16:creationId xmlns:a16="http://schemas.microsoft.com/office/drawing/2014/main" id="{EDDD00EF-6A8E-DCE8-2CBD-A2FB6B4BA4FE}"/>
              </a:ext>
            </a:extLst>
          </p:cNvPr>
          <p:cNvSpPr txBox="1"/>
          <p:nvPr/>
        </p:nvSpPr>
        <p:spPr>
          <a:xfrm>
            <a:off x="15135245" y="792625"/>
            <a:ext cx="2124055" cy="2116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768"/>
              </a:lnSpc>
            </a:pPr>
            <a:r>
              <a:rPr lang="ko-KR" altLang="en-US" sz="1474" b="1">
                <a:solidFill>
                  <a:srgbClr val="545454"/>
                </a:solidFill>
                <a:latin typeface="페이퍼로지 6 SemiBold" pitchFamily="2" charset="-127"/>
                <a:ea typeface="페이퍼로지 6 SemiBold" pitchFamily="2" charset="-127"/>
                <a:cs typeface="Nanum Square Bold"/>
                <a:sym typeface="Nanum Square Bold"/>
              </a:rPr>
              <a:t>선문대학교</a:t>
            </a:r>
            <a:endParaRPr lang="en-US" sz="1474" b="1">
              <a:solidFill>
                <a:srgbClr val="545454"/>
              </a:solidFill>
              <a:latin typeface="페이퍼로지 6 SemiBold" pitchFamily="2" charset="-127"/>
              <a:ea typeface="페이퍼로지 6 SemiBold" pitchFamily="2" charset="-127"/>
              <a:cs typeface="Nanum Square Bold"/>
              <a:sym typeface="Nanum Square Bold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0DD4981-65B1-B047-F28E-D97A449ED29F}"/>
              </a:ext>
            </a:extLst>
          </p:cNvPr>
          <p:cNvSpPr txBox="1"/>
          <p:nvPr/>
        </p:nvSpPr>
        <p:spPr>
          <a:xfrm>
            <a:off x="1994467" y="3084215"/>
            <a:ext cx="11873933" cy="13162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i="0">
                <a:solidFill>
                  <a:srgbClr val="FFFFFF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2025</a:t>
            </a:r>
            <a:r>
              <a:rPr lang="ko-KR" altLang="en-US" sz="2800" i="0">
                <a:solidFill>
                  <a:srgbClr val="FFFFFF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년 </a:t>
            </a:r>
            <a:r>
              <a:rPr lang="en-US" altLang="ko-KR" sz="2800" i="0">
                <a:solidFill>
                  <a:srgbClr val="FFFFFF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11</a:t>
            </a:r>
            <a:r>
              <a:rPr lang="ko-KR" altLang="en-US" sz="2800" i="0">
                <a:solidFill>
                  <a:srgbClr val="FFFFFF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월 </a:t>
            </a:r>
            <a:r>
              <a:rPr lang="en-US" altLang="ko-KR" sz="2800" i="0">
                <a:solidFill>
                  <a:srgbClr val="FFFFFF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JTBC </a:t>
            </a:r>
            <a:r>
              <a:rPr lang="ko-KR" altLang="en-US" sz="2800" i="0">
                <a:solidFill>
                  <a:srgbClr val="FFFFFF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재승인 심사를 계기로 종편 </a:t>
            </a:r>
            <a:r>
              <a:rPr lang="en-US" altLang="ko-KR" sz="2800" i="0">
                <a:solidFill>
                  <a:srgbClr val="FFFFFF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4</a:t>
            </a:r>
            <a:r>
              <a:rPr lang="ko-KR" altLang="en-US" sz="2800" i="0">
                <a:solidFill>
                  <a:srgbClr val="FFFFFF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사 </a:t>
            </a:r>
            <a:br>
              <a:rPr lang="en-US" altLang="ko-KR" sz="2800" i="0">
                <a:solidFill>
                  <a:srgbClr val="FFFFFF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</a:br>
            <a:r>
              <a:rPr lang="ko-KR" altLang="en-US" sz="2800" i="0">
                <a:solidFill>
                  <a:srgbClr val="FFFFFF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콘텐츠 투자비 준수 조건 일괄 폐지 추진 필요성 대두</a:t>
            </a:r>
            <a:endParaRPr lang="ko-KR" altLang="en-US" sz="280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25" name="Freeform 17">
            <a:extLst>
              <a:ext uri="{FF2B5EF4-FFF2-40B4-BE49-F238E27FC236}">
                <a16:creationId xmlns:a16="http://schemas.microsoft.com/office/drawing/2014/main" id="{01E79A20-90C9-30DB-0590-1BC75A40F88D}"/>
              </a:ext>
            </a:extLst>
          </p:cNvPr>
          <p:cNvSpPr/>
          <p:nvPr/>
        </p:nvSpPr>
        <p:spPr>
          <a:xfrm>
            <a:off x="1255399" y="3497777"/>
            <a:ext cx="512369" cy="510021"/>
          </a:xfrm>
          <a:custGeom>
            <a:avLst/>
            <a:gdLst/>
            <a:ahLst/>
            <a:cxnLst/>
            <a:rect l="l" t="t" r="r" b="b"/>
            <a:pathLst>
              <a:path w="512369" h="510021">
                <a:moveTo>
                  <a:pt x="0" y="0"/>
                </a:moveTo>
                <a:lnTo>
                  <a:pt x="512370" y="0"/>
                </a:lnTo>
                <a:lnTo>
                  <a:pt x="512370" y="510021"/>
                </a:lnTo>
                <a:lnTo>
                  <a:pt x="0" y="5100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35" name="Group 3">
            <a:extLst>
              <a:ext uri="{FF2B5EF4-FFF2-40B4-BE49-F238E27FC236}">
                <a16:creationId xmlns:a16="http://schemas.microsoft.com/office/drawing/2014/main" id="{72B68A97-19F6-0E8C-BFDB-973D2C006729}"/>
              </a:ext>
            </a:extLst>
          </p:cNvPr>
          <p:cNvGrpSpPr/>
          <p:nvPr/>
        </p:nvGrpSpPr>
        <p:grpSpPr>
          <a:xfrm>
            <a:off x="1028700" y="5193720"/>
            <a:ext cx="7948076" cy="4303756"/>
            <a:chOff x="0" y="0"/>
            <a:chExt cx="3869376" cy="2095205"/>
          </a:xfrm>
        </p:grpSpPr>
        <p:sp>
          <p:nvSpPr>
            <p:cNvPr id="36" name="Freeform 4">
              <a:extLst>
                <a:ext uri="{FF2B5EF4-FFF2-40B4-BE49-F238E27FC236}">
                  <a16:creationId xmlns:a16="http://schemas.microsoft.com/office/drawing/2014/main" id="{9B6E7402-579C-0638-9630-6F3F41670458}"/>
                </a:ext>
              </a:extLst>
            </p:cNvPr>
            <p:cNvSpPr/>
            <p:nvPr/>
          </p:nvSpPr>
          <p:spPr>
            <a:xfrm>
              <a:off x="0" y="0"/>
              <a:ext cx="3869376" cy="2095205"/>
            </a:xfrm>
            <a:custGeom>
              <a:avLst/>
              <a:gdLst/>
              <a:ahLst/>
              <a:cxnLst/>
              <a:rect l="l" t="t" r="r" b="b"/>
              <a:pathLst>
                <a:path w="3869376" h="2095205">
                  <a:moveTo>
                    <a:pt x="14611" y="0"/>
                  </a:moveTo>
                  <a:lnTo>
                    <a:pt x="3854765" y="0"/>
                  </a:lnTo>
                  <a:cubicBezTo>
                    <a:pt x="3858640" y="0"/>
                    <a:pt x="3862357" y="1539"/>
                    <a:pt x="3865097" y="4279"/>
                  </a:cubicBezTo>
                  <a:cubicBezTo>
                    <a:pt x="3867837" y="7020"/>
                    <a:pt x="3869376" y="10736"/>
                    <a:pt x="3869376" y="14611"/>
                  </a:cubicBezTo>
                  <a:lnTo>
                    <a:pt x="3869376" y="2080594"/>
                  </a:lnTo>
                  <a:cubicBezTo>
                    <a:pt x="3869376" y="2088664"/>
                    <a:pt x="3862835" y="2095205"/>
                    <a:pt x="3854765" y="2095205"/>
                  </a:cubicBezTo>
                  <a:lnTo>
                    <a:pt x="14611" y="2095205"/>
                  </a:lnTo>
                  <a:cubicBezTo>
                    <a:pt x="10736" y="2095205"/>
                    <a:pt x="7020" y="2093666"/>
                    <a:pt x="4279" y="2090926"/>
                  </a:cubicBezTo>
                  <a:cubicBezTo>
                    <a:pt x="1539" y="2088186"/>
                    <a:pt x="0" y="2084469"/>
                    <a:pt x="0" y="2080594"/>
                  </a:cubicBezTo>
                  <a:lnTo>
                    <a:pt x="0" y="14611"/>
                  </a:lnTo>
                  <a:cubicBezTo>
                    <a:pt x="0" y="6542"/>
                    <a:pt x="6542" y="0"/>
                    <a:pt x="1461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15A9F1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7" name="TextBox 5">
              <a:extLst>
                <a:ext uri="{FF2B5EF4-FFF2-40B4-BE49-F238E27FC236}">
                  <a16:creationId xmlns:a16="http://schemas.microsoft.com/office/drawing/2014/main" id="{70D5D3A8-E844-1716-D7EA-A37F99B46D27}"/>
                </a:ext>
              </a:extLst>
            </p:cNvPr>
            <p:cNvSpPr txBox="1"/>
            <p:nvPr/>
          </p:nvSpPr>
          <p:spPr>
            <a:xfrm>
              <a:off x="0" y="-9525"/>
              <a:ext cx="3869376" cy="21047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27"/>
                </a:lnSpc>
              </a:pPr>
              <a:endParaRPr/>
            </a:p>
          </p:txBody>
        </p:sp>
      </p:grpSp>
      <p:grpSp>
        <p:nvGrpSpPr>
          <p:cNvPr id="38" name="Group 6">
            <a:extLst>
              <a:ext uri="{FF2B5EF4-FFF2-40B4-BE49-F238E27FC236}">
                <a16:creationId xmlns:a16="http://schemas.microsoft.com/office/drawing/2014/main" id="{A95DFA4E-B98D-01CA-EE95-D8ADBE9FEEBC}"/>
              </a:ext>
            </a:extLst>
          </p:cNvPr>
          <p:cNvGrpSpPr/>
          <p:nvPr/>
        </p:nvGrpSpPr>
        <p:grpSpPr>
          <a:xfrm>
            <a:off x="9311224" y="5193720"/>
            <a:ext cx="7948076" cy="4303756"/>
            <a:chOff x="0" y="0"/>
            <a:chExt cx="3869376" cy="2095205"/>
          </a:xfrm>
        </p:grpSpPr>
        <p:sp>
          <p:nvSpPr>
            <p:cNvPr id="39" name="Freeform 7">
              <a:extLst>
                <a:ext uri="{FF2B5EF4-FFF2-40B4-BE49-F238E27FC236}">
                  <a16:creationId xmlns:a16="http://schemas.microsoft.com/office/drawing/2014/main" id="{E55954CC-C445-7806-DDAD-1BB4B3601614}"/>
                </a:ext>
              </a:extLst>
            </p:cNvPr>
            <p:cNvSpPr/>
            <p:nvPr/>
          </p:nvSpPr>
          <p:spPr>
            <a:xfrm>
              <a:off x="0" y="0"/>
              <a:ext cx="3869376" cy="2095205"/>
            </a:xfrm>
            <a:custGeom>
              <a:avLst/>
              <a:gdLst/>
              <a:ahLst/>
              <a:cxnLst/>
              <a:rect l="l" t="t" r="r" b="b"/>
              <a:pathLst>
                <a:path w="3869376" h="2095205">
                  <a:moveTo>
                    <a:pt x="14611" y="0"/>
                  </a:moveTo>
                  <a:lnTo>
                    <a:pt x="3854765" y="0"/>
                  </a:lnTo>
                  <a:cubicBezTo>
                    <a:pt x="3858640" y="0"/>
                    <a:pt x="3862357" y="1539"/>
                    <a:pt x="3865097" y="4279"/>
                  </a:cubicBezTo>
                  <a:cubicBezTo>
                    <a:pt x="3867837" y="7020"/>
                    <a:pt x="3869376" y="10736"/>
                    <a:pt x="3869376" y="14611"/>
                  </a:cubicBezTo>
                  <a:lnTo>
                    <a:pt x="3869376" y="2080594"/>
                  </a:lnTo>
                  <a:cubicBezTo>
                    <a:pt x="3869376" y="2088664"/>
                    <a:pt x="3862835" y="2095205"/>
                    <a:pt x="3854765" y="2095205"/>
                  </a:cubicBezTo>
                  <a:lnTo>
                    <a:pt x="14611" y="2095205"/>
                  </a:lnTo>
                  <a:cubicBezTo>
                    <a:pt x="10736" y="2095205"/>
                    <a:pt x="7020" y="2093666"/>
                    <a:pt x="4279" y="2090926"/>
                  </a:cubicBezTo>
                  <a:cubicBezTo>
                    <a:pt x="1539" y="2088186"/>
                    <a:pt x="0" y="2084469"/>
                    <a:pt x="0" y="2080594"/>
                  </a:cubicBezTo>
                  <a:lnTo>
                    <a:pt x="0" y="14611"/>
                  </a:lnTo>
                  <a:cubicBezTo>
                    <a:pt x="0" y="6542"/>
                    <a:pt x="6542" y="0"/>
                    <a:pt x="1461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15A9F1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0" name="TextBox 8">
              <a:extLst>
                <a:ext uri="{FF2B5EF4-FFF2-40B4-BE49-F238E27FC236}">
                  <a16:creationId xmlns:a16="http://schemas.microsoft.com/office/drawing/2014/main" id="{8E32CFB5-6B4C-18D3-581B-6B756BA1DFEC}"/>
                </a:ext>
              </a:extLst>
            </p:cNvPr>
            <p:cNvSpPr txBox="1"/>
            <p:nvPr/>
          </p:nvSpPr>
          <p:spPr>
            <a:xfrm>
              <a:off x="0" y="-9525"/>
              <a:ext cx="3869376" cy="21047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27"/>
                </a:lnSpc>
              </a:pPr>
              <a:endParaRPr/>
            </a:p>
          </p:txBody>
        </p:sp>
      </p:grpSp>
      <p:sp>
        <p:nvSpPr>
          <p:cNvPr id="41" name="AutoShape 9">
            <a:extLst>
              <a:ext uri="{FF2B5EF4-FFF2-40B4-BE49-F238E27FC236}">
                <a16:creationId xmlns:a16="http://schemas.microsoft.com/office/drawing/2014/main" id="{AB69DCBE-568D-47D4-8998-2CFBA54F3516}"/>
              </a:ext>
            </a:extLst>
          </p:cNvPr>
          <p:cNvSpPr/>
          <p:nvPr/>
        </p:nvSpPr>
        <p:spPr>
          <a:xfrm>
            <a:off x="1295309" y="6666466"/>
            <a:ext cx="7508233" cy="0"/>
          </a:xfrm>
          <a:prstGeom prst="line">
            <a:avLst/>
          </a:prstGeom>
          <a:ln w="9525" cap="flat">
            <a:solidFill>
              <a:srgbClr val="15A9F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AutoShape 10">
            <a:extLst>
              <a:ext uri="{FF2B5EF4-FFF2-40B4-BE49-F238E27FC236}">
                <a16:creationId xmlns:a16="http://schemas.microsoft.com/office/drawing/2014/main" id="{A1817A01-E1F7-0D2C-93AF-0CB07B753D19}"/>
              </a:ext>
            </a:extLst>
          </p:cNvPr>
          <p:cNvSpPr/>
          <p:nvPr/>
        </p:nvSpPr>
        <p:spPr>
          <a:xfrm>
            <a:off x="9577833" y="6666466"/>
            <a:ext cx="7508233" cy="0"/>
          </a:xfrm>
          <a:prstGeom prst="line">
            <a:avLst/>
          </a:prstGeom>
          <a:ln w="9525" cap="flat">
            <a:solidFill>
              <a:srgbClr val="15A9F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Box 22">
            <a:extLst>
              <a:ext uri="{FF2B5EF4-FFF2-40B4-BE49-F238E27FC236}">
                <a16:creationId xmlns:a16="http://schemas.microsoft.com/office/drawing/2014/main" id="{DB35DC2A-2B20-0B81-A32E-66A0E51C791B}"/>
              </a:ext>
            </a:extLst>
          </p:cNvPr>
          <p:cNvSpPr txBox="1"/>
          <p:nvPr/>
        </p:nvSpPr>
        <p:spPr>
          <a:xfrm>
            <a:off x="1551539" y="5712927"/>
            <a:ext cx="6528369" cy="4825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2"/>
              </a:lnSpc>
            </a:pPr>
            <a:r>
              <a:rPr lang="ko-KR" altLang="en-US" sz="3376">
                <a:solidFill>
                  <a:srgbClr val="454444"/>
                </a:solidFill>
                <a:latin typeface="페이퍼로지 4 Regular" pitchFamily="2" charset="-127"/>
                <a:ea typeface="페이퍼로지 4 Regular" pitchFamily="2" charset="-127"/>
                <a:cs typeface="Nanum Square Bold"/>
                <a:sym typeface="Nanum Square Bold"/>
              </a:rPr>
              <a:t>시대적 배경</a:t>
            </a:r>
            <a:endParaRPr lang="en-US" sz="3376">
              <a:solidFill>
                <a:srgbClr val="454444"/>
              </a:solidFill>
              <a:latin typeface="페이퍼로지 4 Regular" pitchFamily="2" charset="-127"/>
              <a:ea typeface="페이퍼로지 4 Regular" pitchFamily="2" charset="-127"/>
              <a:cs typeface="Nanum Square Bold"/>
              <a:sym typeface="Nanum Square Bold"/>
            </a:endParaRPr>
          </a:p>
        </p:txBody>
      </p:sp>
      <p:sp>
        <p:nvSpPr>
          <p:cNvPr id="44" name="TextBox 23">
            <a:extLst>
              <a:ext uri="{FF2B5EF4-FFF2-40B4-BE49-F238E27FC236}">
                <a16:creationId xmlns:a16="http://schemas.microsoft.com/office/drawing/2014/main" id="{F7FB3A31-47B1-C7CD-6D83-94E90444E10F}"/>
              </a:ext>
            </a:extLst>
          </p:cNvPr>
          <p:cNvSpPr txBox="1"/>
          <p:nvPr/>
        </p:nvSpPr>
        <p:spPr>
          <a:xfrm>
            <a:off x="10021078" y="5712927"/>
            <a:ext cx="6528369" cy="4825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2"/>
              </a:lnSpc>
            </a:pPr>
            <a:r>
              <a:rPr lang="ko-KR" altLang="en-US" sz="3376">
                <a:solidFill>
                  <a:srgbClr val="454444"/>
                </a:solidFill>
                <a:latin typeface="페이퍼로지 4 Regular" pitchFamily="2" charset="-127"/>
                <a:ea typeface="페이퍼로지 4 Regular" pitchFamily="2" charset="-127"/>
                <a:cs typeface="Nanum Square Bold"/>
                <a:sym typeface="Nanum Square Bold"/>
              </a:rPr>
              <a:t>급변하는 미디어 환경</a:t>
            </a:r>
          </a:p>
        </p:txBody>
      </p:sp>
      <p:sp>
        <p:nvSpPr>
          <p:cNvPr id="51" name="TextBox 17">
            <a:extLst>
              <a:ext uri="{FF2B5EF4-FFF2-40B4-BE49-F238E27FC236}">
                <a16:creationId xmlns:a16="http://schemas.microsoft.com/office/drawing/2014/main" id="{C1D7F6CA-BE9E-4C82-188C-A98613C15980}"/>
              </a:ext>
            </a:extLst>
          </p:cNvPr>
          <p:cNvSpPr txBox="1"/>
          <p:nvPr/>
        </p:nvSpPr>
        <p:spPr>
          <a:xfrm>
            <a:off x="1336577" y="7137502"/>
            <a:ext cx="7454560" cy="16053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>
                <a:solidFill>
                  <a:srgbClr val="454444"/>
                </a:solidFill>
                <a:latin typeface="페이퍼로지 2 ExtraLight" pitchFamily="2" charset="-127"/>
                <a:ea typeface="페이퍼로지 2 ExtraLight" pitchFamily="2" charset="-127"/>
                <a:cs typeface="Nanum Square Light"/>
                <a:sym typeface="Nanum Square Light"/>
              </a:rPr>
              <a:t>2011</a:t>
            </a:r>
            <a:r>
              <a:rPr lang="ko-KR" altLang="en-US" sz="2400">
                <a:solidFill>
                  <a:srgbClr val="454444"/>
                </a:solidFill>
                <a:latin typeface="페이퍼로지 2 ExtraLight" pitchFamily="2" charset="-127"/>
                <a:ea typeface="페이퍼로지 2 ExtraLight" pitchFamily="2" charset="-127"/>
                <a:cs typeface="Nanum Square Light"/>
                <a:sym typeface="Nanum Square Light"/>
              </a:rPr>
              <a:t>년 종편 도입 이후 </a:t>
            </a:r>
            <a:r>
              <a:rPr lang="en-US" altLang="ko-KR" sz="2400">
                <a:solidFill>
                  <a:srgbClr val="454444"/>
                </a:solidFill>
                <a:latin typeface="페이퍼로지 2 ExtraLight" pitchFamily="2" charset="-127"/>
                <a:ea typeface="페이퍼로지 2 ExtraLight" pitchFamily="2" charset="-127"/>
                <a:cs typeface="Nanum Square Light"/>
                <a:sym typeface="Nanum Square Light"/>
              </a:rPr>
              <a:t>15</a:t>
            </a:r>
            <a:r>
              <a:rPr lang="ko-KR" altLang="en-US" sz="2400">
                <a:solidFill>
                  <a:srgbClr val="454444"/>
                </a:solidFill>
                <a:latin typeface="페이퍼로지 2 ExtraLight" pitchFamily="2" charset="-127"/>
                <a:ea typeface="페이퍼로지 2 ExtraLight" pitchFamily="2" charset="-127"/>
                <a:cs typeface="Nanum Square Light"/>
                <a:sym typeface="Nanum Square Light"/>
              </a:rPr>
              <a:t>년 경과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>
                <a:solidFill>
                  <a:srgbClr val="454444"/>
                </a:solidFill>
                <a:latin typeface="페이퍼로지 2 ExtraLight" pitchFamily="2" charset="-127"/>
                <a:ea typeface="페이퍼로지 2 ExtraLight" pitchFamily="2" charset="-127"/>
                <a:cs typeface="Nanum Square Light"/>
                <a:sym typeface="Nanum Square Light"/>
              </a:rPr>
              <a:t>2025</a:t>
            </a:r>
            <a:r>
              <a:rPr lang="ko-KR" altLang="en-US" sz="2400">
                <a:solidFill>
                  <a:srgbClr val="454444"/>
                </a:solidFill>
                <a:latin typeface="페이퍼로지 2 ExtraLight" pitchFamily="2" charset="-127"/>
                <a:ea typeface="페이퍼로지 2 ExtraLight" pitchFamily="2" charset="-127"/>
                <a:cs typeface="Nanum Square Light"/>
                <a:sym typeface="Nanum Square Light"/>
              </a:rPr>
              <a:t>년 종편사업자의 어려움 호소</a:t>
            </a:r>
            <a:endParaRPr lang="en-US" altLang="ko-KR" sz="2400">
              <a:solidFill>
                <a:srgbClr val="454444"/>
              </a:solidFill>
              <a:latin typeface="페이퍼로지 2 ExtraLight" pitchFamily="2" charset="-127"/>
              <a:ea typeface="페이퍼로지 2 ExtraLight" pitchFamily="2" charset="-127"/>
              <a:cs typeface="Nanum Square Light"/>
              <a:sym typeface="Nanum Square Light"/>
            </a:endParaRP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>
                <a:solidFill>
                  <a:srgbClr val="454444"/>
                </a:solidFill>
                <a:latin typeface="페이퍼로지 2 ExtraLight" pitchFamily="2" charset="-127"/>
                <a:ea typeface="페이퍼로지 2 ExtraLight" pitchFamily="2" charset="-127"/>
                <a:cs typeface="Nanum Square Light"/>
                <a:sym typeface="Nanum Square Light"/>
              </a:rPr>
              <a:t>종편 </a:t>
            </a:r>
            <a:r>
              <a:rPr lang="en-US" altLang="ko-KR" sz="2400">
                <a:solidFill>
                  <a:srgbClr val="454444"/>
                </a:solidFill>
                <a:latin typeface="페이퍼로지 2 ExtraLight" pitchFamily="2" charset="-127"/>
                <a:ea typeface="페이퍼로지 2 ExtraLight" pitchFamily="2" charset="-127"/>
                <a:cs typeface="Nanum Square Light"/>
                <a:sym typeface="Nanum Square Light"/>
              </a:rPr>
              <a:t>4</a:t>
            </a:r>
            <a:r>
              <a:rPr lang="ko-KR" altLang="en-US" sz="2400">
                <a:solidFill>
                  <a:srgbClr val="454444"/>
                </a:solidFill>
                <a:latin typeface="페이퍼로지 2 ExtraLight" pitchFamily="2" charset="-127"/>
                <a:ea typeface="페이퍼로지 2 ExtraLight" pitchFamily="2" charset="-127"/>
                <a:cs typeface="Nanum Square Light"/>
                <a:sym typeface="Nanum Square Light"/>
              </a:rPr>
              <a:t>사 공동 입장</a:t>
            </a:r>
            <a:r>
              <a:rPr lang="en-US" altLang="ko-KR" sz="2400">
                <a:solidFill>
                  <a:srgbClr val="454444"/>
                </a:solidFill>
                <a:latin typeface="페이퍼로지 2 ExtraLight" pitchFamily="2" charset="-127"/>
                <a:ea typeface="페이퍼로지 2 ExtraLight" pitchFamily="2" charset="-127"/>
                <a:cs typeface="Nanum Square Light"/>
                <a:sym typeface="Nanum Square Light"/>
              </a:rPr>
              <a:t> </a:t>
            </a:r>
            <a:r>
              <a:rPr lang="en-US" altLang="ko-KR" sz="2400">
                <a:solidFill>
                  <a:srgbClr val="454444"/>
                </a:solidFill>
                <a:latin typeface="페이퍼로지 2 ExtraLight" pitchFamily="2" charset="-127"/>
                <a:ea typeface="페이퍼로지 2 ExtraLight" pitchFamily="2" charset="-127"/>
                <a:cs typeface="Nanum Square Light"/>
                <a:sym typeface="Wingdings" panose="05000000000000000000" pitchFamily="2" charset="2"/>
              </a:rPr>
              <a:t></a:t>
            </a:r>
            <a:r>
              <a:rPr lang="en-US" altLang="ko-KR" sz="2400">
                <a:solidFill>
                  <a:srgbClr val="454444"/>
                </a:solidFill>
                <a:latin typeface="페이퍼로지 2 ExtraLight" pitchFamily="2" charset="-127"/>
                <a:ea typeface="페이퍼로지 2 ExtraLight" pitchFamily="2" charset="-127"/>
                <a:cs typeface="Nanum Square Light"/>
                <a:sym typeface="Nanum Square Light"/>
              </a:rPr>
              <a:t> </a:t>
            </a:r>
            <a:r>
              <a:rPr lang="ko-KR" altLang="en-US" sz="2400">
                <a:solidFill>
                  <a:srgbClr val="454444"/>
                </a:solidFill>
                <a:latin typeface="페이퍼로지 2 ExtraLight" pitchFamily="2" charset="-127"/>
                <a:ea typeface="페이퍼로지 2 ExtraLight" pitchFamily="2" charset="-127"/>
                <a:cs typeface="Nanum Square Light"/>
                <a:sym typeface="Nanum Square Light"/>
              </a:rPr>
              <a:t>콘텐츠 투자비 준수 조건 폐지 요구</a:t>
            </a:r>
          </a:p>
        </p:txBody>
      </p:sp>
      <p:sp>
        <p:nvSpPr>
          <p:cNvPr id="52" name="TextBox 17">
            <a:extLst>
              <a:ext uri="{FF2B5EF4-FFF2-40B4-BE49-F238E27FC236}">
                <a16:creationId xmlns:a16="http://schemas.microsoft.com/office/drawing/2014/main" id="{66C561B0-55A5-E20A-2685-ED049F7301BA}"/>
              </a:ext>
            </a:extLst>
          </p:cNvPr>
          <p:cNvSpPr txBox="1"/>
          <p:nvPr/>
        </p:nvSpPr>
        <p:spPr>
          <a:xfrm>
            <a:off x="9577833" y="7137502"/>
            <a:ext cx="7281326" cy="16087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>
                <a:solidFill>
                  <a:srgbClr val="454444"/>
                </a:solidFill>
                <a:latin typeface="페이퍼로지 2 ExtraLight" pitchFamily="2" charset="-127"/>
                <a:ea typeface="페이퍼로지 2 ExtraLight" pitchFamily="2" charset="-127"/>
                <a:cs typeface="Nanum Square Light"/>
                <a:sym typeface="Nanum Square Light"/>
              </a:rPr>
              <a:t>OTT </a:t>
            </a:r>
            <a:r>
              <a:rPr lang="ko-KR" altLang="en-US" sz="2400">
                <a:solidFill>
                  <a:srgbClr val="454444"/>
                </a:solidFill>
                <a:latin typeface="페이퍼로지 2 ExtraLight" pitchFamily="2" charset="-127"/>
                <a:ea typeface="페이퍼로지 2 ExtraLight" pitchFamily="2" charset="-127"/>
                <a:cs typeface="Nanum Square Light"/>
                <a:sym typeface="Nanum Square Light"/>
              </a:rPr>
              <a:t>플랫폼 급성장 </a:t>
            </a:r>
            <a:r>
              <a:rPr lang="en-US" altLang="ko-KR" sz="2400">
                <a:solidFill>
                  <a:srgbClr val="454444"/>
                </a:solidFill>
                <a:latin typeface="페이퍼로지 2 ExtraLight" pitchFamily="2" charset="-127"/>
                <a:ea typeface="페이퍼로지 2 ExtraLight" pitchFamily="2" charset="-127"/>
                <a:cs typeface="Nanum Square Light"/>
                <a:sym typeface="Nanum Square Light"/>
              </a:rPr>
              <a:t>(</a:t>
            </a:r>
            <a:r>
              <a:rPr lang="ko-KR" altLang="en-US" sz="2400">
                <a:solidFill>
                  <a:srgbClr val="454444"/>
                </a:solidFill>
                <a:latin typeface="페이퍼로지 2 ExtraLight" pitchFamily="2" charset="-127"/>
                <a:ea typeface="페이퍼로지 2 ExtraLight" pitchFamily="2" charset="-127"/>
                <a:cs typeface="Nanum Square Light"/>
                <a:sym typeface="Nanum Square Light"/>
              </a:rPr>
              <a:t>넷플릭스</a:t>
            </a:r>
            <a:r>
              <a:rPr lang="en-US" altLang="ko-KR" sz="2400">
                <a:solidFill>
                  <a:srgbClr val="454444"/>
                </a:solidFill>
                <a:latin typeface="페이퍼로지 2 ExtraLight" pitchFamily="2" charset="-127"/>
                <a:ea typeface="페이퍼로지 2 ExtraLight" pitchFamily="2" charset="-127"/>
                <a:cs typeface="Nanum Square Light"/>
                <a:sym typeface="Nanum Square Light"/>
              </a:rPr>
              <a:t>, </a:t>
            </a:r>
            <a:r>
              <a:rPr lang="ko-KR" altLang="en-US" sz="2400">
                <a:solidFill>
                  <a:srgbClr val="454444"/>
                </a:solidFill>
                <a:latin typeface="페이퍼로지 2 ExtraLight" pitchFamily="2" charset="-127"/>
                <a:ea typeface="페이퍼로지 2 ExtraLight" pitchFamily="2" charset="-127"/>
                <a:cs typeface="Nanum Square Light"/>
                <a:sym typeface="Nanum Square Light"/>
              </a:rPr>
              <a:t>유튜브</a:t>
            </a:r>
            <a:r>
              <a:rPr lang="en-US" altLang="ko-KR" sz="2400">
                <a:solidFill>
                  <a:srgbClr val="454444"/>
                </a:solidFill>
                <a:latin typeface="페이퍼로지 2 ExtraLight" pitchFamily="2" charset="-127"/>
                <a:ea typeface="페이퍼로지 2 ExtraLight" pitchFamily="2" charset="-127"/>
                <a:cs typeface="Nanum Square Light"/>
                <a:sym typeface="Nanum Square Light"/>
              </a:rPr>
              <a:t>)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>
                <a:solidFill>
                  <a:srgbClr val="454444"/>
                </a:solidFill>
                <a:latin typeface="페이퍼로지 2 ExtraLight" pitchFamily="2" charset="-127"/>
                <a:ea typeface="페이퍼로지 2 ExtraLight" pitchFamily="2" charset="-127"/>
                <a:cs typeface="Nanum Square Light"/>
                <a:sym typeface="Nanum Square Light"/>
              </a:rPr>
              <a:t>광고시장 디지털 전환 가속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>
                <a:solidFill>
                  <a:srgbClr val="454444"/>
                </a:solidFill>
                <a:latin typeface="페이퍼로지 2 ExtraLight" pitchFamily="2" charset="-127"/>
                <a:ea typeface="페이퍼로지 2 ExtraLight" pitchFamily="2" charset="-127"/>
                <a:cs typeface="Nanum Square Light"/>
                <a:sym typeface="Nanum Square Light"/>
              </a:rPr>
              <a:t>시청 행태 다변화 </a:t>
            </a:r>
            <a:r>
              <a:rPr lang="en-US" altLang="ko-KR" sz="2400">
                <a:solidFill>
                  <a:srgbClr val="454444"/>
                </a:solidFill>
                <a:latin typeface="페이퍼로지 2 ExtraLight" pitchFamily="2" charset="-127"/>
                <a:ea typeface="페이퍼로지 2 ExtraLight" pitchFamily="2" charset="-127"/>
                <a:cs typeface="Nanum Square Light"/>
                <a:sym typeface="Nanum Square Light"/>
              </a:rPr>
              <a:t>(</a:t>
            </a:r>
            <a:r>
              <a:rPr lang="ko-KR" altLang="en-US" sz="2400">
                <a:solidFill>
                  <a:srgbClr val="454444"/>
                </a:solidFill>
                <a:latin typeface="페이퍼로지 2 ExtraLight" pitchFamily="2" charset="-127"/>
                <a:ea typeface="페이퍼로지 2 ExtraLight" pitchFamily="2" charset="-127"/>
                <a:cs typeface="Nanum Square Light"/>
                <a:sym typeface="Nanum Square Light"/>
              </a:rPr>
              <a:t>모바일 중심</a:t>
            </a:r>
            <a:r>
              <a:rPr lang="en-US" altLang="ko-KR" sz="2400">
                <a:solidFill>
                  <a:srgbClr val="454444"/>
                </a:solidFill>
                <a:latin typeface="페이퍼로지 2 ExtraLight" pitchFamily="2" charset="-127"/>
                <a:ea typeface="페이퍼로지 2 ExtraLight" pitchFamily="2" charset="-127"/>
                <a:cs typeface="Nanum Square Light"/>
                <a:sym typeface="Nanum Square Light"/>
              </a:rPr>
              <a:t>)</a:t>
            </a:r>
            <a:endParaRPr lang="ko-KR" altLang="en-US" sz="2400">
              <a:solidFill>
                <a:srgbClr val="454444"/>
              </a:solidFill>
              <a:latin typeface="페이퍼로지 2 ExtraLight" pitchFamily="2" charset="-127"/>
              <a:ea typeface="페이퍼로지 2 ExtraLight" pitchFamily="2" charset="-127"/>
              <a:cs typeface="Nanum Square Light"/>
              <a:sym typeface="Nanum Square Light"/>
            </a:endParaRPr>
          </a:p>
        </p:txBody>
      </p:sp>
      <p:sp>
        <p:nvSpPr>
          <p:cNvPr id="57" name="슬라이드 번호 개체 틀 56">
            <a:extLst>
              <a:ext uri="{FF2B5EF4-FFF2-40B4-BE49-F238E27FC236}">
                <a16:creationId xmlns:a16="http://schemas.microsoft.com/office/drawing/2014/main" id="{DA27E7DA-63EB-B320-FAF1-CA7BA15C3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6505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2E2E7B-4BCF-099F-45D1-F1E79E7DF4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Freeform 14">
            <a:extLst>
              <a:ext uri="{FF2B5EF4-FFF2-40B4-BE49-F238E27FC236}">
                <a16:creationId xmlns:a16="http://schemas.microsoft.com/office/drawing/2014/main" id="{61F9B8F4-EC4C-3F0C-346D-531B2D5B042C}"/>
              </a:ext>
            </a:extLst>
          </p:cNvPr>
          <p:cNvSpPr/>
          <p:nvPr/>
        </p:nvSpPr>
        <p:spPr>
          <a:xfrm flipH="1">
            <a:off x="12592539" y="5355608"/>
            <a:ext cx="5674196" cy="4931392"/>
          </a:xfrm>
          <a:custGeom>
            <a:avLst/>
            <a:gdLst/>
            <a:ahLst/>
            <a:cxnLst/>
            <a:rect l="l" t="t" r="r" b="b"/>
            <a:pathLst>
              <a:path w="5674196" h="4931392">
                <a:moveTo>
                  <a:pt x="5674196" y="0"/>
                </a:moveTo>
                <a:lnTo>
                  <a:pt x="0" y="0"/>
                </a:lnTo>
                <a:lnTo>
                  <a:pt x="0" y="4931391"/>
                </a:lnTo>
                <a:lnTo>
                  <a:pt x="5674196" y="4931391"/>
                </a:lnTo>
                <a:lnTo>
                  <a:pt x="567419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DA193F3D-FA06-0959-09F2-68F4ED099DF7}"/>
              </a:ext>
            </a:extLst>
          </p:cNvPr>
          <p:cNvSpPr/>
          <p:nvPr/>
        </p:nvSpPr>
        <p:spPr>
          <a:xfrm flipV="1">
            <a:off x="1028700" y="1169525"/>
            <a:ext cx="16230600" cy="0"/>
          </a:xfrm>
          <a:prstGeom prst="line">
            <a:avLst/>
          </a:prstGeom>
          <a:ln w="19050" cap="flat">
            <a:solidFill>
              <a:srgbClr val="D9D9D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844069DE-C524-C995-321E-ED6FAEB48C27}"/>
              </a:ext>
            </a:extLst>
          </p:cNvPr>
          <p:cNvSpPr txBox="1"/>
          <p:nvPr/>
        </p:nvSpPr>
        <p:spPr>
          <a:xfrm>
            <a:off x="1028700" y="1399848"/>
            <a:ext cx="1502946" cy="11319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579"/>
              </a:lnSpc>
            </a:pPr>
            <a:r>
              <a:rPr lang="en-US" sz="7983" spc="-239">
                <a:solidFill>
                  <a:srgbClr val="15A9F1"/>
                </a:solidFill>
                <a:latin typeface="페이퍼로지 5 Medium" pitchFamily="2" charset="-127"/>
                <a:ea typeface="페이퍼로지 5 Medium" pitchFamily="2" charset="-127"/>
                <a:cs typeface="Nanum Square Bold"/>
                <a:sym typeface="Nanum Square Bold"/>
              </a:rPr>
              <a:t>01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2D5BCCFC-CE06-BAD2-D163-711F620AB403}"/>
              </a:ext>
            </a:extLst>
          </p:cNvPr>
          <p:cNvSpPr txBox="1"/>
          <p:nvPr/>
        </p:nvSpPr>
        <p:spPr>
          <a:xfrm>
            <a:off x="2531646" y="1626872"/>
            <a:ext cx="3897016" cy="7905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ko-KR" altLang="en-US" sz="5000">
                <a:solidFill>
                  <a:srgbClr val="454444"/>
                </a:solidFill>
                <a:latin typeface="페이퍼로지 5 Medium" pitchFamily="2" charset="-127"/>
                <a:ea typeface="페이퍼로지 5 Medium" pitchFamily="2" charset="-127"/>
                <a:cs typeface="Nanum Square Bold"/>
                <a:sym typeface="Nanum Square Bold"/>
              </a:rPr>
              <a:t>들어가며</a:t>
            </a:r>
            <a:endParaRPr lang="en-US" sz="5000">
              <a:solidFill>
                <a:srgbClr val="454444"/>
              </a:solidFill>
              <a:latin typeface="페이퍼로지 5 Medium" pitchFamily="2" charset="-127"/>
              <a:ea typeface="페이퍼로지 5 Medium" pitchFamily="2" charset="-127"/>
              <a:cs typeface="Nanum Square Bold"/>
              <a:sym typeface="Nanum Square Bold"/>
            </a:endParaRP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4FE5C9DC-26C6-7EA7-CE55-4835B5D88DA2}"/>
              </a:ext>
            </a:extLst>
          </p:cNvPr>
          <p:cNvSpPr txBox="1"/>
          <p:nvPr/>
        </p:nvSpPr>
        <p:spPr>
          <a:xfrm>
            <a:off x="1123950" y="811675"/>
            <a:ext cx="3295650" cy="2239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888"/>
              </a:lnSpc>
            </a:pPr>
            <a:r>
              <a:rPr lang="ko-KR" altLang="en-US" sz="1574">
                <a:solidFill>
                  <a:srgbClr val="545454"/>
                </a:solidFill>
                <a:latin typeface="페이퍼로지 3 Light" pitchFamily="2" charset="-127"/>
                <a:ea typeface="페이퍼로지 3 Light" pitchFamily="2" charset="-127"/>
                <a:cs typeface="Nanum Square"/>
                <a:sym typeface="Nanum Square"/>
              </a:rPr>
              <a:t>한국언론학회 </a:t>
            </a:r>
            <a:r>
              <a:rPr lang="en-US" altLang="ko-KR" sz="1574">
                <a:solidFill>
                  <a:srgbClr val="545454"/>
                </a:solidFill>
                <a:latin typeface="페이퍼로지 3 Light" pitchFamily="2" charset="-127"/>
                <a:ea typeface="페이퍼로지 3 Light" pitchFamily="2" charset="-127"/>
                <a:cs typeface="Nanum Square"/>
                <a:sym typeface="Nanum Square"/>
              </a:rPr>
              <a:t>2025 </a:t>
            </a:r>
            <a:r>
              <a:rPr lang="ko-KR" altLang="en-US" sz="1574">
                <a:solidFill>
                  <a:srgbClr val="545454"/>
                </a:solidFill>
                <a:latin typeface="페이퍼로지 3 Light" pitchFamily="2" charset="-127"/>
                <a:ea typeface="페이퍼로지 3 Light" pitchFamily="2" charset="-127"/>
                <a:cs typeface="Nanum Square"/>
                <a:sym typeface="Nanum Square"/>
              </a:rPr>
              <a:t>가을철 학술대회</a:t>
            </a:r>
            <a:endParaRPr lang="en-US" altLang="ko-KR" sz="1574">
              <a:solidFill>
                <a:srgbClr val="545454"/>
              </a:solidFill>
              <a:latin typeface="페이퍼로지 3 Light" pitchFamily="2" charset="-127"/>
              <a:ea typeface="페이퍼로지 3 Light" pitchFamily="2" charset="-127"/>
              <a:cs typeface="Nanum Square"/>
              <a:sym typeface="Nanum Square"/>
            </a:endParaRPr>
          </a:p>
        </p:txBody>
      </p:sp>
      <p:sp>
        <p:nvSpPr>
          <p:cNvPr id="20" name="TextBox 12">
            <a:extLst>
              <a:ext uri="{FF2B5EF4-FFF2-40B4-BE49-F238E27FC236}">
                <a16:creationId xmlns:a16="http://schemas.microsoft.com/office/drawing/2014/main" id="{34550563-FEF3-4C66-387B-E84324E7EB12}"/>
              </a:ext>
            </a:extLst>
          </p:cNvPr>
          <p:cNvSpPr txBox="1"/>
          <p:nvPr/>
        </p:nvSpPr>
        <p:spPr>
          <a:xfrm>
            <a:off x="15135245" y="792625"/>
            <a:ext cx="2124055" cy="2116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768"/>
              </a:lnSpc>
            </a:pPr>
            <a:r>
              <a:rPr lang="ko-KR" altLang="en-US" sz="1474" b="1">
                <a:solidFill>
                  <a:srgbClr val="545454"/>
                </a:solidFill>
                <a:latin typeface="페이퍼로지 6 SemiBold" pitchFamily="2" charset="-127"/>
                <a:ea typeface="페이퍼로지 6 SemiBold" pitchFamily="2" charset="-127"/>
                <a:cs typeface="Nanum Square Bold"/>
                <a:sym typeface="Nanum Square Bold"/>
              </a:rPr>
              <a:t>선문대학교</a:t>
            </a:r>
            <a:endParaRPr lang="en-US" sz="1474" b="1">
              <a:solidFill>
                <a:srgbClr val="545454"/>
              </a:solidFill>
              <a:latin typeface="페이퍼로지 6 SemiBold" pitchFamily="2" charset="-127"/>
              <a:ea typeface="페이퍼로지 6 SemiBold" pitchFamily="2" charset="-127"/>
              <a:cs typeface="Nanum Square Bold"/>
              <a:sym typeface="Nanum Square Bold"/>
            </a:endParaRPr>
          </a:p>
        </p:txBody>
      </p:sp>
      <p:sp>
        <p:nvSpPr>
          <p:cNvPr id="3" name="TextBox 25">
            <a:extLst>
              <a:ext uri="{FF2B5EF4-FFF2-40B4-BE49-F238E27FC236}">
                <a16:creationId xmlns:a16="http://schemas.microsoft.com/office/drawing/2014/main" id="{49A01825-7FE9-BB56-0D55-2E7E079DBB27}"/>
              </a:ext>
            </a:extLst>
          </p:cNvPr>
          <p:cNvSpPr txBox="1"/>
          <p:nvPr/>
        </p:nvSpPr>
        <p:spPr>
          <a:xfrm>
            <a:off x="1818164" y="2895600"/>
            <a:ext cx="15441136" cy="5095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052"/>
              </a:lnSpc>
            </a:pPr>
            <a:r>
              <a:rPr lang="ko-KR" altLang="en-US" sz="3376" b="1" spc="-101">
                <a:solidFill>
                  <a:srgbClr val="454444"/>
                </a:solidFill>
                <a:latin typeface="페이퍼로지 6 SemiBold" pitchFamily="2" charset="-127"/>
                <a:ea typeface="페이퍼로지 6 SemiBold" pitchFamily="2" charset="-127"/>
                <a:cs typeface="Nanum Square Bold"/>
                <a:sym typeface="Nanum Square Bold"/>
              </a:rPr>
              <a:t>핵심 발견 </a:t>
            </a:r>
            <a:r>
              <a:rPr lang="en-US" altLang="ko-KR" sz="3376" b="1" spc="-101">
                <a:solidFill>
                  <a:srgbClr val="454444"/>
                </a:solidFill>
                <a:latin typeface="페이퍼로지 6 SemiBold" pitchFamily="2" charset="-127"/>
                <a:ea typeface="페이퍼로지 6 SemiBold" pitchFamily="2" charset="-127"/>
                <a:cs typeface="Nanum Square Bold"/>
                <a:sym typeface="Nanum Square Bold"/>
              </a:rPr>
              <a:t>: Investment Paradox </a:t>
            </a:r>
            <a:r>
              <a:rPr lang="en-US" altLang="ko-KR" sz="3376" b="1" spc="-101">
                <a:solidFill>
                  <a:srgbClr val="454444"/>
                </a:solidFill>
                <a:latin typeface="페이퍼로지 6 SemiBold" pitchFamily="2" charset="-127"/>
                <a:ea typeface="페이퍼로지 6 SemiBold" pitchFamily="2" charset="-127"/>
                <a:cs typeface="Nanum Square Bold"/>
                <a:sym typeface="Wingdings" panose="05000000000000000000" pitchFamily="2" charset="2"/>
              </a:rPr>
              <a:t> </a:t>
            </a:r>
            <a:r>
              <a:rPr lang="ko-KR" altLang="en-US" sz="3376" b="1" spc="-101">
                <a:solidFill>
                  <a:srgbClr val="454444"/>
                </a:solidFill>
                <a:latin typeface="페이퍼로지 6 SemiBold" pitchFamily="2" charset="-127"/>
                <a:ea typeface="페이퍼로지 6 SemiBold" pitchFamily="2" charset="-127"/>
                <a:cs typeface="Nanum Square Bold"/>
                <a:sym typeface="Wingdings" panose="05000000000000000000" pitchFamily="2" charset="2"/>
              </a:rPr>
              <a:t>투자 외부 압력이 오히려 더 나쁜 성과를 초래</a:t>
            </a:r>
            <a:endParaRPr lang="en-US" sz="3376" b="1" spc="-101">
              <a:solidFill>
                <a:srgbClr val="454444"/>
              </a:solidFill>
              <a:latin typeface="페이퍼로지 6 SemiBold" pitchFamily="2" charset="-127"/>
              <a:ea typeface="페이퍼로지 6 SemiBold" pitchFamily="2" charset="-127"/>
              <a:cs typeface="Nanum Square Bold"/>
              <a:sym typeface="Nanum Square Bold"/>
            </a:endParaRPr>
          </a:p>
        </p:txBody>
      </p:sp>
      <p:sp>
        <p:nvSpPr>
          <p:cNvPr id="4" name="Freeform 31">
            <a:extLst>
              <a:ext uri="{FF2B5EF4-FFF2-40B4-BE49-F238E27FC236}">
                <a16:creationId xmlns:a16="http://schemas.microsoft.com/office/drawing/2014/main" id="{22C1BE6C-80B0-BBB2-40D1-5BC7FEC97DA3}"/>
              </a:ext>
            </a:extLst>
          </p:cNvPr>
          <p:cNvSpPr/>
          <p:nvPr/>
        </p:nvSpPr>
        <p:spPr>
          <a:xfrm>
            <a:off x="1088017" y="2918979"/>
            <a:ext cx="512369" cy="510021"/>
          </a:xfrm>
          <a:custGeom>
            <a:avLst/>
            <a:gdLst/>
            <a:ahLst/>
            <a:cxnLst/>
            <a:rect l="l" t="t" r="r" b="b"/>
            <a:pathLst>
              <a:path w="512369" h="510021">
                <a:moveTo>
                  <a:pt x="0" y="0"/>
                </a:moveTo>
                <a:lnTo>
                  <a:pt x="512369" y="0"/>
                </a:lnTo>
                <a:lnTo>
                  <a:pt x="512369" y="510021"/>
                </a:lnTo>
                <a:lnTo>
                  <a:pt x="0" y="51002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5" name="Freeform 14">
            <a:extLst>
              <a:ext uri="{FF2B5EF4-FFF2-40B4-BE49-F238E27FC236}">
                <a16:creationId xmlns:a16="http://schemas.microsoft.com/office/drawing/2014/main" id="{CFE87A35-4D4F-14ED-8156-E2CE06A4E651}"/>
              </a:ext>
            </a:extLst>
          </p:cNvPr>
          <p:cNvSpPr/>
          <p:nvPr/>
        </p:nvSpPr>
        <p:spPr>
          <a:xfrm>
            <a:off x="1600386" y="3631764"/>
            <a:ext cx="2519560" cy="1511736"/>
          </a:xfrm>
          <a:custGeom>
            <a:avLst/>
            <a:gdLst/>
            <a:ahLst/>
            <a:cxnLst/>
            <a:rect l="l" t="t" r="r" b="b"/>
            <a:pathLst>
              <a:path w="3588559" h="2153135">
                <a:moveTo>
                  <a:pt x="0" y="0"/>
                </a:moveTo>
                <a:lnTo>
                  <a:pt x="3588560" y="0"/>
                </a:lnTo>
                <a:lnTo>
                  <a:pt x="3588560" y="2153136"/>
                </a:lnTo>
                <a:lnTo>
                  <a:pt x="0" y="215313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0BA3C9-A19A-889F-A760-75AA2D2B73DC}"/>
              </a:ext>
            </a:extLst>
          </p:cNvPr>
          <p:cNvSpPr txBox="1"/>
          <p:nvPr/>
        </p:nvSpPr>
        <p:spPr>
          <a:xfrm>
            <a:off x="4838700" y="3955086"/>
            <a:ext cx="10820400" cy="952505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US" altLang="ko-KR" sz="2000" b="1" i="0">
                <a:solidFill>
                  <a:srgbClr val="667EEA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1</a:t>
            </a:r>
            <a:r>
              <a:rPr lang="ko-KR" altLang="en-US" sz="2000" b="1" i="0">
                <a:solidFill>
                  <a:srgbClr val="667EEA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단계</a:t>
            </a:r>
            <a:r>
              <a:rPr lang="en-US" altLang="ko-KR" sz="2000" b="1" i="0">
                <a:solidFill>
                  <a:srgbClr val="667EEA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: </a:t>
            </a:r>
            <a:r>
              <a:rPr lang="ko-KR" altLang="en-US" sz="2000" b="1" i="0">
                <a:solidFill>
                  <a:srgbClr val="667EEA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적정 수준 초과 투자 강제</a:t>
            </a:r>
            <a:endParaRPr lang="ko-KR" altLang="en-US" sz="2000">
              <a:latin typeface="페이퍼로지 4 Regular" pitchFamily="2" charset="-127"/>
              <a:ea typeface="페이퍼로지 4 Regular" pitchFamily="2" charset="-127"/>
            </a:endParaRPr>
          </a:p>
          <a:p>
            <a:pPr algn="ctr">
              <a:lnSpc>
                <a:spcPct val="150000"/>
              </a:lnSpc>
              <a:spcAft>
                <a:spcPts val="1125"/>
              </a:spcAft>
              <a:buNone/>
            </a:pPr>
            <a:r>
              <a:rPr lang="ko-KR" altLang="en-US" sz="2000" b="0" i="0">
                <a:solidFill>
                  <a:srgbClr val="4A5568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시장 최적 수준을 넘어선 과잉투자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3E99069-F55B-C3F1-2D00-C9690F769B36}"/>
              </a:ext>
            </a:extLst>
          </p:cNvPr>
          <p:cNvSpPr txBox="1"/>
          <p:nvPr/>
        </p:nvSpPr>
        <p:spPr>
          <a:xfrm>
            <a:off x="4838700" y="5474349"/>
            <a:ext cx="10820400" cy="95725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2000" b="1">
                <a:solidFill>
                  <a:srgbClr val="667EEA"/>
                </a:solidFill>
                <a:latin typeface="페이퍼로지 4 Regular" pitchFamily="2" charset="-127"/>
                <a:ea typeface="페이퍼로지 4 Regular" pitchFamily="2" charset="-127"/>
              </a:rPr>
              <a:t>2</a:t>
            </a:r>
            <a:r>
              <a:rPr lang="ko-KR" altLang="en-US" sz="2000" b="1">
                <a:solidFill>
                  <a:srgbClr val="667EEA"/>
                </a:solidFill>
                <a:latin typeface="페이퍼로지 4 Regular" pitchFamily="2" charset="-127"/>
                <a:ea typeface="페이퍼로지 4 Regular" pitchFamily="2" charset="-127"/>
              </a:rPr>
              <a:t>단계</a:t>
            </a:r>
            <a:r>
              <a:rPr lang="en-US" altLang="ko-KR" sz="2000" b="1">
                <a:solidFill>
                  <a:srgbClr val="667EEA"/>
                </a:solidFill>
                <a:latin typeface="페이퍼로지 4 Regular" pitchFamily="2" charset="-127"/>
                <a:ea typeface="페이퍼로지 4 Regular" pitchFamily="2" charset="-127"/>
              </a:rPr>
              <a:t>: </a:t>
            </a:r>
            <a:r>
              <a:rPr lang="ko-KR" altLang="en-US" sz="2000" b="1">
                <a:solidFill>
                  <a:srgbClr val="667EEA"/>
                </a:solidFill>
                <a:latin typeface="페이퍼로지 4 Regular" pitchFamily="2" charset="-127"/>
                <a:ea typeface="페이퍼로지 4 Regular" pitchFamily="2" charset="-127"/>
              </a:rPr>
              <a:t>수익성 악화</a:t>
            </a:r>
          </a:p>
          <a:p>
            <a:pPr algn="ctr">
              <a:lnSpc>
                <a:spcPct val="150000"/>
              </a:lnSpc>
            </a:pPr>
            <a:r>
              <a:rPr lang="en-US" altLang="ko-KR" sz="2000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</a:rPr>
              <a:t>(</a:t>
            </a:r>
            <a:r>
              <a:rPr lang="ko-KR" altLang="en-US" sz="2000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</a:rPr>
              <a:t> 실증 결과</a:t>
            </a:r>
            <a:r>
              <a:rPr lang="en-US" altLang="ko-KR" sz="2000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</a:rPr>
              <a:t>) </a:t>
            </a:r>
            <a:r>
              <a:rPr lang="ko-KR" altLang="en-US" sz="2000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</a:rPr>
              <a:t>투자비율 </a:t>
            </a:r>
            <a:r>
              <a:rPr lang="en-US" altLang="ko-KR" sz="2000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</a:rPr>
              <a:t>1%p </a:t>
            </a:r>
            <a:r>
              <a:rPr lang="ko-KR" altLang="en-US" sz="2000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</a:rPr>
              <a:t>증가 → 영업이익률 </a:t>
            </a:r>
            <a:r>
              <a:rPr lang="en-US" altLang="ko-KR" sz="2000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</a:rPr>
              <a:t>0.60%p </a:t>
            </a:r>
            <a:r>
              <a:rPr lang="ko-KR" altLang="en-US" sz="2000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</a:rPr>
              <a:t>감소</a:t>
            </a:r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094481D9-6DF2-3D37-E4E3-984131BEDC7D}"/>
              </a:ext>
            </a:extLst>
          </p:cNvPr>
          <p:cNvCxnSpPr>
            <a:cxnSpLocks/>
          </p:cNvCxnSpPr>
          <p:nvPr/>
        </p:nvCxnSpPr>
        <p:spPr>
          <a:xfrm>
            <a:off x="10236200" y="4907591"/>
            <a:ext cx="0" cy="56675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614E0F9F-C696-442E-BF9A-5A213B11B765}"/>
              </a:ext>
            </a:extLst>
          </p:cNvPr>
          <p:cNvSpPr txBox="1"/>
          <p:nvPr/>
        </p:nvSpPr>
        <p:spPr>
          <a:xfrm>
            <a:off x="4838700" y="6998357"/>
            <a:ext cx="10820400" cy="95250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2000" b="1">
                <a:solidFill>
                  <a:srgbClr val="667EEA"/>
                </a:solidFill>
                <a:latin typeface="페이퍼로지 4 Regular" pitchFamily="2" charset="-127"/>
                <a:ea typeface="페이퍼로지 4 Regular" pitchFamily="2" charset="-127"/>
              </a:rPr>
              <a:t>3</a:t>
            </a:r>
            <a:r>
              <a:rPr lang="ko-KR" altLang="en-US" sz="2000" b="1">
                <a:solidFill>
                  <a:srgbClr val="667EEA"/>
                </a:solidFill>
                <a:latin typeface="페이퍼로지 4 Regular" pitchFamily="2" charset="-127"/>
                <a:ea typeface="페이퍼로지 4 Regular" pitchFamily="2" charset="-127"/>
              </a:rPr>
              <a:t>단계</a:t>
            </a:r>
            <a:r>
              <a:rPr lang="en-US" altLang="ko-KR" sz="2000" b="1">
                <a:solidFill>
                  <a:srgbClr val="667EEA"/>
                </a:solidFill>
                <a:latin typeface="페이퍼로지 4 Regular" pitchFamily="2" charset="-127"/>
                <a:ea typeface="페이퍼로지 4 Regular" pitchFamily="2" charset="-127"/>
              </a:rPr>
              <a:t>: </a:t>
            </a:r>
            <a:r>
              <a:rPr lang="ko-KR" altLang="en-US" sz="2000" b="1">
                <a:solidFill>
                  <a:srgbClr val="667EEA"/>
                </a:solidFill>
                <a:latin typeface="페이퍼로지 4 Regular" pitchFamily="2" charset="-127"/>
                <a:ea typeface="페이퍼로지 4 Regular" pitchFamily="2" charset="-127"/>
              </a:rPr>
              <a:t>재투자 여력 감소</a:t>
            </a:r>
          </a:p>
          <a:p>
            <a:pPr algn="ctr">
              <a:lnSpc>
                <a:spcPct val="150000"/>
              </a:lnSpc>
            </a:pPr>
            <a:r>
              <a:rPr lang="ko-KR" altLang="en-US" sz="2000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</a:rPr>
              <a:t>낮은 수익 → 미래 투자 재원 부족</a:t>
            </a:r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47D608F9-2E64-A7CD-BED6-7F639DA3B6CD}"/>
              </a:ext>
            </a:extLst>
          </p:cNvPr>
          <p:cNvCxnSpPr>
            <a:cxnSpLocks/>
          </p:cNvCxnSpPr>
          <p:nvPr/>
        </p:nvCxnSpPr>
        <p:spPr>
          <a:xfrm>
            <a:off x="10248900" y="6431599"/>
            <a:ext cx="0" cy="56675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FF68869A-9F97-EFC2-A113-35F2EAF672D8}"/>
              </a:ext>
            </a:extLst>
          </p:cNvPr>
          <p:cNvCxnSpPr>
            <a:cxnSpLocks/>
          </p:cNvCxnSpPr>
          <p:nvPr/>
        </p:nvCxnSpPr>
        <p:spPr>
          <a:xfrm>
            <a:off x="10236200" y="7950862"/>
            <a:ext cx="0" cy="56675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A8CBCECA-9A95-ABA0-1B51-7E659E67F946}"/>
              </a:ext>
            </a:extLst>
          </p:cNvPr>
          <p:cNvSpPr txBox="1"/>
          <p:nvPr/>
        </p:nvSpPr>
        <p:spPr>
          <a:xfrm>
            <a:off x="4838700" y="8517620"/>
            <a:ext cx="10820400" cy="866519"/>
          </a:xfrm>
          <a:prstGeom prst="rect">
            <a:avLst/>
          </a:prstGeom>
          <a:ln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페이퍼로지 5 Medium" pitchFamily="2" charset="-127"/>
                <a:ea typeface="페이퍼로지 5 Medium" pitchFamily="2" charset="-127"/>
              </a:rPr>
              <a:t>결과</a:t>
            </a:r>
            <a:r>
              <a:rPr lang="en-US" altLang="ko-KR" b="1">
                <a:latin typeface="페이퍼로지 5 Medium" pitchFamily="2" charset="-127"/>
                <a:ea typeface="페이퍼로지 5 Medium" pitchFamily="2" charset="-127"/>
              </a:rPr>
              <a:t>: </a:t>
            </a:r>
            <a:r>
              <a:rPr lang="ko-KR" altLang="en-US" b="1">
                <a:latin typeface="페이퍼로지 5 Medium" pitchFamily="2" charset="-127"/>
                <a:ea typeface="페이퍼로지 5 Medium" pitchFamily="2" charset="-127"/>
              </a:rPr>
              <a:t>경쟁력 약화의 악순환</a:t>
            </a:r>
            <a:endParaRPr lang="ko-KR" altLang="en-US" sz="2000">
              <a:latin typeface="페이퍼로지 5 Medium" pitchFamily="2" charset="-127"/>
              <a:ea typeface="페이퍼로지 5 Medium" pitchFamily="2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>
                <a:latin typeface="페이퍼로지 5 Medium" pitchFamily="2" charset="-127"/>
                <a:ea typeface="페이퍼로지 5 Medium" pitchFamily="2" charset="-127"/>
              </a:rPr>
              <a:t>혁신 투자 불가 → 시장 도태</a:t>
            </a:r>
          </a:p>
        </p:txBody>
      </p:sp>
      <p:sp>
        <p:nvSpPr>
          <p:cNvPr id="32" name="슬라이드 번호 개체 틀 31">
            <a:extLst>
              <a:ext uri="{FF2B5EF4-FFF2-40B4-BE49-F238E27FC236}">
                <a16:creationId xmlns:a16="http://schemas.microsoft.com/office/drawing/2014/main" id="{5945307B-80F8-057E-742D-3AD3C1F68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4593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6B3225-8683-9DA4-A6F6-A017A51297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B2445603-DC60-2001-1552-D7C634F78B4A}"/>
              </a:ext>
            </a:extLst>
          </p:cNvPr>
          <p:cNvSpPr/>
          <p:nvPr/>
        </p:nvSpPr>
        <p:spPr>
          <a:xfrm flipV="1">
            <a:off x="1028700" y="1169525"/>
            <a:ext cx="16230600" cy="0"/>
          </a:xfrm>
          <a:prstGeom prst="line">
            <a:avLst/>
          </a:prstGeom>
          <a:ln w="19050" cap="flat">
            <a:solidFill>
              <a:srgbClr val="D9D9D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90ECCA59-A0E1-B0FC-67A1-A589244C92F6}"/>
              </a:ext>
            </a:extLst>
          </p:cNvPr>
          <p:cNvSpPr txBox="1"/>
          <p:nvPr/>
        </p:nvSpPr>
        <p:spPr>
          <a:xfrm>
            <a:off x="1028700" y="1399848"/>
            <a:ext cx="1502946" cy="11319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579"/>
              </a:lnSpc>
            </a:pPr>
            <a:r>
              <a:rPr lang="en-US" sz="7983" spc="-239">
                <a:solidFill>
                  <a:srgbClr val="15A9F1"/>
                </a:solidFill>
                <a:latin typeface="페이퍼로지 5 Medium" pitchFamily="2" charset="-127"/>
                <a:ea typeface="페이퍼로지 5 Medium" pitchFamily="2" charset="-127"/>
                <a:cs typeface="Nanum Square Bold"/>
                <a:sym typeface="Nanum Square Bold"/>
              </a:rPr>
              <a:t>01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02608D29-23AD-5186-0438-561A07A61C03}"/>
              </a:ext>
            </a:extLst>
          </p:cNvPr>
          <p:cNvSpPr txBox="1"/>
          <p:nvPr/>
        </p:nvSpPr>
        <p:spPr>
          <a:xfrm>
            <a:off x="2531646" y="1626872"/>
            <a:ext cx="3897016" cy="7905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ko-KR" altLang="en-US" sz="5000">
                <a:solidFill>
                  <a:srgbClr val="454444"/>
                </a:solidFill>
                <a:latin typeface="페이퍼로지 5 Medium" pitchFamily="2" charset="-127"/>
                <a:ea typeface="페이퍼로지 5 Medium" pitchFamily="2" charset="-127"/>
                <a:cs typeface="Nanum Square Bold"/>
                <a:sym typeface="Nanum Square Bold"/>
              </a:rPr>
              <a:t>들어가며</a:t>
            </a:r>
            <a:endParaRPr lang="en-US" sz="5000">
              <a:solidFill>
                <a:srgbClr val="454444"/>
              </a:solidFill>
              <a:latin typeface="페이퍼로지 5 Medium" pitchFamily="2" charset="-127"/>
              <a:ea typeface="페이퍼로지 5 Medium" pitchFamily="2" charset="-127"/>
              <a:cs typeface="Nanum Square Bold"/>
              <a:sym typeface="Nanum Square Bold"/>
            </a:endParaRP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2BEE1489-82CB-9BF9-8A96-74D36C6B3700}"/>
              </a:ext>
            </a:extLst>
          </p:cNvPr>
          <p:cNvSpPr txBox="1"/>
          <p:nvPr/>
        </p:nvSpPr>
        <p:spPr>
          <a:xfrm>
            <a:off x="1123950" y="811675"/>
            <a:ext cx="3295650" cy="2239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888"/>
              </a:lnSpc>
            </a:pPr>
            <a:r>
              <a:rPr lang="ko-KR" altLang="en-US" sz="1574">
                <a:solidFill>
                  <a:srgbClr val="545454"/>
                </a:solidFill>
                <a:latin typeface="페이퍼로지 3 Light" pitchFamily="2" charset="-127"/>
                <a:ea typeface="페이퍼로지 3 Light" pitchFamily="2" charset="-127"/>
                <a:cs typeface="Nanum Square"/>
                <a:sym typeface="Nanum Square"/>
              </a:rPr>
              <a:t>한국언론학회 </a:t>
            </a:r>
            <a:r>
              <a:rPr lang="en-US" altLang="ko-KR" sz="1574">
                <a:solidFill>
                  <a:srgbClr val="545454"/>
                </a:solidFill>
                <a:latin typeface="페이퍼로지 3 Light" pitchFamily="2" charset="-127"/>
                <a:ea typeface="페이퍼로지 3 Light" pitchFamily="2" charset="-127"/>
                <a:cs typeface="Nanum Square"/>
                <a:sym typeface="Nanum Square"/>
              </a:rPr>
              <a:t>2025 </a:t>
            </a:r>
            <a:r>
              <a:rPr lang="ko-KR" altLang="en-US" sz="1574">
                <a:solidFill>
                  <a:srgbClr val="545454"/>
                </a:solidFill>
                <a:latin typeface="페이퍼로지 3 Light" pitchFamily="2" charset="-127"/>
                <a:ea typeface="페이퍼로지 3 Light" pitchFamily="2" charset="-127"/>
                <a:cs typeface="Nanum Square"/>
                <a:sym typeface="Nanum Square"/>
              </a:rPr>
              <a:t>가을철 학술대회</a:t>
            </a:r>
            <a:endParaRPr lang="en-US" altLang="ko-KR" sz="1574">
              <a:solidFill>
                <a:srgbClr val="545454"/>
              </a:solidFill>
              <a:latin typeface="페이퍼로지 3 Light" pitchFamily="2" charset="-127"/>
              <a:ea typeface="페이퍼로지 3 Light" pitchFamily="2" charset="-127"/>
              <a:cs typeface="Nanum Square"/>
              <a:sym typeface="Nanum Square"/>
            </a:endParaRPr>
          </a:p>
        </p:txBody>
      </p:sp>
      <p:sp>
        <p:nvSpPr>
          <p:cNvPr id="20" name="TextBox 12">
            <a:extLst>
              <a:ext uri="{FF2B5EF4-FFF2-40B4-BE49-F238E27FC236}">
                <a16:creationId xmlns:a16="http://schemas.microsoft.com/office/drawing/2014/main" id="{A1D34F80-C477-E8C4-CDC5-DCACDBB6D253}"/>
              </a:ext>
            </a:extLst>
          </p:cNvPr>
          <p:cNvSpPr txBox="1"/>
          <p:nvPr/>
        </p:nvSpPr>
        <p:spPr>
          <a:xfrm>
            <a:off x="15135245" y="792625"/>
            <a:ext cx="2124055" cy="2116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768"/>
              </a:lnSpc>
            </a:pPr>
            <a:r>
              <a:rPr lang="ko-KR" altLang="en-US" sz="1474" b="1">
                <a:solidFill>
                  <a:srgbClr val="545454"/>
                </a:solidFill>
                <a:latin typeface="페이퍼로지 6 SemiBold" pitchFamily="2" charset="-127"/>
                <a:ea typeface="페이퍼로지 6 SemiBold" pitchFamily="2" charset="-127"/>
                <a:cs typeface="Nanum Square Bold"/>
                <a:sym typeface="Nanum Square Bold"/>
              </a:rPr>
              <a:t>선문대학교</a:t>
            </a:r>
            <a:endParaRPr lang="en-US" sz="1474" b="1">
              <a:solidFill>
                <a:srgbClr val="545454"/>
              </a:solidFill>
              <a:latin typeface="페이퍼로지 6 SemiBold" pitchFamily="2" charset="-127"/>
              <a:ea typeface="페이퍼로지 6 SemiBold" pitchFamily="2" charset="-127"/>
              <a:cs typeface="Nanum Square Bold"/>
              <a:sym typeface="Nanum Square Bold"/>
            </a:endParaRPr>
          </a:p>
        </p:txBody>
      </p:sp>
      <p:sp>
        <p:nvSpPr>
          <p:cNvPr id="3" name="TextBox 25">
            <a:extLst>
              <a:ext uri="{FF2B5EF4-FFF2-40B4-BE49-F238E27FC236}">
                <a16:creationId xmlns:a16="http://schemas.microsoft.com/office/drawing/2014/main" id="{9251CED5-4017-EE6F-882A-38C0A31C424E}"/>
              </a:ext>
            </a:extLst>
          </p:cNvPr>
          <p:cNvSpPr txBox="1"/>
          <p:nvPr/>
        </p:nvSpPr>
        <p:spPr>
          <a:xfrm>
            <a:off x="1818164" y="2895600"/>
            <a:ext cx="15441136" cy="4825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052"/>
              </a:lnSpc>
            </a:pPr>
            <a:r>
              <a:rPr lang="ko-KR" altLang="en-US" sz="3376" b="1" spc="-101">
                <a:solidFill>
                  <a:srgbClr val="454444"/>
                </a:solidFill>
                <a:latin typeface="페이퍼로지 6 SemiBold" pitchFamily="2" charset="-127"/>
                <a:ea typeface="페이퍼로지 6 SemiBold" pitchFamily="2" charset="-127"/>
                <a:cs typeface="Nanum Square Bold"/>
                <a:sym typeface="Nanum Square Bold"/>
              </a:rPr>
              <a:t>연구 목적 및 범위</a:t>
            </a:r>
            <a:endParaRPr lang="en-US" sz="3376" b="1" spc="-101">
              <a:solidFill>
                <a:srgbClr val="454444"/>
              </a:solidFill>
              <a:latin typeface="페이퍼로지 6 SemiBold" pitchFamily="2" charset="-127"/>
              <a:ea typeface="페이퍼로지 6 SemiBold" pitchFamily="2" charset="-127"/>
              <a:cs typeface="Nanum Square Bold"/>
              <a:sym typeface="Nanum Square Bold"/>
            </a:endParaRPr>
          </a:p>
        </p:txBody>
      </p:sp>
      <p:sp>
        <p:nvSpPr>
          <p:cNvPr id="4" name="Freeform 31">
            <a:extLst>
              <a:ext uri="{FF2B5EF4-FFF2-40B4-BE49-F238E27FC236}">
                <a16:creationId xmlns:a16="http://schemas.microsoft.com/office/drawing/2014/main" id="{B71E00CC-F64B-E1D1-DA62-826AB1967BD7}"/>
              </a:ext>
            </a:extLst>
          </p:cNvPr>
          <p:cNvSpPr/>
          <p:nvPr/>
        </p:nvSpPr>
        <p:spPr>
          <a:xfrm>
            <a:off x="1088017" y="2918979"/>
            <a:ext cx="512369" cy="510021"/>
          </a:xfrm>
          <a:custGeom>
            <a:avLst/>
            <a:gdLst/>
            <a:ahLst/>
            <a:cxnLst/>
            <a:rect l="l" t="t" r="r" b="b"/>
            <a:pathLst>
              <a:path w="512369" h="510021">
                <a:moveTo>
                  <a:pt x="0" y="0"/>
                </a:moveTo>
                <a:lnTo>
                  <a:pt x="512369" y="0"/>
                </a:lnTo>
                <a:lnTo>
                  <a:pt x="512369" y="510021"/>
                </a:lnTo>
                <a:lnTo>
                  <a:pt x="0" y="5100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997FAE-6348-BCDE-1ABC-6CAD4E22E90A}"/>
              </a:ext>
            </a:extLst>
          </p:cNvPr>
          <p:cNvSpPr txBox="1"/>
          <p:nvPr/>
        </p:nvSpPr>
        <p:spPr>
          <a:xfrm>
            <a:off x="1780173" y="3782293"/>
            <a:ext cx="9144000" cy="21262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250"/>
              </a:spcBef>
              <a:spcAft>
                <a:spcPts val="1500"/>
              </a:spcAft>
            </a:pPr>
            <a:r>
              <a:rPr lang="ko-KR" altLang="en-US" sz="2800" i="0">
                <a:solidFill>
                  <a:srgbClr val="2A5298"/>
                </a:solidFill>
                <a:effectLst/>
                <a:latin typeface="페이퍼로지 7 Bold" pitchFamily="2" charset="-127"/>
                <a:ea typeface="페이퍼로지 7 Bold" pitchFamily="2" charset="-127"/>
              </a:rPr>
              <a:t>핵심 연구 질문</a:t>
            </a:r>
          </a:p>
          <a:p>
            <a:pPr marL="285750" indent="-285750" algn="l">
              <a:spcAft>
                <a:spcPts val="1875"/>
              </a:spcAft>
              <a:buFont typeface="Arial" panose="020B0604020202020204" pitchFamily="34" charset="0"/>
              <a:buChar char="•"/>
            </a:pPr>
            <a:r>
              <a:rPr lang="ko-KR" altLang="en-US" sz="2000" i="0">
                <a:solidFill>
                  <a:srgbClr val="4A5568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현행 제도가 </a:t>
            </a:r>
            <a:r>
              <a:rPr lang="ko-KR" altLang="en-US" sz="2000" i="0">
                <a:solidFill>
                  <a:srgbClr val="4A5568"/>
                </a:solidFill>
                <a:effectLst/>
                <a:latin typeface="페이퍼로지 6 SemiBold" pitchFamily="2" charset="-127"/>
                <a:ea typeface="페이퍼로지 6 SemiBold" pitchFamily="2" charset="-127"/>
              </a:rPr>
              <a:t>적정 수준 이상</a:t>
            </a:r>
            <a:r>
              <a:rPr lang="ko-KR" altLang="en-US" sz="2000" i="0">
                <a:solidFill>
                  <a:srgbClr val="4A5568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의 투자를 강제하는가</a:t>
            </a:r>
            <a:r>
              <a:rPr lang="en-US" altLang="ko-KR" sz="2000" i="0">
                <a:solidFill>
                  <a:srgbClr val="4A5568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?</a:t>
            </a:r>
          </a:p>
          <a:p>
            <a:pPr marL="285750" indent="-285750" algn="l">
              <a:spcAft>
                <a:spcPts val="1875"/>
              </a:spcAft>
              <a:buFont typeface="Arial" panose="020B0604020202020204" pitchFamily="34" charset="0"/>
              <a:buChar char="•"/>
            </a:pPr>
            <a:r>
              <a:rPr lang="ko-KR" altLang="en-US" sz="2000" i="0">
                <a:solidFill>
                  <a:srgbClr val="4A5568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강제 투자가 </a:t>
            </a:r>
            <a:r>
              <a:rPr lang="ko-KR" altLang="en-US" sz="2000">
                <a:solidFill>
                  <a:srgbClr val="4A5568"/>
                </a:solidFill>
                <a:latin typeface="페이퍼로지 6 SemiBold" pitchFamily="2" charset="-127"/>
                <a:ea typeface="페이퍼로지 6 SemiBold" pitchFamily="2" charset="-127"/>
              </a:rPr>
              <a:t>재투자 여력을 </a:t>
            </a:r>
            <a:r>
              <a:rPr lang="ko-KR" altLang="en-US" sz="2000" i="0">
                <a:solidFill>
                  <a:srgbClr val="4A5568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감소시키는가</a:t>
            </a:r>
            <a:r>
              <a:rPr lang="en-US" altLang="ko-KR" sz="2000" i="0">
                <a:solidFill>
                  <a:srgbClr val="4A5568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?</a:t>
            </a:r>
          </a:p>
          <a:p>
            <a:pPr marL="285750" indent="-285750" algn="l">
              <a:spcAft>
                <a:spcPts val="1875"/>
              </a:spcAft>
              <a:buFont typeface="Arial" panose="020B0604020202020204" pitchFamily="34" charset="0"/>
              <a:buChar char="•"/>
            </a:pPr>
            <a:r>
              <a:rPr lang="ko-KR" altLang="en-US" sz="2000">
                <a:solidFill>
                  <a:srgbClr val="4A5568"/>
                </a:solidFill>
                <a:latin typeface="페이퍼로지 6 SemiBold" pitchFamily="2" charset="-127"/>
                <a:ea typeface="페이퍼로지 6 SemiBold" pitchFamily="2" charset="-127"/>
              </a:rPr>
              <a:t>투자의 역설이 </a:t>
            </a:r>
            <a:r>
              <a:rPr lang="ko-KR" altLang="en-US" sz="2000" i="0">
                <a:solidFill>
                  <a:srgbClr val="4A5568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실증적으로 존재하는가</a:t>
            </a:r>
            <a:r>
              <a:rPr lang="en-US" altLang="ko-KR" sz="2000" i="0">
                <a:solidFill>
                  <a:srgbClr val="4A5568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64E077-B8F2-4F5C-402A-734C46DEDF1C}"/>
              </a:ext>
            </a:extLst>
          </p:cNvPr>
          <p:cNvSpPr txBox="1"/>
          <p:nvPr/>
        </p:nvSpPr>
        <p:spPr>
          <a:xfrm>
            <a:off x="1780173" y="6162535"/>
            <a:ext cx="9144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250"/>
              </a:spcBef>
              <a:spcAft>
                <a:spcPts val="1500"/>
              </a:spcAft>
            </a:pPr>
            <a:r>
              <a:rPr lang="ko-KR" altLang="en-US" sz="2800" i="0">
                <a:solidFill>
                  <a:srgbClr val="2A5298"/>
                </a:solidFill>
                <a:effectLst/>
                <a:latin typeface="페이퍼로지 7 Bold" pitchFamily="2" charset="-127"/>
                <a:ea typeface="페이퍼로지 7 Bold" pitchFamily="2" charset="-127"/>
              </a:rPr>
              <a:t>연구 범위</a:t>
            </a:r>
          </a:p>
        </p:txBody>
      </p:sp>
      <p:sp>
        <p:nvSpPr>
          <p:cNvPr id="10" name="TextBox 38">
            <a:extLst>
              <a:ext uri="{FF2B5EF4-FFF2-40B4-BE49-F238E27FC236}">
                <a16:creationId xmlns:a16="http://schemas.microsoft.com/office/drawing/2014/main" id="{10EC4FB6-6D6A-558A-D297-22E57CBAFB49}"/>
              </a:ext>
            </a:extLst>
          </p:cNvPr>
          <p:cNvSpPr txBox="1"/>
          <p:nvPr/>
        </p:nvSpPr>
        <p:spPr>
          <a:xfrm>
            <a:off x="1818164" y="6826637"/>
            <a:ext cx="2967473" cy="4185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35"/>
              </a:lnSpc>
            </a:pPr>
            <a:r>
              <a:rPr lang="ko-KR" altLang="en-US" sz="2400" b="1">
                <a:solidFill>
                  <a:srgbClr val="454444"/>
                </a:solidFill>
                <a:latin typeface="페이퍼로지 6 SemiBold" pitchFamily="2" charset="-127"/>
                <a:ea typeface="페이퍼로지 6 SemiBold" pitchFamily="2" charset="-127"/>
                <a:cs typeface="Nanum Square Bold"/>
                <a:sym typeface="Nanum Square Bold"/>
              </a:rPr>
              <a:t>분석대상</a:t>
            </a:r>
            <a:endParaRPr lang="en-US" sz="2400" b="1">
              <a:solidFill>
                <a:srgbClr val="454444"/>
              </a:solidFill>
              <a:latin typeface="페이퍼로지 6 SemiBold" pitchFamily="2" charset="-127"/>
              <a:ea typeface="페이퍼로지 6 SemiBold" pitchFamily="2" charset="-127"/>
              <a:cs typeface="Nanum Square Bold"/>
              <a:sym typeface="Nanum Square Bold"/>
            </a:endParaRPr>
          </a:p>
        </p:txBody>
      </p:sp>
      <p:sp>
        <p:nvSpPr>
          <p:cNvPr id="13" name="TextBox 46">
            <a:extLst>
              <a:ext uri="{FF2B5EF4-FFF2-40B4-BE49-F238E27FC236}">
                <a16:creationId xmlns:a16="http://schemas.microsoft.com/office/drawing/2014/main" id="{CB3A95A6-F4CA-7AF1-49CE-E3DCB17F3469}"/>
              </a:ext>
            </a:extLst>
          </p:cNvPr>
          <p:cNvSpPr txBox="1"/>
          <p:nvPr/>
        </p:nvSpPr>
        <p:spPr>
          <a:xfrm>
            <a:off x="1818164" y="7429500"/>
            <a:ext cx="7417614" cy="690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85750" indent="-285750">
              <a:lnSpc>
                <a:spcPts val="2771"/>
              </a:lnSpc>
              <a:buFont typeface="Arial" panose="020B0604020202020204" pitchFamily="34" charset="0"/>
              <a:buChar char="•"/>
            </a:pPr>
            <a:r>
              <a:rPr lang="ko-KR" altLang="en-US">
                <a:latin typeface="페이퍼로지 4 Regular" pitchFamily="2" charset="-127"/>
                <a:ea typeface="페이퍼로지 4 Regular" pitchFamily="2" charset="-127"/>
              </a:rPr>
              <a:t>종편 </a:t>
            </a:r>
            <a:r>
              <a:rPr lang="en-US" altLang="ko-KR">
                <a:latin typeface="페이퍼로지 4 Regular" pitchFamily="2" charset="-127"/>
                <a:ea typeface="페이퍼로지 4 Regular" pitchFamily="2" charset="-127"/>
              </a:rPr>
              <a:t>4</a:t>
            </a:r>
            <a:r>
              <a:rPr lang="ko-KR" altLang="en-US">
                <a:latin typeface="페이퍼로지 4 Regular" pitchFamily="2" charset="-127"/>
                <a:ea typeface="페이퍼로지 4 Regular" pitchFamily="2" charset="-127"/>
              </a:rPr>
              <a:t>사</a:t>
            </a:r>
            <a:br>
              <a:rPr lang="ko-KR" altLang="en-US" sz="1600">
                <a:latin typeface="페이퍼로지 4 Regular" pitchFamily="2" charset="-127"/>
                <a:ea typeface="페이퍼로지 4 Regular" pitchFamily="2" charset="-127"/>
              </a:rPr>
            </a:br>
            <a:r>
              <a:rPr lang="en-US" altLang="ko-KR">
                <a:latin typeface="페이퍼로지 4 Regular" pitchFamily="2" charset="-127"/>
                <a:ea typeface="페이퍼로지 4 Regular" pitchFamily="2" charset="-127"/>
              </a:rPr>
              <a:t>(JTBC, </a:t>
            </a:r>
            <a:r>
              <a:rPr lang="ko-KR" altLang="en-US">
                <a:latin typeface="페이퍼로지 4 Regular" pitchFamily="2" charset="-127"/>
                <a:ea typeface="페이퍼로지 4 Regular" pitchFamily="2" charset="-127"/>
              </a:rPr>
              <a:t>채널</a:t>
            </a:r>
            <a:r>
              <a:rPr lang="en-US" altLang="ko-KR">
                <a:latin typeface="페이퍼로지 4 Regular" pitchFamily="2" charset="-127"/>
                <a:ea typeface="페이퍼로지 4 Regular" pitchFamily="2" charset="-127"/>
              </a:rPr>
              <a:t>A, MBN, TV</a:t>
            </a:r>
            <a:r>
              <a:rPr lang="ko-KR" altLang="en-US">
                <a:latin typeface="페이퍼로지 4 Regular" pitchFamily="2" charset="-127"/>
                <a:ea typeface="페이퍼로지 4 Regular" pitchFamily="2" charset="-127"/>
              </a:rPr>
              <a:t>조선</a:t>
            </a:r>
            <a:r>
              <a:rPr lang="en-US" altLang="ko-KR">
                <a:latin typeface="페이퍼로지 4 Regular" pitchFamily="2" charset="-127"/>
                <a:ea typeface="페이퍼로지 4 Regular" pitchFamily="2" charset="-127"/>
              </a:rPr>
              <a:t>)</a:t>
            </a:r>
            <a:endParaRPr lang="en-US" sz="1710">
              <a:solidFill>
                <a:srgbClr val="454444"/>
              </a:solidFill>
              <a:latin typeface="페이퍼로지 4 Regular" pitchFamily="2" charset="-127"/>
              <a:ea typeface="페이퍼로지 4 Regular" pitchFamily="2" charset="-127"/>
              <a:cs typeface="Nanum Square Light"/>
              <a:sym typeface="Nanum Square Light"/>
            </a:endParaRPr>
          </a:p>
        </p:txBody>
      </p:sp>
      <p:sp>
        <p:nvSpPr>
          <p:cNvPr id="18" name="TextBox 38">
            <a:extLst>
              <a:ext uri="{FF2B5EF4-FFF2-40B4-BE49-F238E27FC236}">
                <a16:creationId xmlns:a16="http://schemas.microsoft.com/office/drawing/2014/main" id="{AFA2575D-3C61-A60B-BC96-45767B8B79F6}"/>
              </a:ext>
            </a:extLst>
          </p:cNvPr>
          <p:cNvSpPr txBox="1"/>
          <p:nvPr/>
        </p:nvSpPr>
        <p:spPr>
          <a:xfrm>
            <a:off x="9052222" y="6826637"/>
            <a:ext cx="2967473" cy="4185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35"/>
              </a:lnSpc>
            </a:pPr>
            <a:r>
              <a:rPr lang="ko-KR" altLang="en-US" sz="2400" b="1">
                <a:solidFill>
                  <a:srgbClr val="454444"/>
                </a:solidFill>
                <a:latin typeface="페이퍼로지 6 SemiBold" pitchFamily="2" charset="-127"/>
                <a:ea typeface="페이퍼로지 6 SemiBold" pitchFamily="2" charset="-127"/>
                <a:cs typeface="Nanum Square Bold"/>
                <a:sym typeface="Nanum Square Bold"/>
              </a:rPr>
              <a:t>분석 기간</a:t>
            </a:r>
          </a:p>
        </p:txBody>
      </p:sp>
      <p:sp>
        <p:nvSpPr>
          <p:cNvPr id="21" name="TextBox 46">
            <a:extLst>
              <a:ext uri="{FF2B5EF4-FFF2-40B4-BE49-F238E27FC236}">
                <a16:creationId xmlns:a16="http://schemas.microsoft.com/office/drawing/2014/main" id="{E5EA35F1-7F29-E72D-F919-AF81FE56473B}"/>
              </a:ext>
            </a:extLst>
          </p:cNvPr>
          <p:cNvSpPr txBox="1"/>
          <p:nvPr/>
        </p:nvSpPr>
        <p:spPr>
          <a:xfrm>
            <a:off x="9052222" y="7429500"/>
            <a:ext cx="7417614" cy="690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85750" indent="-285750">
              <a:lnSpc>
                <a:spcPts val="2771"/>
              </a:lnSpc>
              <a:buFont typeface="Arial" panose="020B0604020202020204" pitchFamily="34" charset="0"/>
              <a:buChar char="•"/>
            </a:pPr>
            <a:r>
              <a:rPr lang="en-US" altLang="ko-KR">
                <a:latin typeface="페이퍼로지 4 Regular" pitchFamily="2" charset="-127"/>
                <a:ea typeface="페이퍼로지 4 Regular" pitchFamily="2" charset="-127"/>
              </a:rPr>
              <a:t>2015-2024</a:t>
            </a:r>
            <a:r>
              <a:rPr lang="ko-KR" altLang="en-US">
                <a:latin typeface="페이퍼로지 4 Regular" pitchFamily="2" charset="-127"/>
                <a:ea typeface="페이퍼로지 4 Regular" pitchFamily="2" charset="-127"/>
              </a:rPr>
              <a:t>년</a:t>
            </a:r>
          </a:p>
          <a:p>
            <a:pPr marL="285750" indent="-285750">
              <a:lnSpc>
                <a:spcPts val="2771"/>
              </a:lnSpc>
              <a:buFont typeface="Arial" panose="020B0604020202020204" pitchFamily="34" charset="0"/>
              <a:buChar char="•"/>
            </a:pPr>
            <a:r>
              <a:rPr lang="en-US" altLang="ko-KR">
                <a:latin typeface="페이퍼로지 4 Regular" pitchFamily="2" charset="-127"/>
                <a:ea typeface="페이퍼로지 4 Regular" pitchFamily="2" charset="-127"/>
              </a:rPr>
              <a:t>(10</a:t>
            </a:r>
            <a:r>
              <a:rPr lang="ko-KR" altLang="en-US">
                <a:latin typeface="페이퍼로지 4 Regular" pitchFamily="2" charset="-127"/>
                <a:ea typeface="페이퍼로지 4 Regular" pitchFamily="2" charset="-127"/>
              </a:rPr>
              <a:t>개년</a:t>
            </a:r>
            <a:r>
              <a:rPr lang="en-US" altLang="ko-KR">
                <a:latin typeface="페이퍼로지 4 Regular" pitchFamily="2" charset="-127"/>
                <a:ea typeface="페이퍼로지 4 Regular" pitchFamily="2" charset="-127"/>
              </a:rPr>
              <a:t>)</a:t>
            </a:r>
            <a:endParaRPr lang="en-US" sz="1710">
              <a:solidFill>
                <a:srgbClr val="454444"/>
              </a:solidFill>
              <a:latin typeface="페이퍼로지 4 Regular" pitchFamily="2" charset="-127"/>
              <a:ea typeface="페이퍼로지 4 Regular" pitchFamily="2" charset="-127"/>
              <a:cs typeface="Nanum Square Light"/>
              <a:sym typeface="Nanum Square Light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CA2B1C7-8341-1496-B916-BF88C9D398AF}"/>
              </a:ext>
            </a:extLst>
          </p:cNvPr>
          <p:cNvSpPr txBox="1"/>
          <p:nvPr/>
        </p:nvSpPr>
        <p:spPr>
          <a:xfrm>
            <a:off x="1780173" y="8398518"/>
            <a:ext cx="9144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250"/>
              </a:spcBef>
              <a:spcAft>
                <a:spcPts val="1500"/>
              </a:spcAft>
            </a:pPr>
            <a:r>
              <a:rPr lang="ko-KR" altLang="en-US" sz="2800" i="0">
                <a:solidFill>
                  <a:srgbClr val="2A5298"/>
                </a:solidFill>
                <a:effectLst/>
                <a:latin typeface="페이퍼로지 7 Bold" pitchFamily="2" charset="-127"/>
                <a:ea typeface="페이퍼로지 7 Bold" pitchFamily="2" charset="-127"/>
              </a:rPr>
              <a:t>분석방법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C088FE8-7A15-6ED9-A610-2822EE58A089}"/>
              </a:ext>
            </a:extLst>
          </p:cNvPr>
          <p:cNvSpPr txBox="1"/>
          <p:nvPr/>
        </p:nvSpPr>
        <p:spPr>
          <a:xfrm>
            <a:off x="1818164" y="9044148"/>
            <a:ext cx="9144000" cy="8386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ko-KR" altLang="en-US">
                <a:latin typeface="페이퍼로지 4 Regular" pitchFamily="2" charset="-127"/>
                <a:ea typeface="페이퍼로지 4 Regular" pitchFamily="2" charset="-127"/>
              </a:rPr>
              <a:t>재무 데이터 종합 분석 </a:t>
            </a:r>
            <a:r>
              <a:rPr lang="en-US" altLang="ko-KR">
                <a:latin typeface="페이퍼로지 4 Regular" pitchFamily="2" charset="-127"/>
                <a:ea typeface="페이퍼로지 4 Regular" pitchFamily="2" charset="-127"/>
              </a:rPr>
              <a:t>/ </a:t>
            </a:r>
            <a:r>
              <a:rPr lang="ko-KR" altLang="en-US">
                <a:latin typeface="페이퍼로지 6 SemiBold" pitchFamily="2" charset="-127"/>
                <a:ea typeface="페이퍼로지 6 SemiBold" pitchFamily="2" charset="-127"/>
              </a:rPr>
              <a:t>적정투자 </a:t>
            </a:r>
            <a:r>
              <a:rPr lang="en-US" altLang="ko-KR">
                <a:latin typeface="페이퍼로지 6 SemiBold" pitchFamily="2" charset="-127"/>
                <a:ea typeface="페이퍼로지 6 SemiBold" pitchFamily="2" charset="-127"/>
              </a:rPr>
              <a:t>vs </a:t>
            </a:r>
            <a:r>
              <a:rPr lang="ko-KR" altLang="en-US">
                <a:latin typeface="페이퍼로지 6 SemiBold" pitchFamily="2" charset="-127"/>
                <a:ea typeface="페이퍼로지 6 SemiBold" pitchFamily="2" charset="-127"/>
              </a:rPr>
              <a:t>강제투자 </a:t>
            </a:r>
            <a:r>
              <a:rPr lang="ko-KR" altLang="en-US">
                <a:latin typeface="페이퍼로지 4 Regular" pitchFamily="2" charset="-127"/>
                <a:ea typeface="페이퍼로지 4 Regular" pitchFamily="2" charset="-127"/>
              </a:rPr>
              <a:t>비교</a:t>
            </a:r>
          </a:p>
          <a:p>
            <a:pPr marL="285750" indent="-285750" algn="l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ko-KR" altLang="en-US">
                <a:latin typeface="페이퍼로지 6 SemiBold" pitchFamily="2" charset="-127"/>
                <a:ea typeface="페이퍼로지 6 SemiBold" pitchFamily="2" charset="-127"/>
              </a:rPr>
              <a:t>재투자 여력 </a:t>
            </a:r>
            <a:r>
              <a:rPr lang="ko-KR" altLang="en-US">
                <a:latin typeface="페이퍼로지 4 Regular" pitchFamily="2" charset="-127"/>
                <a:ea typeface="페이퍼로지 4 Regular" pitchFamily="2" charset="-127"/>
              </a:rPr>
              <a:t>변화 추적 </a:t>
            </a:r>
            <a:r>
              <a:rPr lang="en-US" altLang="ko-KR">
                <a:latin typeface="페이퍼로지 4 Regular" pitchFamily="2" charset="-127"/>
                <a:ea typeface="페이퍼로지 4 Regular" pitchFamily="2" charset="-127"/>
              </a:rPr>
              <a:t>/ </a:t>
            </a:r>
            <a:r>
              <a:rPr lang="ko-KR" altLang="en-US">
                <a:latin typeface="페이퍼로지 4 Regular" pitchFamily="2" charset="-127"/>
                <a:ea typeface="페이퍼로지 4 Regular" pitchFamily="2" charset="-127"/>
              </a:rPr>
              <a:t>구축효과</a:t>
            </a:r>
            <a:r>
              <a:rPr lang="en-US" altLang="ko-KR">
                <a:latin typeface="페이퍼로지 4 Regular" pitchFamily="2" charset="-127"/>
                <a:ea typeface="페이퍼로지 4 Regular" pitchFamily="2" charset="-127"/>
              </a:rPr>
              <a:t>(Crowding-out) </a:t>
            </a:r>
            <a:r>
              <a:rPr lang="ko-KR" altLang="en-US">
                <a:latin typeface="페이퍼로지 4 Regular" pitchFamily="2" charset="-127"/>
                <a:ea typeface="페이퍼로지 4 Regular" pitchFamily="2" charset="-127"/>
              </a:rPr>
              <a:t>실증</a:t>
            </a:r>
          </a:p>
        </p:txBody>
      </p:sp>
      <p:sp>
        <p:nvSpPr>
          <p:cNvPr id="28" name="슬라이드 번호 개체 틀 27">
            <a:extLst>
              <a:ext uri="{FF2B5EF4-FFF2-40B4-BE49-F238E27FC236}">
                <a16:creationId xmlns:a16="http://schemas.microsoft.com/office/drawing/2014/main" id="{9B9BD5F0-C2E0-4A17-4542-97F600E186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3735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EA76FA-31BA-3E88-0A3C-BF51D8D49A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EB15E810-76DD-65B3-F2A9-B00861C40F83}"/>
              </a:ext>
            </a:extLst>
          </p:cNvPr>
          <p:cNvSpPr/>
          <p:nvPr/>
        </p:nvSpPr>
        <p:spPr>
          <a:xfrm flipV="1">
            <a:off x="1028700" y="1169525"/>
            <a:ext cx="16230600" cy="0"/>
          </a:xfrm>
          <a:prstGeom prst="line">
            <a:avLst/>
          </a:prstGeom>
          <a:ln w="19050" cap="flat">
            <a:solidFill>
              <a:srgbClr val="D9D9D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7151127-847C-53A7-AA7D-EC5C93BA47F4}"/>
              </a:ext>
            </a:extLst>
          </p:cNvPr>
          <p:cNvSpPr txBox="1"/>
          <p:nvPr/>
        </p:nvSpPr>
        <p:spPr>
          <a:xfrm>
            <a:off x="1028700" y="1399848"/>
            <a:ext cx="1502946" cy="11319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579"/>
              </a:lnSpc>
            </a:pPr>
            <a:r>
              <a:rPr lang="en-US" altLang="ko-KR" sz="7983" spc="-239">
                <a:solidFill>
                  <a:srgbClr val="15A9F1"/>
                </a:solidFill>
                <a:latin typeface="페이퍼로지 5 Medium" pitchFamily="2" charset="-127"/>
                <a:ea typeface="페이퍼로지 5 Medium" pitchFamily="2" charset="-127"/>
                <a:cs typeface="Nanum Square Bold"/>
                <a:sym typeface="Nanum Square Bold"/>
              </a:rPr>
              <a:t>01</a:t>
            </a:r>
            <a:endParaRPr lang="en-US" sz="7983" spc="-239">
              <a:solidFill>
                <a:srgbClr val="15A9F1"/>
              </a:solidFill>
              <a:latin typeface="페이퍼로지 5 Medium" pitchFamily="2" charset="-127"/>
              <a:ea typeface="페이퍼로지 5 Medium" pitchFamily="2" charset="-127"/>
              <a:cs typeface="Nanum Square Bold"/>
              <a:sym typeface="Nanum Square Bold"/>
            </a:endParaRP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D77FFA28-E787-ABF8-ADDE-8603727CC600}"/>
              </a:ext>
            </a:extLst>
          </p:cNvPr>
          <p:cNvSpPr txBox="1"/>
          <p:nvPr/>
        </p:nvSpPr>
        <p:spPr>
          <a:xfrm>
            <a:off x="2531646" y="1626872"/>
            <a:ext cx="3897016" cy="7905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000"/>
              </a:lnSpc>
            </a:pPr>
            <a:r>
              <a:rPr lang="ko-KR" altLang="en-US" sz="5000">
                <a:solidFill>
                  <a:srgbClr val="454444"/>
                </a:solidFill>
                <a:latin typeface="페이퍼로지 5 Medium" pitchFamily="2" charset="-127"/>
                <a:ea typeface="페이퍼로지 5 Medium" pitchFamily="2" charset="-127"/>
                <a:cs typeface="Nanum Square Bold"/>
                <a:sym typeface="Nanum Square Bold"/>
              </a:rPr>
              <a:t>들어가며</a:t>
            </a:r>
            <a:endParaRPr lang="en-US" altLang="ko-KR" sz="5000">
              <a:solidFill>
                <a:srgbClr val="454444"/>
              </a:solidFill>
              <a:latin typeface="페이퍼로지 5 Medium" pitchFamily="2" charset="-127"/>
              <a:ea typeface="페이퍼로지 5 Medium" pitchFamily="2" charset="-127"/>
              <a:cs typeface="Nanum Square Bold"/>
              <a:sym typeface="Nanum Square Bold"/>
            </a:endParaRP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9701EDB7-5638-344B-FA01-77D882FBE1CE}"/>
              </a:ext>
            </a:extLst>
          </p:cNvPr>
          <p:cNvSpPr txBox="1"/>
          <p:nvPr/>
        </p:nvSpPr>
        <p:spPr>
          <a:xfrm>
            <a:off x="1123950" y="811675"/>
            <a:ext cx="3295650" cy="2239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888"/>
              </a:lnSpc>
            </a:pPr>
            <a:r>
              <a:rPr lang="ko-KR" altLang="en-US" sz="1574">
                <a:solidFill>
                  <a:srgbClr val="545454"/>
                </a:solidFill>
                <a:latin typeface="페이퍼로지 3 Light" pitchFamily="2" charset="-127"/>
                <a:ea typeface="페이퍼로지 3 Light" pitchFamily="2" charset="-127"/>
                <a:cs typeface="Nanum Square"/>
                <a:sym typeface="Nanum Square"/>
              </a:rPr>
              <a:t>한국언론학회 </a:t>
            </a:r>
            <a:r>
              <a:rPr lang="en-US" altLang="ko-KR" sz="1574">
                <a:solidFill>
                  <a:srgbClr val="545454"/>
                </a:solidFill>
                <a:latin typeface="페이퍼로지 3 Light" pitchFamily="2" charset="-127"/>
                <a:ea typeface="페이퍼로지 3 Light" pitchFamily="2" charset="-127"/>
                <a:cs typeface="Nanum Square"/>
                <a:sym typeface="Nanum Square"/>
              </a:rPr>
              <a:t>2025 </a:t>
            </a:r>
            <a:r>
              <a:rPr lang="ko-KR" altLang="en-US" sz="1574">
                <a:solidFill>
                  <a:srgbClr val="545454"/>
                </a:solidFill>
                <a:latin typeface="페이퍼로지 3 Light" pitchFamily="2" charset="-127"/>
                <a:ea typeface="페이퍼로지 3 Light" pitchFamily="2" charset="-127"/>
                <a:cs typeface="Nanum Square"/>
                <a:sym typeface="Nanum Square"/>
              </a:rPr>
              <a:t>가을철 학술대회</a:t>
            </a:r>
            <a:endParaRPr lang="en-US" altLang="ko-KR" sz="1574">
              <a:solidFill>
                <a:srgbClr val="545454"/>
              </a:solidFill>
              <a:latin typeface="페이퍼로지 3 Light" pitchFamily="2" charset="-127"/>
              <a:ea typeface="페이퍼로지 3 Light" pitchFamily="2" charset="-127"/>
              <a:cs typeface="Nanum Square"/>
              <a:sym typeface="Nanum Square"/>
            </a:endParaRPr>
          </a:p>
        </p:txBody>
      </p:sp>
      <p:sp>
        <p:nvSpPr>
          <p:cNvPr id="20" name="TextBox 12">
            <a:extLst>
              <a:ext uri="{FF2B5EF4-FFF2-40B4-BE49-F238E27FC236}">
                <a16:creationId xmlns:a16="http://schemas.microsoft.com/office/drawing/2014/main" id="{D6CAAE8C-2729-779E-211E-D94EDFF7D98D}"/>
              </a:ext>
            </a:extLst>
          </p:cNvPr>
          <p:cNvSpPr txBox="1"/>
          <p:nvPr/>
        </p:nvSpPr>
        <p:spPr>
          <a:xfrm>
            <a:off x="15135245" y="792625"/>
            <a:ext cx="2124055" cy="2116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768"/>
              </a:lnSpc>
            </a:pPr>
            <a:r>
              <a:rPr lang="ko-KR" altLang="en-US" sz="1474" b="1">
                <a:solidFill>
                  <a:srgbClr val="545454"/>
                </a:solidFill>
                <a:latin typeface="페이퍼로지 6 SemiBold" pitchFamily="2" charset="-127"/>
                <a:ea typeface="페이퍼로지 6 SemiBold" pitchFamily="2" charset="-127"/>
                <a:cs typeface="Nanum Square Bold"/>
                <a:sym typeface="Nanum Square Bold"/>
              </a:rPr>
              <a:t>선문대학교</a:t>
            </a:r>
            <a:endParaRPr lang="en-US" sz="1474" b="1">
              <a:solidFill>
                <a:srgbClr val="545454"/>
              </a:solidFill>
              <a:latin typeface="페이퍼로지 6 SemiBold" pitchFamily="2" charset="-127"/>
              <a:ea typeface="페이퍼로지 6 SemiBold" pitchFamily="2" charset="-127"/>
              <a:cs typeface="Nanum Square Bold"/>
              <a:sym typeface="Nanum Square Bold"/>
            </a:endParaRPr>
          </a:p>
        </p:txBody>
      </p:sp>
      <p:grpSp>
        <p:nvGrpSpPr>
          <p:cNvPr id="5" name="Group 8">
            <a:extLst>
              <a:ext uri="{FF2B5EF4-FFF2-40B4-BE49-F238E27FC236}">
                <a16:creationId xmlns:a16="http://schemas.microsoft.com/office/drawing/2014/main" id="{2DB6DD95-E212-425F-2255-FC3F5FF240D7}"/>
              </a:ext>
            </a:extLst>
          </p:cNvPr>
          <p:cNvGrpSpPr/>
          <p:nvPr/>
        </p:nvGrpSpPr>
        <p:grpSpPr>
          <a:xfrm>
            <a:off x="1028700" y="2915858"/>
            <a:ext cx="16230600" cy="1673860"/>
            <a:chOff x="0" y="0"/>
            <a:chExt cx="8160170" cy="841557"/>
          </a:xfrm>
        </p:grpSpPr>
        <p:sp>
          <p:nvSpPr>
            <p:cNvPr id="6" name="Freeform 9">
              <a:extLst>
                <a:ext uri="{FF2B5EF4-FFF2-40B4-BE49-F238E27FC236}">
                  <a16:creationId xmlns:a16="http://schemas.microsoft.com/office/drawing/2014/main" id="{F3375990-C9F8-406F-2821-EB65BE430F5F}"/>
                </a:ext>
              </a:extLst>
            </p:cNvPr>
            <p:cNvSpPr/>
            <p:nvPr/>
          </p:nvSpPr>
          <p:spPr>
            <a:xfrm>
              <a:off x="0" y="0"/>
              <a:ext cx="8160169" cy="841557"/>
            </a:xfrm>
            <a:custGeom>
              <a:avLst/>
              <a:gdLst/>
              <a:ahLst/>
              <a:cxnLst/>
              <a:rect l="l" t="t" r="r" b="b"/>
              <a:pathLst>
                <a:path w="8160169" h="841557">
                  <a:moveTo>
                    <a:pt x="6678" y="0"/>
                  </a:moveTo>
                  <a:lnTo>
                    <a:pt x="8153491" y="0"/>
                  </a:lnTo>
                  <a:cubicBezTo>
                    <a:pt x="8157180" y="0"/>
                    <a:pt x="8160169" y="2990"/>
                    <a:pt x="8160169" y="6678"/>
                  </a:cubicBezTo>
                  <a:lnTo>
                    <a:pt x="8160169" y="834880"/>
                  </a:lnTo>
                  <a:cubicBezTo>
                    <a:pt x="8160169" y="838568"/>
                    <a:pt x="8157180" y="841557"/>
                    <a:pt x="8153491" y="841557"/>
                  </a:cubicBezTo>
                  <a:lnTo>
                    <a:pt x="6678" y="841557"/>
                  </a:lnTo>
                  <a:cubicBezTo>
                    <a:pt x="2990" y="841557"/>
                    <a:pt x="0" y="838568"/>
                    <a:pt x="0" y="834880"/>
                  </a:cubicBezTo>
                  <a:lnTo>
                    <a:pt x="0" y="6678"/>
                  </a:lnTo>
                  <a:cubicBezTo>
                    <a:pt x="0" y="2990"/>
                    <a:pt x="2990" y="0"/>
                    <a:pt x="6678" y="0"/>
                  </a:cubicBezTo>
                  <a:close/>
                </a:path>
              </a:pathLst>
            </a:custGeom>
            <a:solidFill>
              <a:srgbClr val="00ACFF"/>
            </a:solidFill>
          </p:spPr>
          <p:txBody>
            <a:bodyPr/>
            <a:lstStyle/>
            <a:p>
              <a:endParaRPr lang="ko-KR" altLang="en-US">
                <a:latin typeface="페이퍼로지 5 Medium" pitchFamily="2" charset="-127"/>
                <a:ea typeface="페이퍼로지 5 Medium" pitchFamily="2" charset="-127"/>
              </a:endParaRPr>
            </a:p>
          </p:txBody>
        </p:sp>
        <p:sp>
          <p:nvSpPr>
            <p:cNvPr id="7" name="TextBox 10">
              <a:extLst>
                <a:ext uri="{FF2B5EF4-FFF2-40B4-BE49-F238E27FC236}">
                  <a16:creationId xmlns:a16="http://schemas.microsoft.com/office/drawing/2014/main" id="{F8A7EDCE-D203-48CD-661F-FDFD514BD8FB}"/>
                </a:ext>
              </a:extLst>
            </p:cNvPr>
            <p:cNvSpPr txBox="1"/>
            <p:nvPr/>
          </p:nvSpPr>
          <p:spPr>
            <a:xfrm>
              <a:off x="0" y="-9525"/>
              <a:ext cx="8160170" cy="8510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27"/>
                </a:lnSpc>
              </a:pPr>
              <a:endParaRPr>
                <a:latin typeface="페이퍼로지 5 Medium" pitchFamily="2" charset="-127"/>
                <a:ea typeface="페이퍼로지 5 Medium" pitchFamily="2" charset="-127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4E7B249A-6AD0-BFAC-BCF7-8F862221FBB7}"/>
              </a:ext>
            </a:extLst>
          </p:cNvPr>
          <p:cNvSpPr txBox="1"/>
          <p:nvPr/>
        </p:nvSpPr>
        <p:spPr>
          <a:xfrm>
            <a:off x="1994467" y="3084215"/>
            <a:ext cx="11873933" cy="13162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i="0">
                <a:solidFill>
                  <a:srgbClr val="FFFFFF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5</a:t>
            </a:r>
            <a:r>
              <a:rPr lang="ko-KR" altLang="en-US" sz="2800" i="0">
                <a:solidFill>
                  <a:srgbClr val="FFFFFF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년 단위 경직된 투자 계획 의무화</a:t>
            </a:r>
          </a:p>
          <a:p>
            <a:pPr>
              <a:lnSpc>
                <a:spcPct val="150000"/>
              </a:lnSpc>
            </a:pPr>
            <a:r>
              <a:rPr lang="ko-KR" altLang="en-US" sz="2800" i="0">
                <a:solidFill>
                  <a:srgbClr val="FFFFFF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시장 최적 수준 초과 가능성</a:t>
            </a:r>
            <a:endParaRPr lang="ko-KR" altLang="en-US" sz="280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15" name="Freeform 17">
            <a:extLst>
              <a:ext uri="{FF2B5EF4-FFF2-40B4-BE49-F238E27FC236}">
                <a16:creationId xmlns:a16="http://schemas.microsoft.com/office/drawing/2014/main" id="{77F2BB00-BA78-C5C3-AECA-9BD5AF8B1C6E}"/>
              </a:ext>
            </a:extLst>
          </p:cNvPr>
          <p:cNvSpPr/>
          <p:nvPr/>
        </p:nvSpPr>
        <p:spPr>
          <a:xfrm>
            <a:off x="1255399" y="3497777"/>
            <a:ext cx="512369" cy="510021"/>
          </a:xfrm>
          <a:custGeom>
            <a:avLst/>
            <a:gdLst/>
            <a:ahLst/>
            <a:cxnLst/>
            <a:rect l="l" t="t" r="r" b="b"/>
            <a:pathLst>
              <a:path w="512369" h="510021">
                <a:moveTo>
                  <a:pt x="0" y="0"/>
                </a:moveTo>
                <a:lnTo>
                  <a:pt x="512370" y="0"/>
                </a:lnTo>
                <a:lnTo>
                  <a:pt x="512370" y="510021"/>
                </a:lnTo>
                <a:lnTo>
                  <a:pt x="0" y="5100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AFEB5E7-37B4-A8A8-6D8B-7113B3501F85}"/>
              </a:ext>
            </a:extLst>
          </p:cNvPr>
          <p:cNvSpPr txBox="1"/>
          <p:nvPr/>
        </p:nvSpPr>
        <p:spPr>
          <a:xfrm>
            <a:off x="1028700" y="4851328"/>
            <a:ext cx="9144000" cy="26871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250"/>
              </a:spcBef>
              <a:spcAft>
                <a:spcPts val="1500"/>
              </a:spcAft>
            </a:pPr>
            <a:r>
              <a:rPr lang="ko-KR" altLang="en-US" sz="2800" i="0">
                <a:solidFill>
                  <a:srgbClr val="2A5298"/>
                </a:solidFill>
                <a:effectLst/>
                <a:latin typeface="페이퍼로지 7 Bold" pitchFamily="2" charset="-127"/>
                <a:ea typeface="페이퍼로지 7 Bold" pitchFamily="2" charset="-127"/>
              </a:rPr>
              <a:t>재승인 조건</a:t>
            </a: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ko-KR" sz="2000">
                <a:solidFill>
                  <a:srgbClr val="454444"/>
                </a:solidFill>
                <a:latin typeface="페이퍼로지 2 ExtraLight" pitchFamily="2" charset="-127"/>
                <a:ea typeface="페이퍼로지 2 ExtraLight" pitchFamily="2" charset="-127"/>
              </a:rPr>
              <a:t>5</a:t>
            </a:r>
            <a:r>
              <a:rPr lang="ko-KR" altLang="en-US" sz="2000">
                <a:solidFill>
                  <a:srgbClr val="454444"/>
                </a:solidFill>
                <a:latin typeface="페이퍼로지 2 ExtraLight" pitchFamily="2" charset="-127"/>
                <a:ea typeface="페이퍼로지 2 ExtraLight" pitchFamily="2" charset="-127"/>
              </a:rPr>
              <a:t>년 단위 콘텐츠 투자계획 수립 의무</a:t>
            </a: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sz="2000">
                <a:solidFill>
                  <a:srgbClr val="454444"/>
                </a:solidFill>
                <a:latin typeface="페이퍼로지 2 ExtraLight" pitchFamily="2" charset="-127"/>
                <a:ea typeface="페이퍼로지 2 ExtraLight" pitchFamily="2" charset="-127"/>
              </a:rPr>
              <a:t>연도별 엄격한 이행 의무</a:t>
            </a: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sz="2000">
                <a:solidFill>
                  <a:srgbClr val="454444"/>
                </a:solidFill>
                <a:latin typeface="페이퍼로지 2 ExtraLight" pitchFamily="2" charset="-127"/>
                <a:ea typeface="페이퍼로지 2 ExtraLight" pitchFamily="2" charset="-127"/>
              </a:rPr>
              <a:t>계획 대비 실적 검증</a:t>
            </a: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sz="2000">
                <a:solidFill>
                  <a:srgbClr val="454444"/>
                </a:solidFill>
                <a:latin typeface="페이퍼로지 2 ExtraLight" pitchFamily="2" charset="-127"/>
                <a:ea typeface="페이퍼로지 2 ExtraLight" pitchFamily="2" charset="-127"/>
              </a:rPr>
              <a:t>미이행 시 재승인 불가 또는 조건부 재승인</a:t>
            </a: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sz="2000">
                <a:solidFill>
                  <a:srgbClr val="454444"/>
                </a:solidFill>
                <a:latin typeface="페이퍼로지 2 ExtraLight" pitchFamily="2" charset="-127"/>
                <a:ea typeface="페이퍼로지 2 ExtraLight" pitchFamily="2" charset="-127"/>
              </a:rPr>
              <a:t>문제</a:t>
            </a:r>
            <a:r>
              <a:rPr lang="en-US" altLang="ko-KR" sz="2000">
                <a:solidFill>
                  <a:srgbClr val="454444"/>
                </a:solidFill>
                <a:latin typeface="페이퍼로지 2 ExtraLight" pitchFamily="2" charset="-127"/>
                <a:ea typeface="페이퍼로지 2 ExtraLight" pitchFamily="2" charset="-127"/>
              </a:rPr>
              <a:t>: </a:t>
            </a:r>
            <a:r>
              <a:rPr lang="ko-KR" altLang="en-US" sz="2000">
                <a:solidFill>
                  <a:srgbClr val="454444"/>
                </a:solidFill>
                <a:latin typeface="페이퍼로지 2 ExtraLight" pitchFamily="2" charset="-127"/>
                <a:ea typeface="페이퍼로지 2 ExtraLight" pitchFamily="2" charset="-127"/>
              </a:rPr>
              <a:t>시장 여건 변화 시에도 조정 불가</a:t>
            </a:r>
          </a:p>
        </p:txBody>
      </p:sp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5FEF46C1-9164-4388-7085-8A29B6876F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7743600"/>
              </p:ext>
            </p:extLst>
          </p:nvPr>
        </p:nvGraphicFramePr>
        <p:xfrm>
          <a:off x="1157620" y="8215509"/>
          <a:ext cx="16101678" cy="1804791"/>
        </p:xfrm>
        <a:graphic>
          <a:graphicData uri="http://schemas.openxmlformats.org/drawingml/2006/table">
            <a:tbl>
              <a:tblPr/>
              <a:tblGrid>
                <a:gridCol w="5367226">
                  <a:extLst>
                    <a:ext uri="{9D8B030D-6E8A-4147-A177-3AD203B41FA5}">
                      <a16:colId xmlns:a16="http://schemas.microsoft.com/office/drawing/2014/main" val="3499056433"/>
                    </a:ext>
                  </a:extLst>
                </a:gridCol>
                <a:gridCol w="5367226">
                  <a:extLst>
                    <a:ext uri="{9D8B030D-6E8A-4147-A177-3AD203B41FA5}">
                      <a16:colId xmlns:a16="http://schemas.microsoft.com/office/drawing/2014/main" val="3871727323"/>
                    </a:ext>
                  </a:extLst>
                </a:gridCol>
                <a:gridCol w="5367226">
                  <a:extLst>
                    <a:ext uri="{9D8B030D-6E8A-4147-A177-3AD203B41FA5}">
                      <a16:colId xmlns:a16="http://schemas.microsoft.com/office/drawing/2014/main" val="448617692"/>
                    </a:ext>
                  </a:extLst>
                </a:gridCol>
              </a:tblGrid>
              <a:tr h="66605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500" b="1">
                          <a:solidFill>
                            <a:schemeClr val="bg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구분</a:t>
                      </a:r>
                    </a:p>
                  </a:txBody>
                  <a:tcPr marL="158262" marR="158262" marT="158262" marB="1582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A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500" b="1">
                          <a:solidFill>
                            <a:schemeClr val="bg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법정 기간</a:t>
                      </a:r>
                    </a:p>
                  </a:txBody>
                  <a:tcPr marL="158262" marR="158262" marT="158262" marB="1582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A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500" b="1">
                          <a:solidFill>
                            <a:schemeClr val="bg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실제 부여</a:t>
                      </a:r>
                    </a:p>
                  </a:txBody>
                  <a:tcPr marL="158262" marR="158262" marT="158262" marB="1582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A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4757492"/>
                  </a:ext>
                </a:extLst>
              </a:tr>
              <a:tr h="56936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50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방송법</a:t>
                      </a:r>
                    </a:p>
                  </a:txBody>
                  <a:tcPr marL="118696" marR="118696" marT="118696" marB="1186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50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7</a:t>
                      </a:r>
                      <a:r>
                        <a:rPr lang="ko-KR" altLang="en-US" sz="150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년 이내</a:t>
                      </a:r>
                    </a:p>
                  </a:txBody>
                  <a:tcPr marL="118696" marR="118696" marT="118696" marB="1186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500" b="1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3~4</a:t>
                      </a:r>
                      <a:r>
                        <a:rPr lang="ko-KR" altLang="en-US" sz="1500" b="1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년</a:t>
                      </a:r>
                      <a:endParaRPr lang="ko-KR" altLang="en-US" sz="1500">
                        <a:solidFill>
                          <a:schemeClr val="tx1"/>
                        </a:solidFill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118696" marR="118696" marT="118696" marB="1186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4959640"/>
                  </a:ext>
                </a:extLst>
              </a:tr>
              <a:tr h="56936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50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시행령</a:t>
                      </a:r>
                    </a:p>
                  </a:txBody>
                  <a:tcPr marL="118696" marR="118696" marT="118696" marB="118696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50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5</a:t>
                      </a:r>
                      <a:r>
                        <a:rPr lang="ko-KR" altLang="en-US" sz="150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년 </a:t>
                      </a:r>
                      <a:r>
                        <a:rPr lang="en-US" altLang="ko-KR" sz="150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(</a:t>
                      </a:r>
                      <a:r>
                        <a:rPr lang="ko-KR" altLang="en-US" sz="150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종편</a:t>
                      </a:r>
                      <a:r>
                        <a:rPr lang="en-US" altLang="ko-KR" sz="150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/</a:t>
                      </a:r>
                      <a:r>
                        <a:rPr lang="ko-KR" altLang="en-US" sz="150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보도</a:t>
                      </a:r>
                      <a:r>
                        <a:rPr lang="en-US" altLang="ko-KR" sz="1500">
                          <a:solidFill>
                            <a:schemeClr val="tx1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PP)</a:t>
                      </a:r>
                    </a:p>
                  </a:txBody>
                  <a:tcPr marL="118696" marR="118696" marT="118696" marB="118696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6110582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F2ACFD87-FB63-AF56-F052-8619FCDA2E5B}"/>
              </a:ext>
            </a:extLst>
          </p:cNvPr>
          <p:cNvSpPr txBox="1"/>
          <p:nvPr/>
        </p:nvSpPr>
        <p:spPr>
          <a:xfrm>
            <a:off x="1028700" y="7767075"/>
            <a:ext cx="9144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250"/>
              </a:spcBef>
              <a:spcAft>
                <a:spcPts val="1500"/>
              </a:spcAft>
            </a:pPr>
            <a:r>
              <a:rPr lang="ko-KR" altLang="en-US" sz="2800">
                <a:solidFill>
                  <a:srgbClr val="2A5298"/>
                </a:solidFill>
                <a:latin typeface="페이퍼로지 7 Bold" pitchFamily="2" charset="-127"/>
                <a:ea typeface="페이퍼로지 7 Bold" pitchFamily="2" charset="-127"/>
              </a:rPr>
              <a:t>재승인 유효기간 문제 </a:t>
            </a:r>
          </a:p>
        </p:txBody>
      </p:sp>
      <p:sp>
        <p:nvSpPr>
          <p:cNvPr id="27" name="슬라이드 번호 개체 틀 26">
            <a:extLst>
              <a:ext uri="{FF2B5EF4-FFF2-40B4-BE49-F238E27FC236}">
                <a16:creationId xmlns:a16="http://schemas.microsoft.com/office/drawing/2014/main" id="{635DFD84-8BE4-C568-F1FE-DFC515431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2675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067857-D530-D9B6-658D-65C71815B9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973AA90-7C5A-3A2C-7DF4-86824AAB85F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/>
              <a:t>현황분석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A8BACA9-809D-0942-41C2-B44CFB58CA3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2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069778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62275C-3351-56DB-58D8-AE2CC5F77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DDD89E29-170B-727C-B2AF-956D1E757743}"/>
              </a:ext>
            </a:extLst>
          </p:cNvPr>
          <p:cNvSpPr/>
          <p:nvPr/>
        </p:nvSpPr>
        <p:spPr>
          <a:xfrm flipV="1">
            <a:off x="1028700" y="1169525"/>
            <a:ext cx="16230600" cy="0"/>
          </a:xfrm>
          <a:prstGeom prst="line">
            <a:avLst/>
          </a:prstGeom>
          <a:ln w="19050" cap="flat">
            <a:solidFill>
              <a:srgbClr val="D9D9D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93291243-3E0B-307F-61B0-243D2EE7CFE9}"/>
              </a:ext>
            </a:extLst>
          </p:cNvPr>
          <p:cNvSpPr txBox="1"/>
          <p:nvPr/>
        </p:nvSpPr>
        <p:spPr>
          <a:xfrm>
            <a:off x="1028700" y="1399848"/>
            <a:ext cx="1502946" cy="11319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579"/>
              </a:lnSpc>
            </a:pPr>
            <a:r>
              <a:rPr lang="en-US" altLang="ko-KR" sz="7983" spc="-239">
                <a:solidFill>
                  <a:srgbClr val="15A9F1"/>
                </a:solidFill>
                <a:latin typeface="페이퍼로지 5 Medium" pitchFamily="2" charset="-127"/>
                <a:ea typeface="페이퍼로지 5 Medium" pitchFamily="2" charset="-127"/>
                <a:cs typeface="Nanum Square Bold"/>
                <a:sym typeface="Nanum Square Bold"/>
              </a:rPr>
              <a:t>02</a:t>
            </a:r>
            <a:endParaRPr lang="en-US" sz="7983" spc="-239">
              <a:solidFill>
                <a:srgbClr val="15A9F1"/>
              </a:solidFill>
              <a:latin typeface="페이퍼로지 5 Medium" pitchFamily="2" charset="-127"/>
              <a:ea typeface="페이퍼로지 5 Medium" pitchFamily="2" charset="-127"/>
              <a:cs typeface="Nanum Square Bold"/>
              <a:sym typeface="Nanum Square Bold"/>
            </a:endParaRP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E503B5A7-6299-C31F-01B2-9891E3FBE5E1}"/>
              </a:ext>
            </a:extLst>
          </p:cNvPr>
          <p:cNvSpPr txBox="1"/>
          <p:nvPr/>
        </p:nvSpPr>
        <p:spPr>
          <a:xfrm>
            <a:off x="2531646" y="1626872"/>
            <a:ext cx="12174954" cy="7905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000"/>
              </a:lnSpc>
            </a:pPr>
            <a:r>
              <a:rPr lang="ko-KR" altLang="en-US" sz="5000">
                <a:solidFill>
                  <a:srgbClr val="454444"/>
                </a:solidFill>
                <a:latin typeface="페이퍼로지 5 Medium" pitchFamily="2" charset="-127"/>
                <a:ea typeface="페이퍼로지 5 Medium" pitchFamily="2" charset="-127"/>
                <a:cs typeface="Nanum Square Bold"/>
                <a:sym typeface="Nanum Square Bold"/>
              </a:rPr>
              <a:t>현황분석 </a:t>
            </a:r>
            <a:r>
              <a:rPr lang="en-US" altLang="ko-KR" sz="5000">
                <a:solidFill>
                  <a:srgbClr val="454444"/>
                </a:solidFill>
                <a:latin typeface="페이퍼로지 5 Medium" pitchFamily="2" charset="-127"/>
                <a:ea typeface="페이퍼로지 5 Medium" pitchFamily="2" charset="-127"/>
                <a:cs typeface="Nanum Square Bold"/>
                <a:sym typeface="Nanum Square Bold"/>
              </a:rPr>
              <a:t>– </a:t>
            </a:r>
            <a:r>
              <a:rPr lang="ko-KR" altLang="en-US" sz="5000">
                <a:solidFill>
                  <a:srgbClr val="454444"/>
                </a:solidFill>
                <a:latin typeface="페이퍼로지 5 Medium" pitchFamily="2" charset="-127"/>
                <a:ea typeface="페이퍼로지 5 Medium" pitchFamily="2" charset="-127"/>
                <a:cs typeface="Nanum Square Bold"/>
                <a:sym typeface="Nanum Square Bold"/>
              </a:rPr>
              <a:t>종편</a:t>
            </a:r>
            <a:r>
              <a:rPr lang="en-US" altLang="ko-KR" sz="5000">
                <a:solidFill>
                  <a:srgbClr val="454444"/>
                </a:solidFill>
                <a:latin typeface="페이퍼로지 5 Medium" pitchFamily="2" charset="-127"/>
                <a:ea typeface="페이퍼로지 5 Medium" pitchFamily="2" charset="-127"/>
                <a:cs typeface="Nanum Square Bold"/>
                <a:sym typeface="Nanum Square Bold"/>
              </a:rPr>
              <a:t>4</a:t>
            </a:r>
            <a:r>
              <a:rPr lang="ko-KR" altLang="en-US" sz="5000">
                <a:solidFill>
                  <a:srgbClr val="454444"/>
                </a:solidFill>
                <a:latin typeface="페이퍼로지 5 Medium" pitchFamily="2" charset="-127"/>
                <a:ea typeface="페이퍼로지 5 Medium" pitchFamily="2" charset="-127"/>
                <a:cs typeface="Nanum Square Bold"/>
                <a:sym typeface="Nanum Square Bold"/>
              </a:rPr>
              <a:t>사 콘텐츠 투자 추이</a:t>
            </a:r>
            <a:endParaRPr lang="en-US" altLang="ko-KR" sz="5000">
              <a:solidFill>
                <a:srgbClr val="454444"/>
              </a:solidFill>
              <a:latin typeface="페이퍼로지 5 Medium" pitchFamily="2" charset="-127"/>
              <a:ea typeface="페이퍼로지 5 Medium" pitchFamily="2" charset="-127"/>
              <a:cs typeface="Nanum Square Bold"/>
              <a:sym typeface="Nanum Square Bold"/>
            </a:endParaRP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0B57AF35-0A87-6D48-F351-D56FB47A3903}"/>
              </a:ext>
            </a:extLst>
          </p:cNvPr>
          <p:cNvSpPr txBox="1"/>
          <p:nvPr/>
        </p:nvSpPr>
        <p:spPr>
          <a:xfrm>
            <a:off x="1123950" y="811675"/>
            <a:ext cx="3295650" cy="2239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888"/>
              </a:lnSpc>
            </a:pPr>
            <a:r>
              <a:rPr lang="ko-KR" altLang="en-US" sz="1574">
                <a:solidFill>
                  <a:srgbClr val="545454"/>
                </a:solidFill>
                <a:latin typeface="페이퍼로지 3 Light" pitchFamily="2" charset="-127"/>
                <a:ea typeface="페이퍼로지 3 Light" pitchFamily="2" charset="-127"/>
                <a:cs typeface="Nanum Square"/>
                <a:sym typeface="Nanum Square"/>
              </a:rPr>
              <a:t>한국언론학회 </a:t>
            </a:r>
            <a:r>
              <a:rPr lang="en-US" altLang="ko-KR" sz="1574">
                <a:solidFill>
                  <a:srgbClr val="545454"/>
                </a:solidFill>
                <a:latin typeface="페이퍼로지 3 Light" pitchFamily="2" charset="-127"/>
                <a:ea typeface="페이퍼로지 3 Light" pitchFamily="2" charset="-127"/>
                <a:cs typeface="Nanum Square"/>
                <a:sym typeface="Nanum Square"/>
              </a:rPr>
              <a:t>2025 </a:t>
            </a:r>
            <a:r>
              <a:rPr lang="ko-KR" altLang="en-US" sz="1574">
                <a:solidFill>
                  <a:srgbClr val="545454"/>
                </a:solidFill>
                <a:latin typeface="페이퍼로지 3 Light" pitchFamily="2" charset="-127"/>
                <a:ea typeface="페이퍼로지 3 Light" pitchFamily="2" charset="-127"/>
                <a:cs typeface="Nanum Square"/>
                <a:sym typeface="Nanum Square"/>
              </a:rPr>
              <a:t>가을철 학술대회</a:t>
            </a:r>
            <a:endParaRPr lang="en-US" altLang="ko-KR" sz="1574">
              <a:solidFill>
                <a:srgbClr val="545454"/>
              </a:solidFill>
              <a:latin typeface="페이퍼로지 3 Light" pitchFamily="2" charset="-127"/>
              <a:ea typeface="페이퍼로지 3 Light" pitchFamily="2" charset="-127"/>
              <a:cs typeface="Nanum Square"/>
              <a:sym typeface="Nanum Square"/>
            </a:endParaRPr>
          </a:p>
        </p:txBody>
      </p:sp>
      <p:sp>
        <p:nvSpPr>
          <p:cNvPr id="20" name="TextBox 12">
            <a:extLst>
              <a:ext uri="{FF2B5EF4-FFF2-40B4-BE49-F238E27FC236}">
                <a16:creationId xmlns:a16="http://schemas.microsoft.com/office/drawing/2014/main" id="{D3A64F85-1A52-C0B2-B780-CEE7F9752DC3}"/>
              </a:ext>
            </a:extLst>
          </p:cNvPr>
          <p:cNvSpPr txBox="1"/>
          <p:nvPr/>
        </p:nvSpPr>
        <p:spPr>
          <a:xfrm>
            <a:off x="15135245" y="792625"/>
            <a:ext cx="2124055" cy="2116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768"/>
              </a:lnSpc>
            </a:pPr>
            <a:r>
              <a:rPr lang="ko-KR" altLang="en-US" sz="1474" b="1">
                <a:solidFill>
                  <a:srgbClr val="545454"/>
                </a:solidFill>
                <a:latin typeface="페이퍼로지 6 SemiBold" pitchFamily="2" charset="-127"/>
                <a:ea typeface="페이퍼로지 6 SemiBold" pitchFamily="2" charset="-127"/>
                <a:cs typeface="Nanum Square Bold"/>
                <a:sym typeface="Nanum Square Bold"/>
              </a:rPr>
              <a:t>선문대학교</a:t>
            </a:r>
            <a:endParaRPr lang="en-US" sz="1474" b="1">
              <a:solidFill>
                <a:srgbClr val="545454"/>
              </a:solidFill>
              <a:latin typeface="페이퍼로지 6 SemiBold" pitchFamily="2" charset="-127"/>
              <a:ea typeface="페이퍼로지 6 SemiBold" pitchFamily="2" charset="-127"/>
              <a:cs typeface="Nanum Square Bold"/>
              <a:sym typeface="Nanum Square Bold"/>
            </a:endParaRPr>
          </a:p>
        </p:txBody>
      </p:sp>
      <p:pic>
        <p:nvPicPr>
          <p:cNvPr id="4" name="그림 3" descr="텍스트, 도표, 라인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AEA41A4-1659-9910-7A7A-94C994E39BC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3690765"/>
            <a:ext cx="9234076" cy="4576935"/>
          </a:xfrm>
          <a:prstGeom prst="rect">
            <a:avLst/>
          </a:prstGeom>
        </p:spPr>
      </p:pic>
      <p:grpSp>
        <p:nvGrpSpPr>
          <p:cNvPr id="22" name="그룹 21">
            <a:extLst>
              <a:ext uri="{FF2B5EF4-FFF2-40B4-BE49-F238E27FC236}">
                <a16:creationId xmlns:a16="http://schemas.microsoft.com/office/drawing/2014/main" id="{3D7C69CA-3032-FC21-0C99-59E0BADB146D}"/>
              </a:ext>
            </a:extLst>
          </p:cNvPr>
          <p:cNvGrpSpPr/>
          <p:nvPr/>
        </p:nvGrpSpPr>
        <p:grpSpPr>
          <a:xfrm>
            <a:off x="9941386" y="4163620"/>
            <a:ext cx="7353298" cy="3723080"/>
            <a:chOff x="9397093" y="3183073"/>
            <a:chExt cx="7862207" cy="4167369"/>
          </a:xfrm>
        </p:grpSpPr>
        <p:grpSp>
          <p:nvGrpSpPr>
            <p:cNvPr id="8" name="Group 5">
              <a:extLst>
                <a:ext uri="{FF2B5EF4-FFF2-40B4-BE49-F238E27FC236}">
                  <a16:creationId xmlns:a16="http://schemas.microsoft.com/office/drawing/2014/main" id="{06FE55AE-FD4A-6E34-E3AF-AC191E973640}"/>
                </a:ext>
              </a:extLst>
            </p:cNvPr>
            <p:cNvGrpSpPr/>
            <p:nvPr/>
          </p:nvGrpSpPr>
          <p:grpSpPr>
            <a:xfrm>
              <a:off x="9397093" y="3183073"/>
              <a:ext cx="7862207" cy="4167369"/>
              <a:chOff x="0" y="0"/>
              <a:chExt cx="3952839" cy="2095205"/>
            </a:xfrm>
          </p:grpSpPr>
          <p:sp>
            <p:nvSpPr>
              <p:cNvPr id="9" name="Freeform 6">
                <a:extLst>
                  <a:ext uri="{FF2B5EF4-FFF2-40B4-BE49-F238E27FC236}">
                    <a16:creationId xmlns:a16="http://schemas.microsoft.com/office/drawing/2014/main" id="{D603DBFD-4B91-3210-519E-8ECD1BE8C196}"/>
                  </a:ext>
                </a:extLst>
              </p:cNvPr>
              <p:cNvSpPr/>
              <p:nvPr/>
            </p:nvSpPr>
            <p:spPr>
              <a:xfrm>
                <a:off x="0" y="0"/>
                <a:ext cx="3952839" cy="2095205"/>
              </a:xfrm>
              <a:custGeom>
                <a:avLst/>
                <a:gdLst/>
                <a:ahLst/>
                <a:cxnLst/>
                <a:rect l="l" t="t" r="r" b="b"/>
                <a:pathLst>
                  <a:path w="3952839" h="2095205">
                    <a:moveTo>
                      <a:pt x="14771" y="0"/>
                    </a:moveTo>
                    <a:lnTo>
                      <a:pt x="3938068" y="0"/>
                    </a:lnTo>
                    <a:cubicBezTo>
                      <a:pt x="3941985" y="0"/>
                      <a:pt x="3945742" y="1556"/>
                      <a:pt x="3948512" y="4326"/>
                    </a:cubicBezTo>
                    <a:cubicBezTo>
                      <a:pt x="3951282" y="7096"/>
                      <a:pt x="3952839" y="10853"/>
                      <a:pt x="3952839" y="14771"/>
                    </a:cubicBezTo>
                    <a:lnTo>
                      <a:pt x="3952839" y="2080435"/>
                    </a:lnTo>
                    <a:cubicBezTo>
                      <a:pt x="3952839" y="2088592"/>
                      <a:pt x="3946225" y="2095205"/>
                      <a:pt x="3938068" y="2095205"/>
                    </a:cubicBezTo>
                    <a:lnTo>
                      <a:pt x="14771" y="2095205"/>
                    </a:lnTo>
                    <a:cubicBezTo>
                      <a:pt x="10853" y="2095205"/>
                      <a:pt x="7096" y="2093649"/>
                      <a:pt x="4326" y="2090879"/>
                    </a:cubicBezTo>
                    <a:cubicBezTo>
                      <a:pt x="1556" y="2088109"/>
                      <a:pt x="0" y="2084352"/>
                      <a:pt x="0" y="2080435"/>
                    </a:cubicBezTo>
                    <a:lnTo>
                      <a:pt x="0" y="14771"/>
                    </a:lnTo>
                    <a:cubicBezTo>
                      <a:pt x="0" y="10853"/>
                      <a:pt x="1556" y="7096"/>
                      <a:pt x="4326" y="4326"/>
                    </a:cubicBezTo>
                    <a:cubicBezTo>
                      <a:pt x="7096" y="1556"/>
                      <a:pt x="10853" y="0"/>
                      <a:pt x="14771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>
                <a:solidFill>
                  <a:srgbClr val="15A9F1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0" name="TextBox 7">
                <a:extLst>
                  <a:ext uri="{FF2B5EF4-FFF2-40B4-BE49-F238E27FC236}">
                    <a16:creationId xmlns:a16="http://schemas.microsoft.com/office/drawing/2014/main" id="{243E491A-D070-179D-333B-F8880766549E}"/>
                  </a:ext>
                </a:extLst>
              </p:cNvPr>
              <p:cNvSpPr txBox="1"/>
              <p:nvPr/>
            </p:nvSpPr>
            <p:spPr>
              <a:xfrm>
                <a:off x="0" y="-9525"/>
                <a:ext cx="3952839" cy="2104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427"/>
                  </a:lnSpc>
                </a:pPr>
                <a:endParaRPr/>
              </a:p>
            </p:txBody>
          </p:sp>
        </p:grpSp>
        <p:sp>
          <p:nvSpPr>
            <p:cNvPr id="13" name="TextBox 15">
              <a:extLst>
                <a:ext uri="{FF2B5EF4-FFF2-40B4-BE49-F238E27FC236}">
                  <a16:creationId xmlns:a16="http://schemas.microsoft.com/office/drawing/2014/main" id="{83BC3199-A40C-798C-54F8-53B3E68827FE}"/>
                </a:ext>
              </a:extLst>
            </p:cNvPr>
            <p:cNvSpPr txBox="1"/>
            <p:nvPr/>
          </p:nvSpPr>
          <p:spPr>
            <a:xfrm>
              <a:off x="11621050" y="3685222"/>
              <a:ext cx="3414293" cy="5741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040"/>
                </a:lnSpc>
              </a:pPr>
              <a:r>
                <a:rPr lang="ko-KR" altLang="en-US" sz="3366" b="1">
                  <a:solidFill>
                    <a:srgbClr val="454444"/>
                  </a:solidFill>
                  <a:latin typeface="페이퍼로지 6 SemiBold" pitchFamily="2" charset="-127"/>
                  <a:ea typeface="페이퍼로지 6 SemiBold" pitchFamily="2" charset="-127"/>
                  <a:cs typeface="Nanum Square Bold"/>
                  <a:sym typeface="Nanum Square Bold"/>
                </a:rPr>
                <a:t>핵심 발견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82A6A349-FB59-FE8E-03DA-74FBE4B00470}"/>
                </a:ext>
              </a:extLst>
            </p:cNvPr>
            <p:cNvSpPr txBox="1"/>
            <p:nvPr/>
          </p:nvSpPr>
          <p:spPr>
            <a:xfrm>
              <a:off x="10059710" y="5000625"/>
              <a:ext cx="6575073" cy="198513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342900" indent="-342900" algn="l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ko-KR" sz="1968">
                  <a:solidFill>
                    <a:srgbClr val="454444"/>
                  </a:solidFill>
                  <a:latin typeface="페이퍼로지 2 ExtraLight" pitchFamily="2" charset="-127"/>
                  <a:ea typeface="페이퍼로지 2 ExtraLight" pitchFamily="2" charset="-127"/>
                  <a:cs typeface="Nanum Square Light"/>
                  <a:sym typeface="Nanum Square Light"/>
                </a:rPr>
                <a:t>JTBC: </a:t>
              </a:r>
              <a:r>
                <a:rPr lang="ko-KR" altLang="en-US" sz="1968">
                  <a:solidFill>
                    <a:srgbClr val="454444"/>
                  </a:solidFill>
                  <a:latin typeface="페이퍼로지 2 ExtraLight" pitchFamily="2" charset="-127"/>
                  <a:ea typeface="페이퍼로지 2 ExtraLight" pitchFamily="2" charset="-127"/>
                  <a:cs typeface="Nanum Square Light"/>
                  <a:sym typeface="Nanum Square Light"/>
                </a:rPr>
                <a:t>평균 </a:t>
              </a:r>
              <a:r>
                <a:rPr lang="en-US" altLang="ko-KR" sz="1968">
                  <a:solidFill>
                    <a:srgbClr val="454444"/>
                  </a:solidFill>
                  <a:latin typeface="페이퍼로지 2 ExtraLight" pitchFamily="2" charset="-127"/>
                  <a:ea typeface="페이퍼로지 2 ExtraLight" pitchFamily="2" charset="-127"/>
                  <a:cs typeface="Nanum Square Light"/>
                  <a:sym typeface="Nanum Square Light"/>
                </a:rPr>
                <a:t>2,507</a:t>
              </a:r>
              <a:r>
                <a:rPr lang="ko-KR" altLang="en-US" sz="1968">
                  <a:solidFill>
                    <a:srgbClr val="454444"/>
                  </a:solidFill>
                  <a:latin typeface="페이퍼로지 2 ExtraLight" pitchFamily="2" charset="-127"/>
                  <a:ea typeface="페이퍼로지 2 ExtraLight" pitchFamily="2" charset="-127"/>
                  <a:cs typeface="Nanum Square Light"/>
                  <a:sym typeface="Nanum Square Light"/>
                </a:rPr>
                <a:t>억원 </a:t>
              </a:r>
              <a:r>
                <a:rPr lang="en-US" altLang="ko-KR" sz="1968">
                  <a:solidFill>
                    <a:srgbClr val="454444"/>
                  </a:solidFill>
                  <a:latin typeface="페이퍼로지 2 ExtraLight" pitchFamily="2" charset="-127"/>
                  <a:ea typeface="페이퍼로지 2 ExtraLight" pitchFamily="2" charset="-127"/>
                  <a:cs typeface="Nanum Square Light"/>
                  <a:sym typeface="Nanum Square Light"/>
                </a:rPr>
                <a:t>(</a:t>
              </a:r>
              <a:r>
                <a:rPr lang="ko-KR" altLang="en-US" sz="1968">
                  <a:solidFill>
                    <a:srgbClr val="454444"/>
                  </a:solidFill>
                  <a:latin typeface="페이퍼로지 2 ExtraLight" pitchFamily="2" charset="-127"/>
                  <a:ea typeface="페이퍼로지 2 ExtraLight" pitchFamily="2" charset="-127"/>
                  <a:cs typeface="Nanum Square Light"/>
                  <a:sym typeface="Nanum Square Light"/>
                </a:rPr>
                <a:t>최대</a:t>
              </a:r>
              <a:r>
                <a:rPr lang="en-US" altLang="ko-KR" sz="1968">
                  <a:solidFill>
                    <a:srgbClr val="454444"/>
                  </a:solidFill>
                  <a:latin typeface="페이퍼로지 2 ExtraLight" pitchFamily="2" charset="-127"/>
                  <a:ea typeface="페이퍼로지 2 ExtraLight" pitchFamily="2" charset="-127"/>
                  <a:cs typeface="Nanum Square Light"/>
                  <a:sym typeface="Nanum Square Light"/>
                </a:rPr>
                <a:t>)</a:t>
              </a:r>
            </a:p>
            <a:p>
              <a:pPr marL="342900" indent="-342900" algn="l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ko-KR" sz="1968">
                  <a:solidFill>
                    <a:srgbClr val="454444"/>
                  </a:solidFill>
                  <a:latin typeface="페이퍼로지 2 ExtraLight" pitchFamily="2" charset="-127"/>
                  <a:ea typeface="페이퍼로지 2 ExtraLight" pitchFamily="2" charset="-127"/>
                  <a:cs typeface="Nanum Square Light"/>
                  <a:sym typeface="Nanum Square Light"/>
                </a:rPr>
                <a:t>TV</a:t>
              </a:r>
              <a:r>
                <a:rPr lang="ko-KR" altLang="en-US" sz="1968">
                  <a:solidFill>
                    <a:srgbClr val="454444"/>
                  </a:solidFill>
                  <a:latin typeface="페이퍼로지 2 ExtraLight" pitchFamily="2" charset="-127"/>
                  <a:ea typeface="페이퍼로지 2 ExtraLight" pitchFamily="2" charset="-127"/>
                  <a:cs typeface="Nanum Square Light"/>
                  <a:sym typeface="Nanum Square Light"/>
                </a:rPr>
                <a:t>조선</a:t>
              </a:r>
              <a:r>
                <a:rPr lang="en-US" altLang="ko-KR" sz="1968">
                  <a:solidFill>
                    <a:srgbClr val="454444"/>
                  </a:solidFill>
                  <a:latin typeface="페이퍼로지 2 ExtraLight" pitchFamily="2" charset="-127"/>
                  <a:ea typeface="페이퍼로지 2 ExtraLight" pitchFamily="2" charset="-127"/>
                  <a:cs typeface="Nanum Square Light"/>
                  <a:sym typeface="Nanum Square Light"/>
                </a:rPr>
                <a:t>: </a:t>
              </a:r>
              <a:r>
                <a:rPr lang="ko-KR" altLang="en-US" sz="1968">
                  <a:solidFill>
                    <a:srgbClr val="454444"/>
                  </a:solidFill>
                  <a:latin typeface="페이퍼로지 2 ExtraLight" pitchFamily="2" charset="-127"/>
                  <a:ea typeface="페이퍼로지 2 ExtraLight" pitchFamily="2" charset="-127"/>
                  <a:cs typeface="Nanum Square Light"/>
                  <a:sym typeface="Nanum Square Light"/>
                </a:rPr>
                <a:t>평균 </a:t>
              </a:r>
              <a:r>
                <a:rPr lang="en-US" altLang="ko-KR" sz="1968">
                  <a:solidFill>
                    <a:srgbClr val="454444"/>
                  </a:solidFill>
                  <a:latin typeface="페이퍼로지 2 ExtraLight" pitchFamily="2" charset="-127"/>
                  <a:ea typeface="페이퍼로지 2 ExtraLight" pitchFamily="2" charset="-127"/>
                  <a:cs typeface="Nanum Square Light"/>
                  <a:sym typeface="Nanum Square Light"/>
                </a:rPr>
                <a:t>1,657</a:t>
              </a:r>
              <a:r>
                <a:rPr lang="ko-KR" altLang="en-US" sz="1968">
                  <a:solidFill>
                    <a:srgbClr val="454444"/>
                  </a:solidFill>
                  <a:latin typeface="페이퍼로지 2 ExtraLight" pitchFamily="2" charset="-127"/>
                  <a:ea typeface="페이퍼로지 2 ExtraLight" pitchFamily="2" charset="-127"/>
                  <a:cs typeface="Nanum Square Light"/>
                  <a:sym typeface="Nanum Square Light"/>
                </a:rPr>
                <a:t>억원</a:t>
              </a:r>
            </a:p>
            <a:p>
              <a:pPr marL="342900" indent="-342900" algn="l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ko-KR" sz="1968">
                  <a:solidFill>
                    <a:srgbClr val="454444"/>
                  </a:solidFill>
                  <a:latin typeface="페이퍼로지 2 ExtraLight" pitchFamily="2" charset="-127"/>
                  <a:ea typeface="페이퍼로지 2 ExtraLight" pitchFamily="2" charset="-127"/>
                  <a:cs typeface="Nanum Square Light"/>
                  <a:sym typeface="Nanum Square Light"/>
                </a:rPr>
                <a:t>MBN: </a:t>
              </a:r>
              <a:r>
                <a:rPr lang="ko-KR" altLang="en-US" sz="1968">
                  <a:solidFill>
                    <a:srgbClr val="454444"/>
                  </a:solidFill>
                  <a:latin typeface="페이퍼로지 2 ExtraLight" pitchFamily="2" charset="-127"/>
                  <a:ea typeface="페이퍼로지 2 ExtraLight" pitchFamily="2" charset="-127"/>
                  <a:cs typeface="Nanum Square Light"/>
                  <a:sym typeface="Nanum Square Light"/>
                </a:rPr>
                <a:t>평균 </a:t>
              </a:r>
              <a:r>
                <a:rPr lang="en-US" altLang="ko-KR" sz="1968">
                  <a:solidFill>
                    <a:srgbClr val="454444"/>
                  </a:solidFill>
                  <a:latin typeface="페이퍼로지 2 ExtraLight" pitchFamily="2" charset="-127"/>
                  <a:ea typeface="페이퍼로지 2 ExtraLight" pitchFamily="2" charset="-127"/>
                  <a:cs typeface="Nanum Square Light"/>
                  <a:sym typeface="Nanum Square Light"/>
                </a:rPr>
                <a:t>1,351</a:t>
              </a:r>
              <a:r>
                <a:rPr lang="ko-KR" altLang="en-US" sz="1968">
                  <a:solidFill>
                    <a:srgbClr val="454444"/>
                  </a:solidFill>
                  <a:latin typeface="페이퍼로지 2 ExtraLight" pitchFamily="2" charset="-127"/>
                  <a:ea typeface="페이퍼로지 2 ExtraLight" pitchFamily="2" charset="-127"/>
                  <a:cs typeface="Nanum Square Light"/>
                  <a:sym typeface="Nanum Square Light"/>
                </a:rPr>
                <a:t>억원</a:t>
              </a:r>
            </a:p>
            <a:p>
              <a:pPr marL="342900" indent="-342900" algn="l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ko-KR" altLang="en-US" sz="1968">
                  <a:solidFill>
                    <a:srgbClr val="454444"/>
                  </a:solidFill>
                  <a:latin typeface="페이퍼로지 2 ExtraLight" pitchFamily="2" charset="-127"/>
                  <a:ea typeface="페이퍼로지 2 ExtraLight" pitchFamily="2" charset="-127"/>
                  <a:cs typeface="Nanum Square Light"/>
                  <a:sym typeface="Nanum Square Light"/>
                </a:rPr>
                <a:t>채널</a:t>
              </a:r>
              <a:r>
                <a:rPr lang="en-US" altLang="ko-KR" sz="1968">
                  <a:solidFill>
                    <a:srgbClr val="454444"/>
                  </a:solidFill>
                  <a:latin typeface="페이퍼로지 2 ExtraLight" pitchFamily="2" charset="-127"/>
                  <a:ea typeface="페이퍼로지 2 ExtraLight" pitchFamily="2" charset="-127"/>
                  <a:cs typeface="Nanum Square Light"/>
                  <a:sym typeface="Nanum Square Light"/>
                </a:rPr>
                <a:t>A: </a:t>
              </a:r>
              <a:r>
                <a:rPr lang="ko-KR" altLang="en-US" sz="1968">
                  <a:solidFill>
                    <a:srgbClr val="454444"/>
                  </a:solidFill>
                  <a:latin typeface="페이퍼로지 2 ExtraLight" pitchFamily="2" charset="-127"/>
                  <a:ea typeface="페이퍼로지 2 ExtraLight" pitchFamily="2" charset="-127"/>
                  <a:cs typeface="Nanum Square Light"/>
                  <a:sym typeface="Nanum Square Light"/>
                </a:rPr>
                <a:t>평균 </a:t>
              </a:r>
              <a:r>
                <a:rPr lang="en-US" altLang="ko-KR" sz="1968">
                  <a:solidFill>
                    <a:srgbClr val="454444"/>
                  </a:solidFill>
                  <a:latin typeface="페이퍼로지 2 ExtraLight" pitchFamily="2" charset="-127"/>
                  <a:ea typeface="페이퍼로지 2 ExtraLight" pitchFamily="2" charset="-127"/>
                  <a:cs typeface="Nanum Square Light"/>
                  <a:sym typeface="Nanum Square Light"/>
                </a:rPr>
                <a:t>1,351</a:t>
              </a:r>
              <a:r>
                <a:rPr lang="ko-KR" altLang="en-US" sz="1968">
                  <a:solidFill>
                    <a:srgbClr val="454444"/>
                  </a:solidFill>
                  <a:latin typeface="페이퍼로지 2 ExtraLight" pitchFamily="2" charset="-127"/>
                  <a:ea typeface="페이퍼로지 2 ExtraLight" pitchFamily="2" charset="-127"/>
                  <a:cs typeface="Nanum Square Light"/>
                  <a:sym typeface="Nanum Square Light"/>
                </a:rPr>
                <a:t>억원</a:t>
              </a:r>
              <a:endParaRPr lang="en-US" sz="1968">
                <a:solidFill>
                  <a:srgbClr val="454444"/>
                </a:solidFill>
                <a:latin typeface="페이퍼로지 2 ExtraLight" pitchFamily="2" charset="-127"/>
                <a:ea typeface="페이퍼로지 2 ExtraLight" pitchFamily="2" charset="-127"/>
                <a:cs typeface="Nanum Square Light"/>
                <a:sym typeface="Nanum Square Light"/>
              </a:endParaRPr>
            </a:p>
          </p:txBody>
        </p:sp>
        <p:sp>
          <p:nvSpPr>
            <p:cNvPr id="21" name="AutoShape 18">
              <a:extLst>
                <a:ext uri="{FF2B5EF4-FFF2-40B4-BE49-F238E27FC236}">
                  <a16:creationId xmlns:a16="http://schemas.microsoft.com/office/drawing/2014/main" id="{C07653CF-38BA-9B71-5022-838B64A87BC5}"/>
                </a:ext>
              </a:extLst>
            </p:cNvPr>
            <p:cNvSpPr/>
            <p:nvPr/>
          </p:nvSpPr>
          <p:spPr>
            <a:xfrm>
              <a:off x="9574080" y="4598551"/>
              <a:ext cx="7508233" cy="0"/>
            </a:xfrm>
            <a:prstGeom prst="line">
              <a:avLst/>
            </a:prstGeom>
            <a:ln w="9525" cap="flat">
              <a:solidFill>
                <a:srgbClr val="15A9F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23" name="Group 8">
            <a:extLst>
              <a:ext uri="{FF2B5EF4-FFF2-40B4-BE49-F238E27FC236}">
                <a16:creationId xmlns:a16="http://schemas.microsoft.com/office/drawing/2014/main" id="{93FAF39E-93A9-68D8-585E-6A3BDB59A6AA}"/>
              </a:ext>
            </a:extLst>
          </p:cNvPr>
          <p:cNvGrpSpPr/>
          <p:nvPr/>
        </p:nvGrpSpPr>
        <p:grpSpPr>
          <a:xfrm>
            <a:off x="1028700" y="8475881"/>
            <a:ext cx="16230600" cy="1673860"/>
            <a:chOff x="0" y="0"/>
            <a:chExt cx="8160170" cy="841557"/>
          </a:xfrm>
        </p:grpSpPr>
        <p:sp>
          <p:nvSpPr>
            <p:cNvPr id="24" name="Freeform 9">
              <a:extLst>
                <a:ext uri="{FF2B5EF4-FFF2-40B4-BE49-F238E27FC236}">
                  <a16:creationId xmlns:a16="http://schemas.microsoft.com/office/drawing/2014/main" id="{99CD59B6-5A06-E255-3B65-885E829A0335}"/>
                </a:ext>
              </a:extLst>
            </p:cNvPr>
            <p:cNvSpPr/>
            <p:nvPr/>
          </p:nvSpPr>
          <p:spPr>
            <a:xfrm>
              <a:off x="0" y="0"/>
              <a:ext cx="8160169" cy="841557"/>
            </a:xfrm>
            <a:custGeom>
              <a:avLst/>
              <a:gdLst/>
              <a:ahLst/>
              <a:cxnLst/>
              <a:rect l="l" t="t" r="r" b="b"/>
              <a:pathLst>
                <a:path w="8160169" h="841557">
                  <a:moveTo>
                    <a:pt x="6678" y="0"/>
                  </a:moveTo>
                  <a:lnTo>
                    <a:pt x="8153491" y="0"/>
                  </a:lnTo>
                  <a:cubicBezTo>
                    <a:pt x="8157180" y="0"/>
                    <a:pt x="8160169" y="2990"/>
                    <a:pt x="8160169" y="6678"/>
                  </a:cubicBezTo>
                  <a:lnTo>
                    <a:pt x="8160169" y="834880"/>
                  </a:lnTo>
                  <a:cubicBezTo>
                    <a:pt x="8160169" y="838568"/>
                    <a:pt x="8157180" y="841557"/>
                    <a:pt x="8153491" y="841557"/>
                  </a:cubicBezTo>
                  <a:lnTo>
                    <a:pt x="6678" y="841557"/>
                  </a:lnTo>
                  <a:cubicBezTo>
                    <a:pt x="2990" y="841557"/>
                    <a:pt x="0" y="838568"/>
                    <a:pt x="0" y="834880"/>
                  </a:cubicBezTo>
                  <a:lnTo>
                    <a:pt x="0" y="6678"/>
                  </a:lnTo>
                  <a:cubicBezTo>
                    <a:pt x="0" y="2990"/>
                    <a:pt x="2990" y="0"/>
                    <a:pt x="6678" y="0"/>
                  </a:cubicBezTo>
                  <a:close/>
                </a:path>
              </a:pathLst>
            </a:custGeom>
            <a:solidFill>
              <a:srgbClr val="00ACFF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" name="TextBox 10">
              <a:extLst>
                <a:ext uri="{FF2B5EF4-FFF2-40B4-BE49-F238E27FC236}">
                  <a16:creationId xmlns:a16="http://schemas.microsoft.com/office/drawing/2014/main" id="{54D0F928-FF34-1300-F239-073297922EA6}"/>
                </a:ext>
              </a:extLst>
            </p:cNvPr>
            <p:cNvSpPr txBox="1"/>
            <p:nvPr/>
          </p:nvSpPr>
          <p:spPr>
            <a:xfrm>
              <a:off x="0" y="-9525"/>
              <a:ext cx="8160170" cy="8510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27"/>
                </a:lnSpc>
              </a:pPr>
              <a:endParaRPr/>
            </a:p>
          </p:txBody>
        </p:sp>
      </p:grpSp>
      <p:sp>
        <p:nvSpPr>
          <p:cNvPr id="27" name="Freeform 11">
            <a:extLst>
              <a:ext uri="{FF2B5EF4-FFF2-40B4-BE49-F238E27FC236}">
                <a16:creationId xmlns:a16="http://schemas.microsoft.com/office/drawing/2014/main" id="{E56F305A-EF04-B748-140E-3C51CF7933C5}"/>
              </a:ext>
            </a:extLst>
          </p:cNvPr>
          <p:cNvSpPr/>
          <p:nvPr/>
        </p:nvSpPr>
        <p:spPr>
          <a:xfrm>
            <a:off x="1680447" y="9046832"/>
            <a:ext cx="496132" cy="493858"/>
          </a:xfrm>
          <a:custGeom>
            <a:avLst/>
            <a:gdLst/>
            <a:ahLst/>
            <a:cxnLst/>
            <a:rect l="l" t="t" r="r" b="b"/>
            <a:pathLst>
              <a:path w="496132" h="493858">
                <a:moveTo>
                  <a:pt x="0" y="0"/>
                </a:moveTo>
                <a:lnTo>
                  <a:pt x="496132" y="0"/>
                </a:lnTo>
                <a:lnTo>
                  <a:pt x="496132" y="493858"/>
                </a:lnTo>
                <a:lnTo>
                  <a:pt x="0" y="49385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28" name="TextBox 16">
            <a:extLst>
              <a:ext uri="{FF2B5EF4-FFF2-40B4-BE49-F238E27FC236}">
                <a16:creationId xmlns:a16="http://schemas.microsoft.com/office/drawing/2014/main" id="{0DCEC3C6-6C59-2AA2-D1CC-99FA76E768E0}"/>
              </a:ext>
            </a:extLst>
          </p:cNvPr>
          <p:cNvSpPr txBox="1"/>
          <p:nvPr/>
        </p:nvSpPr>
        <p:spPr>
          <a:xfrm>
            <a:off x="2531646" y="9046832"/>
            <a:ext cx="13827841" cy="487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835"/>
              </a:lnSpc>
            </a:pPr>
            <a:r>
              <a:rPr lang="ko-KR" altLang="en-US" sz="3196">
                <a:solidFill>
                  <a:srgbClr val="FFFFFF"/>
                </a:solidFill>
                <a:latin typeface="페이퍼로지 6 SemiBold" pitchFamily="2" charset="-127"/>
                <a:ea typeface="페이퍼로지 6 SemiBold" pitchFamily="2" charset="-127"/>
                <a:cs typeface="Nanum Square Bold"/>
                <a:sym typeface="Nanum Square Bold"/>
              </a:rPr>
              <a:t>매출 감소 시에도 투자 수준 유지 강제 → 적정 수준 초과 투자 가능성</a:t>
            </a:r>
            <a:endParaRPr lang="en-US" sz="3196">
              <a:solidFill>
                <a:srgbClr val="FFFFFF"/>
              </a:solidFill>
              <a:latin typeface="페이퍼로지 6 SemiBold" pitchFamily="2" charset="-127"/>
              <a:ea typeface="페이퍼로지 6 SemiBold" pitchFamily="2" charset="-127"/>
              <a:cs typeface="Nanum Square Bold"/>
              <a:sym typeface="Nanum Square Bold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C7DE531-9A0E-448B-4120-283A566789D2}"/>
              </a:ext>
            </a:extLst>
          </p:cNvPr>
          <p:cNvSpPr txBox="1"/>
          <p:nvPr/>
        </p:nvSpPr>
        <p:spPr>
          <a:xfrm>
            <a:off x="1123950" y="2548686"/>
            <a:ext cx="9144000" cy="9525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b="1" i="0">
                <a:effectLst/>
                <a:latin typeface="페이퍼로지 6 SemiBold" pitchFamily="2" charset="-127"/>
                <a:ea typeface="페이퍼로지 6 SemiBold" pitchFamily="2" charset="-127"/>
              </a:rPr>
              <a:t>종편 </a:t>
            </a:r>
            <a:r>
              <a:rPr lang="en-US" altLang="ko-KR" sz="2000" b="1" i="0">
                <a:effectLst/>
                <a:latin typeface="페이퍼로지 6 SemiBold" pitchFamily="2" charset="-127"/>
                <a:ea typeface="페이퍼로지 6 SemiBold" pitchFamily="2" charset="-127"/>
              </a:rPr>
              <a:t>4</a:t>
            </a:r>
            <a:r>
              <a:rPr lang="ko-KR" altLang="en-US" sz="2000" b="1" i="0">
                <a:effectLst/>
                <a:latin typeface="페이퍼로지 6 SemiBold" pitchFamily="2" charset="-127"/>
                <a:ea typeface="페이퍼로지 6 SemiBold" pitchFamily="2" charset="-127"/>
              </a:rPr>
              <a:t>사는 </a:t>
            </a:r>
            <a:r>
              <a:rPr lang="en-US" altLang="ko-KR" sz="2000" b="1" i="0">
                <a:effectLst/>
                <a:latin typeface="페이퍼로지 6 SemiBold" pitchFamily="2" charset="-127"/>
                <a:ea typeface="페이퍼로지 6 SemiBold" pitchFamily="2" charset="-127"/>
              </a:rPr>
              <a:t>10</a:t>
            </a:r>
            <a:r>
              <a:rPr lang="ko-KR" altLang="en-US" sz="2000" b="1" i="0">
                <a:effectLst/>
                <a:latin typeface="페이퍼로지 6 SemiBold" pitchFamily="2" charset="-127"/>
                <a:ea typeface="페이퍼로지 6 SemiBold" pitchFamily="2" charset="-127"/>
              </a:rPr>
              <a:t>년간 안정적으로 투자 유지</a:t>
            </a:r>
            <a:endParaRPr lang="en-US" altLang="ko-KR" sz="2000" b="1" i="0">
              <a:effectLst/>
              <a:latin typeface="페이퍼로지 6 SemiBold" pitchFamily="2" charset="-127"/>
              <a:ea typeface="페이퍼로지 6 SemiBold" pitchFamily="2" charset="-127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b="1" i="0">
                <a:effectLst/>
                <a:latin typeface="페이퍼로지 6 SemiBold" pitchFamily="2" charset="-127"/>
                <a:ea typeface="페이퍼로지 6 SemiBold" pitchFamily="2" charset="-127"/>
              </a:rPr>
              <a:t>연간 약 </a:t>
            </a:r>
            <a:r>
              <a:rPr lang="en-US" altLang="ko-KR" sz="2000" b="1" i="0">
                <a:effectLst/>
                <a:latin typeface="페이퍼로지 6 SemiBold" pitchFamily="2" charset="-127"/>
                <a:ea typeface="페이퍼로지 6 SemiBold" pitchFamily="2" charset="-127"/>
              </a:rPr>
              <a:t>1,300~2,500</a:t>
            </a:r>
            <a:r>
              <a:rPr lang="ko-KR" altLang="en-US" sz="2000" b="1" i="0">
                <a:effectLst/>
                <a:latin typeface="페이퍼로지 6 SemiBold" pitchFamily="2" charset="-127"/>
                <a:ea typeface="페이퍼로지 6 SemiBold" pitchFamily="2" charset="-127"/>
              </a:rPr>
              <a:t>억 원 규모</a:t>
            </a:r>
            <a:endParaRPr lang="ko-KR" altLang="en-US" sz="2000"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2813753-E12F-3AC8-F862-7373582FD83B}"/>
              </a:ext>
            </a:extLst>
          </p:cNvPr>
          <p:cNvSpPr txBox="1"/>
          <p:nvPr/>
        </p:nvSpPr>
        <p:spPr>
          <a:xfrm>
            <a:off x="1035788" y="8068449"/>
            <a:ext cx="9144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>
                <a:latin typeface="페이퍼로지 4 Regular" pitchFamily="2" charset="-127"/>
                <a:ea typeface="페이퍼로지 4 Regular" pitchFamily="2" charset="-127"/>
              </a:rPr>
              <a:t>* </a:t>
            </a:r>
            <a:r>
              <a:rPr lang="ko-KR" altLang="en-US" sz="1100">
                <a:latin typeface="페이퍼로지 4 Regular" pitchFamily="2" charset="-127"/>
                <a:ea typeface="페이퍼로지 4 Regular" pitchFamily="2" charset="-127"/>
              </a:rPr>
              <a:t>출처</a:t>
            </a:r>
            <a:r>
              <a:rPr lang="en-US" altLang="ko-KR" sz="1100">
                <a:latin typeface="페이퍼로지 4 Regular" pitchFamily="2" charset="-127"/>
                <a:ea typeface="페이퍼로지 4 Regular" pitchFamily="2" charset="-127"/>
              </a:rPr>
              <a:t>: </a:t>
            </a:r>
            <a:r>
              <a:rPr lang="ko-KR" altLang="en-US" sz="1100">
                <a:latin typeface="페이퍼로지 4 Regular" pitchFamily="2" charset="-127"/>
                <a:ea typeface="페이퍼로지 4 Regular" pitchFamily="2" charset="-127"/>
              </a:rPr>
              <a:t>각년도 재산사항공표집</a:t>
            </a:r>
            <a:endParaRPr lang="ko-KR" altLang="en-US" sz="1100"/>
          </a:p>
        </p:txBody>
      </p:sp>
      <p:sp>
        <p:nvSpPr>
          <p:cNvPr id="34" name="슬라이드 번호 개체 틀 33">
            <a:extLst>
              <a:ext uri="{FF2B5EF4-FFF2-40B4-BE49-F238E27FC236}">
                <a16:creationId xmlns:a16="http://schemas.microsoft.com/office/drawing/2014/main" id="{01798C43-704F-D5B5-8A47-52892B56A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1277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8E63DB-EE59-283B-54C2-3D5811768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7B0238A9-6814-0502-AFD5-0C1347CC37BD}"/>
              </a:ext>
            </a:extLst>
          </p:cNvPr>
          <p:cNvSpPr/>
          <p:nvPr/>
        </p:nvSpPr>
        <p:spPr>
          <a:xfrm flipV="1">
            <a:off x="1028700" y="1169525"/>
            <a:ext cx="16230600" cy="0"/>
          </a:xfrm>
          <a:prstGeom prst="line">
            <a:avLst/>
          </a:prstGeom>
          <a:ln w="19050" cap="flat">
            <a:solidFill>
              <a:srgbClr val="D9D9D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4D80643C-4EF2-C71C-87CD-B872F7CB3ABC}"/>
              </a:ext>
            </a:extLst>
          </p:cNvPr>
          <p:cNvSpPr txBox="1"/>
          <p:nvPr/>
        </p:nvSpPr>
        <p:spPr>
          <a:xfrm>
            <a:off x="1028700" y="1399848"/>
            <a:ext cx="1502946" cy="11319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579"/>
              </a:lnSpc>
            </a:pPr>
            <a:r>
              <a:rPr lang="en-US" altLang="ko-KR" sz="7983" spc="-239">
                <a:solidFill>
                  <a:srgbClr val="15A9F1"/>
                </a:solidFill>
                <a:latin typeface="페이퍼로지 5 Medium" pitchFamily="2" charset="-127"/>
                <a:ea typeface="페이퍼로지 5 Medium" pitchFamily="2" charset="-127"/>
                <a:cs typeface="Nanum Square Bold"/>
                <a:sym typeface="Nanum Square Bold"/>
              </a:rPr>
              <a:t>02</a:t>
            </a:r>
            <a:endParaRPr lang="en-US" sz="7983" spc="-239">
              <a:solidFill>
                <a:srgbClr val="15A9F1"/>
              </a:solidFill>
              <a:latin typeface="페이퍼로지 5 Medium" pitchFamily="2" charset="-127"/>
              <a:ea typeface="페이퍼로지 5 Medium" pitchFamily="2" charset="-127"/>
              <a:cs typeface="Nanum Square Bold"/>
              <a:sym typeface="Nanum Square Bold"/>
            </a:endParaRP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B4CEA0B4-60E0-4F64-5112-55F0FFA7AF1A}"/>
              </a:ext>
            </a:extLst>
          </p:cNvPr>
          <p:cNvSpPr txBox="1"/>
          <p:nvPr/>
        </p:nvSpPr>
        <p:spPr>
          <a:xfrm>
            <a:off x="2531646" y="1626872"/>
            <a:ext cx="12174954" cy="7694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000"/>
              </a:lnSpc>
            </a:pPr>
            <a:r>
              <a:rPr lang="ko-KR" altLang="en-US" sz="5000">
                <a:solidFill>
                  <a:srgbClr val="454444"/>
                </a:solidFill>
                <a:latin typeface="페이퍼로지 5 Medium" pitchFamily="2" charset="-127"/>
                <a:ea typeface="페이퍼로지 5 Medium" pitchFamily="2" charset="-127"/>
                <a:cs typeface="Nanum Square Bold"/>
                <a:sym typeface="Nanum Square Bold"/>
              </a:rPr>
              <a:t>현황분석 </a:t>
            </a:r>
            <a:r>
              <a:rPr lang="en-US" altLang="ko-KR" sz="5000">
                <a:solidFill>
                  <a:srgbClr val="454444"/>
                </a:solidFill>
                <a:latin typeface="페이퍼로지 5 Medium" pitchFamily="2" charset="-127"/>
                <a:ea typeface="페이퍼로지 5 Medium" pitchFamily="2" charset="-127"/>
                <a:cs typeface="Nanum Square Bold"/>
                <a:sym typeface="Nanum Square Bold"/>
              </a:rPr>
              <a:t>– </a:t>
            </a:r>
            <a:r>
              <a:rPr lang="ko-KR" altLang="en-US" sz="5000">
                <a:solidFill>
                  <a:srgbClr val="454444"/>
                </a:solidFill>
                <a:latin typeface="페이퍼로지 5 Medium" pitchFamily="2" charset="-127"/>
                <a:ea typeface="페이퍼로지 5 Medium" pitchFamily="2" charset="-127"/>
                <a:cs typeface="Nanum Square Bold"/>
                <a:sym typeface="Nanum Square Bold"/>
              </a:rPr>
              <a:t>콘텐츠 투자비</a:t>
            </a:r>
            <a:r>
              <a:rPr lang="en-US" altLang="ko-KR" sz="5000">
                <a:solidFill>
                  <a:srgbClr val="454444"/>
                </a:solidFill>
                <a:latin typeface="페이퍼로지 5 Medium" pitchFamily="2" charset="-127"/>
                <a:ea typeface="페이퍼로지 5 Medium" pitchFamily="2" charset="-127"/>
                <a:cs typeface="Nanum Square Bold"/>
                <a:sym typeface="Nanum Square Bold"/>
              </a:rPr>
              <a:t>/</a:t>
            </a:r>
            <a:r>
              <a:rPr lang="ko-KR" altLang="en-US" sz="5000">
                <a:solidFill>
                  <a:srgbClr val="454444"/>
                </a:solidFill>
                <a:latin typeface="페이퍼로지 5 Medium" pitchFamily="2" charset="-127"/>
                <a:ea typeface="페이퍼로지 5 Medium" pitchFamily="2" charset="-127"/>
                <a:cs typeface="Nanum Square Bold"/>
                <a:sym typeface="Nanum Square Bold"/>
              </a:rPr>
              <a:t>매출액 비율 추이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44F09CB8-2599-3F07-1C57-59206E806671}"/>
              </a:ext>
            </a:extLst>
          </p:cNvPr>
          <p:cNvSpPr txBox="1"/>
          <p:nvPr/>
        </p:nvSpPr>
        <p:spPr>
          <a:xfrm>
            <a:off x="1123950" y="811675"/>
            <a:ext cx="3295650" cy="2239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888"/>
              </a:lnSpc>
            </a:pPr>
            <a:r>
              <a:rPr lang="ko-KR" altLang="en-US" sz="1574">
                <a:solidFill>
                  <a:srgbClr val="545454"/>
                </a:solidFill>
                <a:latin typeface="페이퍼로지 3 Light" pitchFamily="2" charset="-127"/>
                <a:ea typeface="페이퍼로지 3 Light" pitchFamily="2" charset="-127"/>
                <a:cs typeface="Nanum Square"/>
                <a:sym typeface="Nanum Square"/>
              </a:rPr>
              <a:t>한국언론학회 </a:t>
            </a:r>
            <a:r>
              <a:rPr lang="en-US" altLang="ko-KR" sz="1574">
                <a:solidFill>
                  <a:srgbClr val="545454"/>
                </a:solidFill>
                <a:latin typeface="페이퍼로지 3 Light" pitchFamily="2" charset="-127"/>
                <a:ea typeface="페이퍼로지 3 Light" pitchFamily="2" charset="-127"/>
                <a:cs typeface="Nanum Square"/>
                <a:sym typeface="Nanum Square"/>
              </a:rPr>
              <a:t>2025 </a:t>
            </a:r>
            <a:r>
              <a:rPr lang="ko-KR" altLang="en-US" sz="1574">
                <a:solidFill>
                  <a:srgbClr val="545454"/>
                </a:solidFill>
                <a:latin typeface="페이퍼로지 3 Light" pitchFamily="2" charset="-127"/>
                <a:ea typeface="페이퍼로지 3 Light" pitchFamily="2" charset="-127"/>
                <a:cs typeface="Nanum Square"/>
                <a:sym typeface="Nanum Square"/>
              </a:rPr>
              <a:t>가을철 학술대회</a:t>
            </a:r>
            <a:endParaRPr lang="en-US" altLang="ko-KR" sz="1574">
              <a:solidFill>
                <a:srgbClr val="545454"/>
              </a:solidFill>
              <a:latin typeface="페이퍼로지 3 Light" pitchFamily="2" charset="-127"/>
              <a:ea typeface="페이퍼로지 3 Light" pitchFamily="2" charset="-127"/>
              <a:cs typeface="Nanum Square"/>
              <a:sym typeface="Nanum Square"/>
            </a:endParaRPr>
          </a:p>
        </p:txBody>
      </p:sp>
      <p:sp>
        <p:nvSpPr>
          <p:cNvPr id="20" name="TextBox 12">
            <a:extLst>
              <a:ext uri="{FF2B5EF4-FFF2-40B4-BE49-F238E27FC236}">
                <a16:creationId xmlns:a16="http://schemas.microsoft.com/office/drawing/2014/main" id="{FA634920-9128-FA33-5CFD-24FE63F039C9}"/>
              </a:ext>
            </a:extLst>
          </p:cNvPr>
          <p:cNvSpPr txBox="1"/>
          <p:nvPr/>
        </p:nvSpPr>
        <p:spPr>
          <a:xfrm>
            <a:off x="15135245" y="792625"/>
            <a:ext cx="2124055" cy="2116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768"/>
              </a:lnSpc>
            </a:pPr>
            <a:r>
              <a:rPr lang="ko-KR" altLang="en-US" sz="1474" b="1">
                <a:solidFill>
                  <a:srgbClr val="545454"/>
                </a:solidFill>
                <a:latin typeface="페이퍼로지 6 SemiBold" pitchFamily="2" charset="-127"/>
                <a:ea typeface="페이퍼로지 6 SemiBold" pitchFamily="2" charset="-127"/>
                <a:cs typeface="Nanum Square Bold"/>
                <a:sym typeface="Nanum Square Bold"/>
              </a:rPr>
              <a:t>선문대학교</a:t>
            </a:r>
            <a:endParaRPr lang="en-US" sz="1474" b="1">
              <a:solidFill>
                <a:srgbClr val="545454"/>
              </a:solidFill>
              <a:latin typeface="페이퍼로지 6 SemiBold" pitchFamily="2" charset="-127"/>
              <a:ea typeface="페이퍼로지 6 SemiBold" pitchFamily="2" charset="-127"/>
              <a:cs typeface="Nanum Square Bold"/>
              <a:sym typeface="Nanum Square Bold"/>
            </a:endParaRPr>
          </a:p>
        </p:txBody>
      </p:sp>
      <p:sp>
        <p:nvSpPr>
          <p:cNvPr id="27" name="Freeform 11">
            <a:extLst>
              <a:ext uri="{FF2B5EF4-FFF2-40B4-BE49-F238E27FC236}">
                <a16:creationId xmlns:a16="http://schemas.microsoft.com/office/drawing/2014/main" id="{098DD4C0-94C3-2F7C-4421-1CE6925CEECD}"/>
              </a:ext>
            </a:extLst>
          </p:cNvPr>
          <p:cNvSpPr/>
          <p:nvPr/>
        </p:nvSpPr>
        <p:spPr>
          <a:xfrm>
            <a:off x="1663692" y="8736417"/>
            <a:ext cx="496132" cy="493858"/>
          </a:xfrm>
          <a:custGeom>
            <a:avLst/>
            <a:gdLst/>
            <a:ahLst/>
            <a:cxnLst/>
            <a:rect l="l" t="t" r="r" b="b"/>
            <a:pathLst>
              <a:path w="496132" h="493858">
                <a:moveTo>
                  <a:pt x="0" y="0"/>
                </a:moveTo>
                <a:lnTo>
                  <a:pt x="496132" y="0"/>
                </a:lnTo>
                <a:lnTo>
                  <a:pt x="496132" y="493858"/>
                </a:lnTo>
                <a:lnTo>
                  <a:pt x="0" y="4938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28" name="TextBox 16">
            <a:extLst>
              <a:ext uri="{FF2B5EF4-FFF2-40B4-BE49-F238E27FC236}">
                <a16:creationId xmlns:a16="http://schemas.microsoft.com/office/drawing/2014/main" id="{105E4FB9-4A3D-205E-2E9C-5EED547C7B11}"/>
              </a:ext>
            </a:extLst>
          </p:cNvPr>
          <p:cNvSpPr txBox="1"/>
          <p:nvPr/>
        </p:nvSpPr>
        <p:spPr>
          <a:xfrm>
            <a:off x="2567031" y="8726892"/>
            <a:ext cx="13827841" cy="487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835"/>
              </a:lnSpc>
            </a:pPr>
            <a:r>
              <a:rPr lang="ko-KR" altLang="en-US" sz="3196">
                <a:solidFill>
                  <a:srgbClr val="FFFFFF"/>
                </a:solidFill>
                <a:latin typeface="페이퍼로지 6 SemiBold" pitchFamily="2" charset="-127"/>
                <a:ea typeface="페이퍼로지 6 SemiBold" pitchFamily="2" charset="-127"/>
                <a:cs typeface="Nanum Square Bold"/>
                <a:sym typeface="Nanum Square Bold"/>
              </a:rPr>
              <a:t>매출 감소 시에도 투자 수준 유지 강제 → 적정 수준 초과 투자 가능성</a:t>
            </a:r>
            <a:endParaRPr lang="en-US" sz="3196">
              <a:solidFill>
                <a:srgbClr val="FFFFFF"/>
              </a:solidFill>
              <a:latin typeface="페이퍼로지 6 SemiBold" pitchFamily="2" charset="-127"/>
              <a:ea typeface="페이퍼로지 6 SemiBold" pitchFamily="2" charset="-127"/>
              <a:cs typeface="Nanum Square Bold"/>
              <a:sym typeface="Nanum Square Bold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1C4855-4CF0-DC3E-B157-CF5F73A0F3CA}"/>
              </a:ext>
            </a:extLst>
          </p:cNvPr>
          <p:cNvSpPr txBox="1"/>
          <p:nvPr/>
        </p:nvSpPr>
        <p:spPr>
          <a:xfrm>
            <a:off x="11887200" y="3147893"/>
            <a:ext cx="5943600" cy="42165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250"/>
              </a:spcBef>
              <a:spcAft>
                <a:spcPts val="1500"/>
              </a:spcAft>
              <a:buNone/>
            </a:pPr>
            <a:r>
              <a:rPr lang="ko-KR" altLang="en-US" sz="2400" i="0">
                <a:solidFill>
                  <a:srgbClr val="2A5298"/>
                </a:solidFill>
                <a:effectLst/>
                <a:latin typeface="페이퍼로지 6 SemiBold" pitchFamily="2" charset="-127"/>
                <a:ea typeface="페이퍼로지 6 SemiBold" pitchFamily="2" charset="-127"/>
              </a:rPr>
              <a:t>핵심 문제</a:t>
            </a:r>
          </a:p>
          <a:p>
            <a:pPr marL="285750" indent="-285750" algn="l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ko-KR" altLang="en-US" b="0" i="0">
                <a:solidFill>
                  <a:srgbClr val="4A5568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매출 감소 상황에서도 투자 유지</a:t>
            </a:r>
          </a:p>
          <a:p>
            <a:pPr marL="742950" lvl="1" indent="-285750" algn="l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ko-KR" altLang="en-US" b="0" i="0">
                <a:solidFill>
                  <a:srgbClr val="4A5568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계획된 투자액 강제 이행</a:t>
            </a:r>
          </a:p>
          <a:p>
            <a:pPr marL="742950" lvl="1" indent="-285750" algn="l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ko-KR" altLang="en-US" b="0" i="0">
                <a:solidFill>
                  <a:srgbClr val="4A5568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투자비율 자동 상승</a:t>
            </a:r>
          </a:p>
          <a:p>
            <a:pPr marL="742950" lvl="1" indent="-285750" algn="l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ko-KR" altLang="en-US" b="1" i="0">
                <a:solidFill>
                  <a:srgbClr val="4A5568"/>
                </a:solidFill>
                <a:effectLst/>
                <a:latin typeface="페이퍼로지 6 SemiBold" pitchFamily="2" charset="-127"/>
                <a:ea typeface="페이퍼로지 6 SemiBold" pitchFamily="2" charset="-127"/>
              </a:rPr>
              <a:t>시장 최적 수준 초과</a:t>
            </a:r>
            <a:endParaRPr lang="ko-KR" altLang="en-US" b="0" i="0">
              <a:solidFill>
                <a:srgbClr val="4A5568"/>
              </a:solidFill>
              <a:effectLst/>
              <a:latin typeface="페이퍼로지 6 SemiBold" pitchFamily="2" charset="-127"/>
              <a:ea typeface="페이퍼로지 6 SemiBold" pitchFamily="2" charset="-127"/>
            </a:endParaRPr>
          </a:p>
          <a:p>
            <a:pPr marL="285750" indent="-285750" algn="l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altLang="ko-KR" b="0" i="0">
                <a:solidFill>
                  <a:srgbClr val="4A5568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JTBC </a:t>
            </a:r>
            <a:r>
              <a:rPr lang="ko-KR" altLang="en-US" b="0" i="0">
                <a:solidFill>
                  <a:srgbClr val="4A5568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사례</a:t>
            </a:r>
          </a:p>
          <a:p>
            <a:pPr marL="742950" lvl="1" indent="-285750" algn="l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ko-KR" altLang="en-US" b="0" i="0">
                <a:solidFill>
                  <a:srgbClr val="4A5568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평균 투자비율</a:t>
            </a:r>
            <a:r>
              <a:rPr lang="en-US" altLang="ko-KR" b="0" i="0">
                <a:solidFill>
                  <a:srgbClr val="4A5568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: </a:t>
            </a:r>
            <a:r>
              <a:rPr lang="en-US" altLang="ko-KR" i="0">
                <a:solidFill>
                  <a:srgbClr val="4A5568"/>
                </a:solidFill>
                <a:effectLst/>
                <a:latin typeface="페이퍼로지 6 SemiBold" pitchFamily="2" charset="-127"/>
                <a:ea typeface="페이퍼로지 6 SemiBold" pitchFamily="2" charset="-127"/>
              </a:rPr>
              <a:t>85.9%</a:t>
            </a:r>
            <a:endParaRPr lang="ko-KR" altLang="en-US" i="0">
              <a:solidFill>
                <a:srgbClr val="4A5568"/>
              </a:solidFill>
              <a:effectLst/>
              <a:latin typeface="페이퍼로지 6 SemiBold" pitchFamily="2" charset="-127"/>
              <a:ea typeface="페이퍼로지 6 SemiBold" pitchFamily="2" charset="-127"/>
            </a:endParaRPr>
          </a:p>
          <a:p>
            <a:pPr marL="742950" lvl="1" indent="-285750" algn="l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ko-KR" altLang="en-US" b="0" i="0">
                <a:solidFill>
                  <a:srgbClr val="4A5568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최대</a:t>
            </a:r>
            <a:r>
              <a:rPr lang="en-US" altLang="ko-KR" b="0" i="0">
                <a:solidFill>
                  <a:srgbClr val="4A5568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: </a:t>
            </a:r>
            <a:r>
              <a:rPr lang="en-US" altLang="ko-KR" b="1" i="0">
                <a:solidFill>
                  <a:srgbClr val="4A5568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98.1%</a:t>
            </a:r>
            <a:r>
              <a:rPr lang="ko-KR" altLang="en-US" b="0" i="0">
                <a:solidFill>
                  <a:srgbClr val="4A5568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 </a:t>
            </a:r>
            <a:r>
              <a:rPr lang="en-US" altLang="ko-KR" b="0" i="0">
                <a:solidFill>
                  <a:srgbClr val="4A5568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(2020</a:t>
            </a:r>
            <a:r>
              <a:rPr lang="ko-KR" altLang="en-US" b="0" i="0">
                <a:solidFill>
                  <a:srgbClr val="4A5568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년</a:t>
            </a:r>
            <a:r>
              <a:rPr lang="en-US" altLang="ko-KR" b="0" i="0">
                <a:solidFill>
                  <a:srgbClr val="4A5568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)</a:t>
            </a:r>
          </a:p>
          <a:p>
            <a:pPr marL="742950" lvl="1" indent="-285750" algn="l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ko-KR" altLang="en-US" b="0" i="0">
                <a:solidFill>
                  <a:srgbClr val="4A5568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매출의 거의 전부를 투자 → </a:t>
            </a:r>
            <a:r>
              <a:rPr lang="ko-KR" altLang="en-US" b="1" i="0">
                <a:solidFill>
                  <a:srgbClr val="4A5568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과잉투자</a:t>
            </a:r>
            <a:endParaRPr lang="ko-KR" altLang="en-US" b="0" i="0">
              <a:solidFill>
                <a:srgbClr val="4A5568"/>
              </a:solidFill>
              <a:effectLst/>
              <a:latin typeface="페이퍼로지 4 Regular" pitchFamily="2" charset="-127"/>
              <a:ea typeface="페이퍼로지 4 Regular" pitchFamily="2" charset="-127"/>
            </a:endParaRPr>
          </a:p>
        </p:txBody>
      </p:sp>
      <p:grpSp>
        <p:nvGrpSpPr>
          <p:cNvPr id="11" name="Group 8">
            <a:extLst>
              <a:ext uri="{FF2B5EF4-FFF2-40B4-BE49-F238E27FC236}">
                <a16:creationId xmlns:a16="http://schemas.microsoft.com/office/drawing/2014/main" id="{BF654AA5-C139-2CA4-19AC-DEF8FB1E906E}"/>
              </a:ext>
            </a:extLst>
          </p:cNvPr>
          <p:cNvGrpSpPr/>
          <p:nvPr/>
        </p:nvGrpSpPr>
        <p:grpSpPr>
          <a:xfrm>
            <a:off x="1219200" y="8123073"/>
            <a:ext cx="16230600" cy="1673860"/>
            <a:chOff x="0" y="0"/>
            <a:chExt cx="8160170" cy="841557"/>
          </a:xfrm>
        </p:grpSpPr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2DBC405A-85C0-23EE-911C-C7196BED0953}"/>
                </a:ext>
              </a:extLst>
            </p:cNvPr>
            <p:cNvSpPr/>
            <p:nvPr/>
          </p:nvSpPr>
          <p:spPr>
            <a:xfrm>
              <a:off x="0" y="0"/>
              <a:ext cx="8160169" cy="841557"/>
            </a:xfrm>
            <a:custGeom>
              <a:avLst/>
              <a:gdLst/>
              <a:ahLst/>
              <a:cxnLst/>
              <a:rect l="l" t="t" r="r" b="b"/>
              <a:pathLst>
                <a:path w="8160169" h="841557">
                  <a:moveTo>
                    <a:pt x="6678" y="0"/>
                  </a:moveTo>
                  <a:lnTo>
                    <a:pt x="8153491" y="0"/>
                  </a:lnTo>
                  <a:cubicBezTo>
                    <a:pt x="8157180" y="0"/>
                    <a:pt x="8160169" y="2990"/>
                    <a:pt x="8160169" y="6678"/>
                  </a:cubicBezTo>
                  <a:lnTo>
                    <a:pt x="8160169" y="834880"/>
                  </a:lnTo>
                  <a:cubicBezTo>
                    <a:pt x="8160169" y="838568"/>
                    <a:pt x="8157180" y="841557"/>
                    <a:pt x="8153491" y="841557"/>
                  </a:cubicBezTo>
                  <a:lnTo>
                    <a:pt x="6678" y="841557"/>
                  </a:lnTo>
                  <a:cubicBezTo>
                    <a:pt x="2990" y="841557"/>
                    <a:pt x="0" y="838568"/>
                    <a:pt x="0" y="834880"/>
                  </a:cubicBezTo>
                  <a:lnTo>
                    <a:pt x="0" y="6678"/>
                  </a:lnTo>
                  <a:cubicBezTo>
                    <a:pt x="0" y="2990"/>
                    <a:pt x="2990" y="0"/>
                    <a:pt x="6678" y="0"/>
                  </a:cubicBezTo>
                  <a:close/>
                </a:path>
              </a:pathLst>
            </a:custGeom>
            <a:solidFill>
              <a:srgbClr val="00ACFF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" name="TextBox 10">
              <a:extLst>
                <a:ext uri="{FF2B5EF4-FFF2-40B4-BE49-F238E27FC236}">
                  <a16:creationId xmlns:a16="http://schemas.microsoft.com/office/drawing/2014/main" id="{00BCCD19-0138-4B89-8A62-D54B1CB0B926}"/>
                </a:ext>
              </a:extLst>
            </p:cNvPr>
            <p:cNvSpPr txBox="1"/>
            <p:nvPr/>
          </p:nvSpPr>
          <p:spPr>
            <a:xfrm>
              <a:off x="0" y="-9525"/>
              <a:ext cx="8160170" cy="8510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27"/>
                </a:lnSpc>
              </a:pPr>
              <a:endParaRPr/>
            </a:p>
          </p:txBody>
        </p:sp>
      </p:grpSp>
      <p:sp>
        <p:nvSpPr>
          <p:cNvPr id="17" name="Freeform 11">
            <a:extLst>
              <a:ext uri="{FF2B5EF4-FFF2-40B4-BE49-F238E27FC236}">
                <a16:creationId xmlns:a16="http://schemas.microsoft.com/office/drawing/2014/main" id="{C2058847-D482-511F-0EDE-E8FA6C3AA76A}"/>
              </a:ext>
            </a:extLst>
          </p:cNvPr>
          <p:cNvSpPr/>
          <p:nvPr/>
        </p:nvSpPr>
        <p:spPr>
          <a:xfrm>
            <a:off x="1818807" y="8703549"/>
            <a:ext cx="496132" cy="493858"/>
          </a:xfrm>
          <a:custGeom>
            <a:avLst/>
            <a:gdLst/>
            <a:ahLst/>
            <a:cxnLst/>
            <a:rect l="l" t="t" r="r" b="b"/>
            <a:pathLst>
              <a:path w="496132" h="493858">
                <a:moveTo>
                  <a:pt x="0" y="0"/>
                </a:moveTo>
                <a:lnTo>
                  <a:pt x="496132" y="0"/>
                </a:lnTo>
                <a:lnTo>
                  <a:pt x="496132" y="493858"/>
                </a:lnTo>
                <a:lnTo>
                  <a:pt x="0" y="4938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25" name="TextBox 16">
            <a:extLst>
              <a:ext uri="{FF2B5EF4-FFF2-40B4-BE49-F238E27FC236}">
                <a16:creationId xmlns:a16="http://schemas.microsoft.com/office/drawing/2014/main" id="{87F47494-7E20-B018-66C3-F07EB227B152}"/>
              </a:ext>
            </a:extLst>
          </p:cNvPr>
          <p:cNvSpPr txBox="1"/>
          <p:nvPr/>
        </p:nvSpPr>
        <p:spPr>
          <a:xfrm>
            <a:off x="2722146" y="8694024"/>
            <a:ext cx="13827841" cy="487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835"/>
              </a:lnSpc>
            </a:pPr>
            <a:r>
              <a:rPr lang="ko-KR" altLang="en-US" sz="3196">
                <a:solidFill>
                  <a:srgbClr val="FFFFFF"/>
                </a:solidFill>
                <a:latin typeface="페이퍼로지 5 Medium" pitchFamily="2" charset="-127"/>
                <a:ea typeface="페이퍼로지 5 Medium" pitchFamily="2" charset="-127"/>
                <a:cs typeface="Nanum Square Bold"/>
                <a:sym typeface="Nanum Square Bold"/>
              </a:rPr>
              <a:t>매출 대비 투자 비율 지속 상승 → 적정 수준 초과 투자 증거</a:t>
            </a:r>
            <a:endParaRPr lang="en-US" sz="3196">
              <a:solidFill>
                <a:srgbClr val="FFFFFF"/>
              </a:solidFill>
              <a:latin typeface="페이퍼로지 5 Medium" pitchFamily="2" charset="-127"/>
              <a:ea typeface="페이퍼로지 5 Medium" pitchFamily="2" charset="-127"/>
              <a:cs typeface="Nanum Square Bold"/>
              <a:sym typeface="Nanum Square Bold"/>
            </a:endParaRPr>
          </a:p>
        </p:txBody>
      </p:sp>
      <p:pic>
        <p:nvPicPr>
          <p:cNvPr id="31" name="그림 30" descr="텍스트, 라인, 도표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2FF0A48-AEB3-6BDA-BB96-67BDB6A0713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910" y="2563302"/>
            <a:ext cx="10881382" cy="5394971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A12206C3-AEC2-B235-5490-78DF1E758318}"/>
              </a:ext>
            </a:extLst>
          </p:cNvPr>
          <p:cNvSpPr txBox="1"/>
          <p:nvPr/>
        </p:nvSpPr>
        <p:spPr>
          <a:xfrm>
            <a:off x="1371600" y="7695279"/>
            <a:ext cx="9144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>
                <a:latin typeface="페이퍼로지 4 Regular" pitchFamily="2" charset="-127"/>
                <a:ea typeface="페이퍼로지 4 Regular" pitchFamily="2" charset="-127"/>
              </a:rPr>
              <a:t>* </a:t>
            </a:r>
            <a:r>
              <a:rPr lang="ko-KR" altLang="en-US" sz="1100">
                <a:latin typeface="페이퍼로지 4 Regular" pitchFamily="2" charset="-127"/>
                <a:ea typeface="페이퍼로지 4 Regular" pitchFamily="2" charset="-127"/>
              </a:rPr>
              <a:t>출처</a:t>
            </a:r>
            <a:r>
              <a:rPr lang="en-US" altLang="ko-KR" sz="1100">
                <a:latin typeface="페이퍼로지 4 Regular" pitchFamily="2" charset="-127"/>
                <a:ea typeface="페이퍼로지 4 Regular" pitchFamily="2" charset="-127"/>
              </a:rPr>
              <a:t>: </a:t>
            </a:r>
            <a:r>
              <a:rPr lang="ko-KR" altLang="en-US" sz="1100">
                <a:latin typeface="페이퍼로지 4 Regular" pitchFamily="2" charset="-127"/>
                <a:ea typeface="페이퍼로지 4 Regular" pitchFamily="2" charset="-127"/>
              </a:rPr>
              <a:t>각년도 재산사항공표집</a:t>
            </a:r>
            <a:endParaRPr lang="ko-KR" altLang="en-US" sz="1100"/>
          </a:p>
        </p:txBody>
      </p:sp>
      <p:sp>
        <p:nvSpPr>
          <p:cNvPr id="34" name="슬라이드 번호 개체 틀 33">
            <a:extLst>
              <a:ext uri="{FF2B5EF4-FFF2-40B4-BE49-F238E27FC236}">
                <a16:creationId xmlns:a16="http://schemas.microsoft.com/office/drawing/2014/main" id="{F3477E74-3263-0FA9-6D08-CDBE77EB6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934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C4DF39-C237-FAAD-359A-9D8F80F7A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9845664E-5599-9BF2-5382-2D1B45076956}"/>
              </a:ext>
            </a:extLst>
          </p:cNvPr>
          <p:cNvSpPr/>
          <p:nvPr/>
        </p:nvSpPr>
        <p:spPr>
          <a:xfrm flipV="1">
            <a:off x="1028700" y="1169525"/>
            <a:ext cx="16230600" cy="0"/>
          </a:xfrm>
          <a:prstGeom prst="line">
            <a:avLst/>
          </a:prstGeom>
          <a:ln w="19050" cap="flat">
            <a:solidFill>
              <a:srgbClr val="D9D9D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7935FF2F-FEF6-72FC-0147-9509150B49C7}"/>
              </a:ext>
            </a:extLst>
          </p:cNvPr>
          <p:cNvSpPr txBox="1"/>
          <p:nvPr/>
        </p:nvSpPr>
        <p:spPr>
          <a:xfrm>
            <a:off x="1028700" y="1399848"/>
            <a:ext cx="1502946" cy="11319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579"/>
              </a:lnSpc>
            </a:pPr>
            <a:r>
              <a:rPr lang="en-US" altLang="ko-KR" sz="7983" spc="-239">
                <a:solidFill>
                  <a:srgbClr val="15A9F1"/>
                </a:solidFill>
                <a:latin typeface="페이퍼로지 5 Medium" pitchFamily="2" charset="-127"/>
                <a:ea typeface="페이퍼로지 5 Medium" pitchFamily="2" charset="-127"/>
                <a:cs typeface="Nanum Square Bold"/>
                <a:sym typeface="Nanum Square Bold"/>
              </a:rPr>
              <a:t>02</a:t>
            </a:r>
            <a:endParaRPr lang="en-US" sz="7983" spc="-239">
              <a:solidFill>
                <a:srgbClr val="15A9F1"/>
              </a:solidFill>
              <a:latin typeface="페이퍼로지 5 Medium" pitchFamily="2" charset="-127"/>
              <a:ea typeface="페이퍼로지 5 Medium" pitchFamily="2" charset="-127"/>
              <a:cs typeface="Nanum Square Bold"/>
              <a:sym typeface="Nanum Square Bold"/>
            </a:endParaRP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B9A3F727-56AF-082F-544D-8424E7109AEE}"/>
              </a:ext>
            </a:extLst>
          </p:cNvPr>
          <p:cNvSpPr txBox="1"/>
          <p:nvPr/>
        </p:nvSpPr>
        <p:spPr>
          <a:xfrm>
            <a:off x="2531646" y="1626872"/>
            <a:ext cx="12174954" cy="15388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000"/>
              </a:lnSpc>
            </a:pPr>
            <a:r>
              <a:rPr lang="ko-KR" altLang="en-US" sz="5000">
                <a:solidFill>
                  <a:srgbClr val="454444"/>
                </a:solidFill>
                <a:latin typeface="페이퍼로지 5 Medium" pitchFamily="2" charset="-127"/>
                <a:ea typeface="페이퍼로지 5 Medium" pitchFamily="2" charset="-127"/>
                <a:cs typeface="Nanum Square Bold"/>
                <a:sym typeface="Nanum Square Bold"/>
              </a:rPr>
              <a:t>현황분석 </a:t>
            </a:r>
            <a:r>
              <a:rPr lang="en-US" altLang="ko-KR" sz="5000">
                <a:solidFill>
                  <a:srgbClr val="454444"/>
                </a:solidFill>
                <a:latin typeface="페이퍼로지 5 Medium" pitchFamily="2" charset="-127"/>
                <a:ea typeface="페이퍼로지 5 Medium" pitchFamily="2" charset="-127"/>
                <a:cs typeface="Nanum Square Bold"/>
                <a:sym typeface="Nanum Square Bold"/>
              </a:rPr>
              <a:t>– </a:t>
            </a:r>
            <a:r>
              <a:rPr lang="ko-KR" altLang="en-US" sz="5000">
                <a:solidFill>
                  <a:srgbClr val="454444"/>
                </a:solidFill>
                <a:latin typeface="페이퍼로지 5 Medium" pitchFamily="2" charset="-127"/>
                <a:ea typeface="페이퍼로지 5 Medium" pitchFamily="2" charset="-127"/>
                <a:cs typeface="Nanum Square Bold"/>
                <a:sym typeface="Nanum Square Bold"/>
              </a:rPr>
              <a:t>종편 </a:t>
            </a:r>
            <a:r>
              <a:rPr lang="en-US" altLang="ko-KR" sz="5000">
                <a:solidFill>
                  <a:srgbClr val="454444"/>
                </a:solidFill>
                <a:latin typeface="페이퍼로지 5 Medium" pitchFamily="2" charset="-127"/>
                <a:ea typeface="페이퍼로지 5 Medium" pitchFamily="2" charset="-127"/>
                <a:cs typeface="Nanum Square Bold"/>
                <a:sym typeface="Nanum Square Bold"/>
              </a:rPr>
              <a:t>4</a:t>
            </a:r>
            <a:r>
              <a:rPr lang="ko-KR" altLang="en-US" sz="5000">
                <a:solidFill>
                  <a:srgbClr val="454444"/>
                </a:solidFill>
                <a:latin typeface="페이퍼로지 5 Medium" pitchFamily="2" charset="-127"/>
                <a:ea typeface="페이퍼로지 5 Medium" pitchFamily="2" charset="-127"/>
                <a:cs typeface="Nanum Square Bold"/>
                <a:sym typeface="Nanum Square Bold"/>
              </a:rPr>
              <a:t>사 영업손익 추이</a:t>
            </a:r>
          </a:p>
          <a:p>
            <a:pPr>
              <a:lnSpc>
                <a:spcPts val="6000"/>
              </a:lnSpc>
            </a:pPr>
            <a:endParaRPr lang="en-US" altLang="ko-KR" sz="5000">
              <a:solidFill>
                <a:srgbClr val="454444"/>
              </a:solidFill>
              <a:latin typeface="페이퍼로지 5 Medium" pitchFamily="2" charset="-127"/>
              <a:ea typeface="페이퍼로지 5 Medium" pitchFamily="2" charset="-127"/>
              <a:cs typeface="Nanum Square Bold"/>
              <a:sym typeface="Nanum Square Bold"/>
            </a:endParaRP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E487034D-E86A-7CEB-315D-ED4972BEE09D}"/>
              </a:ext>
            </a:extLst>
          </p:cNvPr>
          <p:cNvSpPr txBox="1"/>
          <p:nvPr/>
        </p:nvSpPr>
        <p:spPr>
          <a:xfrm>
            <a:off x="1123950" y="811675"/>
            <a:ext cx="3295650" cy="2239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888"/>
              </a:lnSpc>
            </a:pPr>
            <a:r>
              <a:rPr lang="ko-KR" altLang="en-US" sz="1574">
                <a:solidFill>
                  <a:srgbClr val="545454"/>
                </a:solidFill>
                <a:latin typeface="페이퍼로지 3 Light" pitchFamily="2" charset="-127"/>
                <a:ea typeface="페이퍼로지 3 Light" pitchFamily="2" charset="-127"/>
                <a:cs typeface="Nanum Square"/>
                <a:sym typeface="Nanum Square"/>
              </a:rPr>
              <a:t>한국언론학회 </a:t>
            </a:r>
            <a:r>
              <a:rPr lang="en-US" altLang="ko-KR" sz="1574">
                <a:solidFill>
                  <a:srgbClr val="545454"/>
                </a:solidFill>
                <a:latin typeface="페이퍼로지 3 Light" pitchFamily="2" charset="-127"/>
                <a:ea typeface="페이퍼로지 3 Light" pitchFamily="2" charset="-127"/>
                <a:cs typeface="Nanum Square"/>
                <a:sym typeface="Nanum Square"/>
              </a:rPr>
              <a:t>2025 </a:t>
            </a:r>
            <a:r>
              <a:rPr lang="ko-KR" altLang="en-US" sz="1574">
                <a:solidFill>
                  <a:srgbClr val="545454"/>
                </a:solidFill>
                <a:latin typeface="페이퍼로지 3 Light" pitchFamily="2" charset="-127"/>
                <a:ea typeface="페이퍼로지 3 Light" pitchFamily="2" charset="-127"/>
                <a:cs typeface="Nanum Square"/>
                <a:sym typeface="Nanum Square"/>
              </a:rPr>
              <a:t>가을철 학술대회</a:t>
            </a:r>
            <a:endParaRPr lang="en-US" altLang="ko-KR" sz="1574">
              <a:solidFill>
                <a:srgbClr val="545454"/>
              </a:solidFill>
              <a:latin typeface="페이퍼로지 3 Light" pitchFamily="2" charset="-127"/>
              <a:ea typeface="페이퍼로지 3 Light" pitchFamily="2" charset="-127"/>
              <a:cs typeface="Nanum Square"/>
              <a:sym typeface="Nanum Square"/>
            </a:endParaRPr>
          </a:p>
        </p:txBody>
      </p:sp>
      <p:sp>
        <p:nvSpPr>
          <p:cNvPr id="20" name="TextBox 12">
            <a:extLst>
              <a:ext uri="{FF2B5EF4-FFF2-40B4-BE49-F238E27FC236}">
                <a16:creationId xmlns:a16="http://schemas.microsoft.com/office/drawing/2014/main" id="{A48D2E2F-0F40-8DDB-7685-692F44049C72}"/>
              </a:ext>
            </a:extLst>
          </p:cNvPr>
          <p:cNvSpPr txBox="1"/>
          <p:nvPr/>
        </p:nvSpPr>
        <p:spPr>
          <a:xfrm>
            <a:off x="15135245" y="792625"/>
            <a:ext cx="2124055" cy="2116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768"/>
              </a:lnSpc>
            </a:pPr>
            <a:r>
              <a:rPr lang="ko-KR" altLang="en-US" sz="1474" b="1">
                <a:solidFill>
                  <a:srgbClr val="545454"/>
                </a:solidFill>
                <a:latin typeface="페이퍼로지 6 SemiBold" pitchFamily="2" charset="-127"/>
                <a:ea typeface="페이퍼로지 6 SemiBold" pitchFamily="2" charset="-127"/>
                <a:cs typeface="Nanum Square Bold"/>
                <a:sym typeface="Nanum Square Bold"/>
              </a:rPr>
              <a:t>선문대학교</a:t>
            </a:r>
            <a:endParaRPr lang="en-US" sz="1474" b="1">
              <a:solidFill>
                <a:srgbClr val="545454"/>
              </a:solidFill>
              <a:latin typeface="페이퍼로지 6 SemiBold" pitchFamily="2" charset="-127"/>
              <a:ea typeface="페이퍼로지 6 SemiBold" pitchFamily="2" charset="-127"/>
              <a:cs typeface="Nanum Square Bold"/>
              <a:sym typeface="Nanum Square Bold"/>
            </a:endParaRPr>
          </a:p>
        </p:txBody>
      </p:sp>
      <p:sp>
        <p:nvSpPr>
          <p:cNvPr id="27" name="Freeform 11">
            <a:extLst>
              <a:ext uri="{FF2B5EF4-FFF2-40B4-BE49-F238E27FC236}">
                <a16:creationId xmlns:a16="http://schemas.microsoft.com/office/drawing/2014/main" id="{8AD89A57-A0CA-1815-D1B8-00D844FA810A}"/>
              </a:ext>
            </a:extLst>
          </p:cNvPr>
          <p:cNvSpPr/>
          <p:nvPr/>
        </p:nvSpPr>
        <p:spPr>
          <a:xfrm>
            <a:off x="1663692" y="8736417"/>
            <a:ext cx="496132" cy="493858"/>
          </a:xfrm>
          <a:custGeom>
            <a:avLst/>
            <a:gdLst/>
            <a:ahLst/>
            <a:cxnLst/>
            <a:rect l="l" t="t" r="r" b="b"/>
            <a:pathLst>
              <a:path w="496132" h="493858">
                <a:moveTo>
                  <a:pt x="0" y="0"/>
                </a:moveTo>
                <a:lnTo>
                  <a:pt x="496132" y="0"/>
                </a:lnTo>
                <a:lnTo>
                  <a:pt x="496132" y="493858"/>
                </a:lnTo>
                <a:lnTo>
                  <a:pt x="0" y="4938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28" name="TextBox 16">
            <a:extLst>
              <a:ext uri="{FF2B5EF4-FFF2-40B4-BE49-F238E27FC236}">
                <a16:creationId xmlns:a16="http://schemas.microsoft.com/office/drawing/2014/main" id="{930F0299-6491-222A-3061-5046B25BDDCF}"/>
              </a:ext>
            </a:extLst>
          </p:cNvPr>
          <p:cNvSpPr txBox="1"/>
          <p:nvPr/>
        </p:nvSpPr>
        <p:spPr>
          <a:xfrm>
            <a:off x="2567031" y="8726892"/>
            <a:ext cx="13827841" cy="487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835"/>
              </a:lnSpc>
            </a:pPr>
            <a:r>
              <a:rPr lang="ko-KR" altLang="en-US" sz="3196">
                <a:solidFill>
                  <a:srgbClr val="FFFFFF"/>
                </a:solidFill>
                <a:latin typeface="페이퍼로지 6 SemiBold" pitchFamily="2" charset="-127"/>
                <a:ea typeface="페이퍼로지 6 SemiBold" pitchFamily="2" charset="-127"/>
                <a:cs typeface="Nanum Square Bold"/>
                <a:sym typeface="Nanum Square Bold"/>
              </a:rPr>
              <a:t>매출 감소 시에도 투자 수준 유지 강제 → 적정 수준 초과 투자 가능성</a:t>
            </a:r>
            <a:endParaRPr lang="en-US" sz="3196">
              <a:solidFill>
                <a:srgbClr val="FFFFFF"/>
              </a:solidFill>
              <a:latin typeface="페이퍼로지 6 SemiBold" pitchFamily="2" charset="-127"/>
              <a:ea typeface="페이퍼로지 6 SemiBold" pitchFamily="2" charset="-127"/>
              <a:cs typeface="Nanum Square Bold"/>
              <a:sym typeface="Nanum Square Bold"/>
            </a:endParaRPr>
          </a:p>
        </p:txBody>
      </p:sp>
      <p:grpSp>
        <p:nvGrpSpPr>
          <p:cNvPr id="11" name="Group 8">
            <a:extLst>
              <a:ext uri="{FF2B5EF4-FFF2-40B4-BE49-F238E27FC236}">
                <a16:creationId xmlns:a16="http://schemas.microsoft.com/office/drawing/2014/main" id="{5189BD3C-6277-145B-2CCA-CBC9F3F30BC9}"/>
              </a:ext>
            </a:extLst>
          </p:cNvPr>
          <p:cNvGrpSpPr/>
          <p:nvPr/>
        </p:nvGrpSpPr>
        <p:grpSpPr>
          <a:xfrm>
            <a:off x="1219200" y="8123073"/>
            <a:ext cx="16230600" cy="1673860"/>
            <a:chOff x="0" y="0"/>
            <a:chExt cx="8160170" cy="841557"/>
          </a:xfrm>
        </p:grpSpPr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0CB11120-B71F-E82B-9B72-82BABE2CEBAB}"/>
                </a:ext>
              </a:extLst>
            </p:cNvPr>
            <p:cNvSpPr/>
            <p:nvPr/>
          </p:nvSpPr>
          <p:spPr>
            <a:xfrm>
              <a:off x="0" y="0"/>
              <a:ext cx="8160169" cy="841557"/>
            </a:xfrm>
            <a:custGeom>
              <a:avLst/>
              <a:gdLst/>
              <a:ahLst/>
              <a:cxnLst/>
              <a:rect l="l" t="t" r="r" b="b"/>
              <a:pathLst>
                <a:path w="8160169" h="841557">
                  <a:moveTo>
                    <a:pt x="6678" y="0"/>
                  </a:moveTo>
                  <a:lnTo>
                    <a:pt x="8153491" y="0"/>
                  </a:lnTo>
                  <a:cubicBezTo>
                    <a:pt x="8157180" y="0"/>
                    <a:pt x="8160169" y="2990"/>
                    <a:pt x="8160169" y="6678"/>
                  </a:cubicBezTo>
                  <a:lnTo>
                    <a:pt x="8160169" y="834880"/>
                  </a:lnTo>
                  <a:cubicBezTo>
                    <a:pt x="8160169" y="838568"/>
                    <a:pt x="8157180" y="841557"/>
                    <a:pt x="8153491" y="841557"/>
                  </a:cubicBezTo>
                  <a:lnTo>
                    <a:pt x="6678" y="841557"/>
                  </a:lnTo>
                  <a:cubicBezTo>
                    <a:pt x="2990" y="841557"/>
                    <a:pt x="0" y="838568"/>
                    <a:pt x="0" y="834880"/>
                  </a:cubicBezTo>
                  <a:lnTo>
                    <a:pt x="0" y="6678"/>
                  </a:lnTo>
                  <a:cubicBezTo>
                    <a:pt x="0" y="2990"/>
                    <a:pt x="2990" y="0"/>
                    <a:pt x="6678" y="0"/>
                  </a:cubicBezTo>
                  <a:close/>
                </a:path>
              </a:pathLst>
            </a:custGeom>
            <a:solidFill>
              <a:srgbClr val="00ACFF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" name="TextBox 10">
              <a:extLst>
                <a:ext uri="{FF2B5EF4-FFF2-40B4-BE49-F238E27FC236}">
                  <a16:creationId xmlns:a16="http://schemas.microsoft.com/office/drawing/2014/main" id="{2EB27139-22DF-FDD2-CD48-00CA5A19BFED}"/>
                </a:ext>
              </a:extLst>
            </p:cNvPr>
            <p:cNvSpPr txBox="1"/>
            <p:nvPr/>
          </p:nvSpPr>
          <p:spPr>
            <a:xfrm>
              <a:off x="0" y="-9525"/>
              <a:ext cx="8160170" cy="8510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27"/>
                </a:lnSpc>
              </a:pPr>
              <a:endParaRPr/>
            </a:p>
          </p:txBody>
        </p:sp>
      </p:grpSp>
      <p:sp>
        <p:nvSpPr>
          <p:cNvPr id="17" name="Freeform 11">
            <a:extLst>
              <a:ext uri="{FF2B5EF4-FFF2-40B4-BE49-F238E27FC236}">
                <a16:creationId xmlns:a16="http://schemas.microsoft.com/office/drawing/2014/main" id="{4B7D7480-5F11-FE2E-6E70-F8730C10F039}"/>
              </a:ext>
            </a:extLst>
          </p:cNvPr>
          <p:cNvSpPr/>
          <p:nvPr/>
        </p:nvSpPr>
        <p:spPr>
          <a:xfrm>
            <a:off x="1818807" y="8703549"/>
            <a:ext cx="496132" cy="493858"/>
          </a:xfrm>
          <a:custGeom>
            <a:avLst/>
            <a:gdLst/>
            <a:ahLst/>
            <a:cxnLst/>
            <a:rect l="l" t="t" r="r" b="b"/>
            <a:pathLst>
              <a:path w="496132" h="493858">
                <a:moveTo>
                  <a:pt x="0" y="0"/>
                </a:moveTo>
                <a:lnTo>
                  <a:pt x="496132" y="0"/>
                </a:lnTo>
                <a:lnTo>
                  <a:pt x="496132" y="493858"/>
                </a:lnTo>
                <a:lnTo>
                  <a:pt x="0" y="4938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25" name="TextBox 16">
            <a:extLst>
              <a:ext uri="{FF2B5EF4-FFF2-40B4-BE49-F238E27FC236}">
                <a16:creationId xmlns:a16="http://schemas.microsoft.com/office/drawing/2014/main" id="{978EEF74-CF3A-43B4-DD74-9AA67200D72D}"/>
              </a:ext>
            </a:extLst>
          </p:cNvPr>
          <p:cNvSpPr txBox="1"/>
          <p:nvPr/>
        </p:nvSpPr>
        <p:spPr>
          <a:xfrm>
            <a:off x="2722146" y="8694024"/>
            <a:ext cx="13827841" cy="487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835"/>
              </a:lnSpc>
            </a:pPr>
            <a:r>
              <a:rPr lang="ko-KR" altLang="en-US" sz="3196">
                <a:solidFill>
                  <a:srgbClr val="FFFFFF"/>
                </a:solidFill>
                <a:latin typeface="페이퍼로지 5 Medium" pitchFamily="2" charset="-127"/>
                <a:ea typeface="페이퍼로지 5 Medium" pitchFamily="2" charset="-127"/>
                <a:cs typeface="Nanum Square Bold"/>
                <a:sym typeface="Nanum Square Bold"/>
              </a:rPr>
              <a:t>과잉투자로 인한 수익성 악화</a:t>
            </a:r>
            <a:r>
              <a:rPr lang="en-US" altLang="ko-KR" sz="3196">
                <a:solidFill>
                  <a:srgbClr val="FFFFFF"/>
                </a:solidFill>
                <a:latin typeface="페이퍼로지 5 Medium" pitchFamily="2" charset="-127"/>
                <a:ea typeface="페이퍼로지 5 Medium" pitchFamily="2" charset="-127"/>
                <a:cs typeface="Nanum Square Bold"/>
                <a:sym typeface="Nanum Square Bold"/>
              </a:rPr>
              <a:t>, </a:t>
            </a:r>
            <a:r>
              <a:rPr lang="ko-KR" altLang="en-US" sz="3196">
                <a:solidFill>
                  <a:srgbClr val="FFFFFF"/>
                </a:solidFill>
                <a:latin typeface="페이퍼로지 5 Medium" pitchFamily="2" charset="-127"/>
                <a:ea typeface="페이퍼로지 5 Medium" pitchFamily="2" charset="-127"/>
                <a:cs typeface="Nanum Square Bold"/>
                <a:sym typeface="Nanum Square Bold"/>
              </a:rPr>
              <a:t>일부 사업자 적자 지속</a:t>
            </a:r>
            <a:endParaRPr lang="en-US" sz="3196">
              <a:solidFill>
                <a:srgbClr val="FFFFFF"/>
              </a:solidFill>
              <a:latin typeface="페이퍼로지 5 Medium" pitchFamily="2" charset="-127"/>
              <a:ea typeface="페이퍼로지 5 Medium" pitchFamily="2" charset="-127"/>
              <a:cs typeface="Nanum Square Bold"/>
              <a:sym typeface="Nanum Square Bold"/>
            </a:endParaRPr>
          </a:p>
        </p:txBody>
      </p:sp>
      <p:pic>
        <p:nvPicPr>
          <p:cNvPr id="4" name="그림 3" descr="텍스트, 도표, 라인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AD3823C-286F-6CD1-804B-FBDB8EA4D25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950" y="2593009"/>
            <a:ext cx="10878334" cy="539192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10BA2FA-FC9B-D060-B741-9D39455966D0}"/>
              </a:ext>
            </a:extLst>
          </p:cNvPr>
          <p:cNvSpPr txBox="1"/>
          <p:nvPr/>
        </p:nvSpPr>
        <p:spPr>
          <a:xfrm>
            <a:off x="12213054" y="3075095"/>
            <a:ext cx="5617746" cy="42366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Bef>
                <a:spcPts val="2250"/>
              </a:spcBef>
              <a:spcAft>
                <a:spcPts val="1500"/>
              </a:spcAft>
              <a:buNone/>
            </a:pPr>
            <a:r>
              <a:rPr lang="ko-KR" altLang="en-US" sz="2400">
                <a:solidFill>
                  <a:srgbClr val="2A5298"/>
                </a:solidFill>
                <a:latin typeface="페이퍼로지 6 SemiBold" pitchFamily="2" charset="-127"/>
                <a:ea typeface="페이퍼로지 6 SemiBold" pitchFamily="2" charset="-127"/>
              </a:rPr>
              <a:t>수익성 악화의 원인</a:t>
            </a:r>
          </a:p>
          <a:p>
            <a:pPr marL="285750" indent="-285750" algn="l">
              <a:lnSpc>
                <a:spcPct val="150000"/>
              </a:lnSpc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altLang="ko-KR" b="1" i="0">
                <a:solidFill>
                  <a:srgbClr val="4A5568"/>
                </a:solidFill>
                <a:effectLst/>
                <a:latin typeface="페이퍼로지 5 Medium" pitchFamily="2" charset="-127"/>
                <a:ea typeface="페이퍼로지 5 Medium" pitchFamily="2" charset="-127"/>
              </a:rPr>
              <a:t>1</a:t>
            </a:r>
            <a:r>
              <a:rPr lang="ko-KR" altLang="en-US" b="1" i="0">
                <a:solidFill>
                  <a:srgbClr val="4A5568"/>
                </a:solidFill>
                <a:effectLst/>
                <a:latin typeface="페이퍼로지 5 Medium" pitchFamily="2" charset="-127"/>
                <a:ea typeface="페이퍼로지 5 Medium" pitchFamily="2" charset="-127"/>
              </a:rPr>
              <a:t>차 원인</a:t>
            </a:r>
            <a:r>
              <a:rPr lang="en-US" altLang="ko-KR" b="1" i="0">
                <a:solidFill>
                  <a:srgbClr val="4A5568"/>
                </a:solidFill>
                <a:effectLst/>
                <a:latin typeface="페이퍼로지 5 Medium" pitchFamily="2" charset="-127"/>
                <a:ea typeface="페이퍼로지 5 Medium" pitchFamily="2" charset="-127"/>
              </a:rPr>
              <a:t>: </a:t>
            </a:r>
            <a:r>
              <a:rPr lang="ko-KR" altLang="en-US" b="1" i="0">
                <a:solidFill>
                  <a:srgbClr val="4A5568"/>
                </a:solidFill>
                <a:effectLst/>
                <a:latin typeface="페이퍼로지 5 Medium" pitchFamily="2" charset="-127"/>
                <a:ea typeface="페이퍼로지 5 Medium" pitchFamily="2" charset="-127"/>
              </a:rPr>
              <a:t>적정 수준 초과 투자</a:t>
            </a:r>
            <a:endParaRPr lang="ko-KR" altLang="en-US" b="0" i="0">
              <a:solidFill>
                <a:srgbClr val="4A5568"/>
              </a:solidFill>
              <a:effectLst/>
              <a:latin typeface="페이퍼로지 5 Medium" pitchFamily="2" charset="-127"/>
              <a:ea typeface="페이퍼로지 5 Medium" pitchFamily="2" charset="-127"/>
            </a:endParaRPr>
          </a:p>
          <a:p>
            <a:pPr marL="742950" lvl="1" indent="-285750" algn="l">
              <a:lnSpc>
                <a:spcPct val="150000"/>
              </a:lnSpc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ko-KR" altLang="en-US" b="0" i="0">
                <a:solidFill>
                  <a:srgbClr val="4A5568"/>
                </a:solidFill>
                <a:effectLst/>
                <a:latin typeface="페이퍼로지 5 Medium" pitchFamily="2" charset="-127"/>
                <a:ea typeface="페이퍼로지 5 Medium" pitchFamily="2" charset="-127"/>
              </a:rPr>
              <a:t>강제된 투자 수준 </a:t>
            </a:r>
            <a:r>
              <a:rPr lang="en-US" altLang="ko-KR" b="0" i="0">
                <a:solidFill>
                  <a:srgbClr val="4A5568"/>
                </a:solidFill>
                <a:effectLst/>
                <a:latin typeface="페이퍼로지 5 Medium" pitchFamily="2" charset="-127"/>
                <a:ea typeface="페이퍼로지 5 Medium" pitchFamily="2" charset="-127"/>
              </a:rPr>
              <a:t>&gt; </a:t>
            </a:r>
            <a:r>
              <a:rPr lang="ko-KR" altLang="en-US" b="0" i="0">
                <a:solidFill>
                  <a:srgbClr val="4A5568"/>
                </a:solidFill>
                <a:effectLst/>
                <a:latin typeface="페이퍼로지 5 Medium" pitchFamily="2" charset="-127"/>
                <a:ea typeface="페이퍼로지 5 Medium" pitchFamily="2" charset="-127"/>
              </a:rPr>
              <a:t>시장 최적 수준</a:t>
            </a:r>
          </a:p>
          <a:p>
            <a:pPr marL="742950" lvl="1" indent="-285750" algn="l">
              <a:lnSpc>
                <a:spcPct val="150000"/>
              </a:lnSpc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ko-KR" altLang="en-US" b="0" i="0">
                <a:solidFill>
                  <a:srgbClr val="4A5568"/>
                </a:solidFill>
                <a:effectLst/>
                <a:latin typeface="페이퍼로지 5 Medium" pitchFamily="2" charset="-127"/>
                <a:ea typeface="페이퍼로지 5 Medium" pitchFamily="2" charset="-127"/>
              </a:rPr>
              <a:t>매출 대비 과도한 투자</a:t>
            </a:r>
          </a:p>
          <a:p>
            <a:pPr marL="285750" indent="-285750" algn="l">
              <a:lnSpc>
                <a:spcPct val="150000"/>
              </a:lnSpc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altLang="ko-KR" b="1" i="0">
                <a:solidFill>
                  <a:srgbClr val="4A5568"/>
                </a:solidFill>
                <a:effectLst/>
                <a:latin typeface="페이퍼로지 5 Medium" pitchFamily="2" charset="-127"/>
                <a:ea typeface="페이퍼로지 5 Medium" pitchFamily="2" charset="-127"/>
              </a:rPr>
              <a:t>2</a:t>
            </a:r>
            <a:r>
              <a:rPr lang="ko-KR" altLang="en-US" b="1" i="0">
                <a:solidFill>
                  <a:srgbClr val="4A5568"/>
                </a:solidFill>
                <a:effectLst/>
                <a:latin typeface="페이퍼로지 5 Medium" pitchFamily="2" charset="-127"/>
                <a:ea typeface="페이퍼로지 5 Medium" pitchFamily="2" charset="-127"/>
              </a:rPr>
              <a:t>차 효과</a:t>
            </a:r>
            <a:r>
              <a:rPr lang="en-US" altLang="ko-KR" b="1" i="0">
                <a:solidFill>
                  <a:srgbClr val="4A5568"/>
                </a:solidFill>
                <a:effectLst/>
                <a:latin typeface="페이퍼로지 5 Medium" pitchFamily="2" charset="-127"/>
                <a:ea typeface="페이퍼로지 5 Medium" pitchFamily="2" charset="-127"/>
              </a:rPr>
              <a:t>: </a:t>
            </a:r>
            <a:r>
              <a:rPr lang="ko-KR" altLang="en-US" b="1" i="0">
                <a:solidFill>
                  <a:srgbClr val="4A5568"/>
                </a:solidFill>
                <a:effectLst/>
                <a:latin typeface="페이퍼로지 5 Medium" pitchFamily="2" charset="-127"/>
                <a:ea typeface="페이퍼로지 5 Medium" pitchFamily="2" charset="-127"/>
              </a:rPr>
              <a:t>재투자 여력 감소</a:t>
            </a:r>
            <a:endParaRPr lang="ko-KR" altLang="en-US" b="0" i="0">
              <a:solidFill>
                <a:srgbClr val="4A5568"/>
              </a:solidFill>
              <a:effectLst/>
              <a:latin typeface="페이퍼로지 5 Medium" pitchFamily="2" charset="-127"/>
              <a:ea typeface="페이퍼로지 5 Medium" pitchFamily="2" charset="-127"/>
            </a:endParaRPr>
          </a:p>
          <a:p>
            <a:pPr marL="742950" lvl="1" indent="-285750" algn="l">
              <a:lnSpc>
                <a:spcPct val="150000"/>
              </a:lnSpc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ko-KR" altLang="en-US" b="0" i="0">
                <a:solidFill>
                  <a:srgbClr val="4A5568"/>
                </a:solidFill>
                <a:effectLst/>
                <a:latin typeface="페이퍼로지 5 Medium" pitchFamily="2" charset="-127"/>
                <a:ea typeface="페이퍼로지 5 Medium" pitchFamily="2" charset="-127"/>
              </a:rPr>
              <a:t>낮은 영업이익 → 내부 유보 감소</a:t>
            </a:r>
          </a:p>
          <a:p>
            <a:pPr marL="742950" lvl="1" indent="-285750" algn="l">
              <a:lnSpc>
                <a:spcPct val="150000"/>
              </a:lnSpc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ko-KR" altLang="en-US" b="0" i="0">
                <a:solidFill>
                  <a:srgbClr val="4A5568"/>
                </a:solidFill>
                <a:effectLst/>
                <a:latin typeface="페이퍼로지 5 Medium" pitchFamily="2" charset="-127"/>
                <a:ea typeface="페이퍼로지 5 Medium" pitchFamily="2" charset="-127"/>
              </a:rPr>
              <a:t>미래 투자 재원 고갈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C7FF78-7DA2-3BFF-F0E3-6E7580F712D7}"/>
              </a:ext>
            </a:extLst>
          </p:cNvPr>
          <p:cNvSpPr txBox="1"/>
          <p:nvPr/>
        </p:nvSpPr>
        <p:spPr>
          <a:xfrm>
            <a:off x="1663692" y="7756190"/>
            <a:ext cx="9144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>
                <a:latin typeface="페이퍼로지 4 Regular" pitchFamily="2" charset="-127"/>
                <a:ea typeface="페이퍼로지 4 Regular" pitchFamily="2" charset="-127"/>
              </a:rPr>
              <a:t>* </a:t>
            </a:r>
            <a:r>
              <a:rPr lang="ko-KR" altLang="en-US" sz="1100">
                <a:latin typeface="페이퍼로지 4 Regular" pitchFamily="2" charset="-127"/>
                <a:ea typeface="페이퍼로지 4 Regular" pitchFamily="2" charset="-127"/>
              </a:rPr>
              <a:t>출처</a:t>
            </a:r>
            <a:r>
              <a:rPr lang="en-US" altLang="ko-KR" sz="1100">
                <a:latin typeface="페이퍼로지 4 Regular" pitchFamily="2" charset="-127"/>
                <a:ea typeface="페이퍼로지 4 Regular" pitchFamily="2" charset="-127"/>
              </a:rPr>
              <a:t>: </a:t>
            </a:r>
            <a:r>
              <a:rPr lang="ko-KR" altLang="en-US" sz="1100">
                <a:latin typeface="페이퍼로지 4 Regular" pitchFamily="2" charset="-127"/>
                <a:ea typeface="페이퍼로지 4 Regular" pitchFamily="2" charset="-127"/>
              </a:rPr>
              <a:t>각년도 재산사항공표집</a:t>
            </a:r>
            <a:endParaRPr lang="ko-KR" altLang="en-US" sz="1100"/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2BC10C5A-C863-5184-CC3C-B32314A66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2067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6BF10A-D996-A244-55CA-33E88D45E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6">
            <a:extLst>
              <a:ext uri="{FF2B5EF4-FFF2-40B4-BE49-F238E27FC236}">
                <a16:creationId xmlns:a16="http://schemas.microsoft.com/office/drawing/2014/main" id="{0EE162F2-68ED-A49B-097B-4DA4AB8A8E4C}"/>
              </a:ext>
            </a:extLst>
          </p:cNvPr>
          <p:cNvSpPr/>
          <p:nvPr/>
        </p:nvSpPr>
        <p:spPr>
          <a:xfrm>
            <a:off x="13094067" y="5997678"/>
            <a:ext cx="4802044" cy="4409149"/>
          </a:xfrm>
          <a:custGeom>
            <a:avLst/>
            <a:gdLst/>
            <a:ahLst/>
            <a:cxnLst/>
            <a:rect l="l" t="t" r="r" b="b"/>
            <a:pathLst>
              <a:path w="4802044" h="4409149">
                <a:moveTo>
                  <a:pt x="0" y="0"/>
                </a:moveTo>
                <a:lnTo>
                  <a:pt x="4802044" y="0"/>
                </a:lnTo>
                <a:lnTo>
                  <a:pt x="4802044" y="4409150"/>
                </a:lnTo>
                <a:lnTo>
                  <a:pt x="0" y="44091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33A7794B-1B1B-C8A6-035D-62A086F3C012}"/>
              </a:ext>
            </a:extLst>
          </p:cNvPr>
          <p:cNvSpPr/>
          <p:nvPr/>
        </p:nvSpPr>
        <p:spPr>
          <a:xfrm flipV="1">
            <a:off x="1028700" y="1169525"/>
            <a:ext cx="16230600" cy="0"/>
          </a:xfrm>
          <a:prstGeom prst="line">
            <a:avLst/>
          </a:prstGeom>
          <a:ln w="19050" cap="flat">
            <a:solidFill>
              <a:srgbClr val="D9D9D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38AB849-399D-2B27-843D-A31F0A1B4D26}"/>
              </a:ext>
            </a:extLst>
          </p:cNvPr>
          <p:cNvSpPr txBox="1"/>
          <p:nvPr/>
        </p:nvSpPr>
        <p:spPr>
          <a:xfrm>
            <a:off x="1028700" y="1399848"/>
            <a:ext cx="1502946" cy="11319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579"/>
              </a:lnSpc>
            </a:pPr>
            <a:r>
              <a:rPr lang="en-US" altLang="ko-KR" sz="7983" spc="-239">
                <a:solidFill>
                  <a:srgbClr val="15A9F1"/>
                </a:solidFill>
                <a:latin typeface="페이퍼로지 5 Medium" pitchFamily="2" charset="-127"/>
                <a:ea typeface="페이퍼로지 5 Medium" pitchFamily="2" charset="-127"/>
                <a:cs typeface="Nanum Square Bold"/>
                <a:sym typeface="Nanum Square Bold"/>
              </a:rPr>
              <a:t>02</a:t>
            </a:r>
            <a:endParaRPr lang="en-US" sz="7983" spc="-239">
              <a:solidFill>
                <a:srgbClr val="15A9F1"/>
              </a:solidFill>
              <a:latin typeface="페이퍼로지 5 Medium" pitchFamily="2" charset="-127"/>
              <a:ea typeface="페이퍼로지 5 Medium" pitchFamily="2" charset="-127"/>
              <a:cs typeface="Nanum Square Bold"/>
              <a:sym typeface="Nanum Square Bold"/>
            </a:endParaRP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0B05FA63-6201-BC4C-60A6-F39421FCCF8E}"/>
              </a:ext>
            </a:extLst>
          </p:cNvPr>
          <p:cNvSpPr txBox="1"/>
          <p:nvPr/>
        </p:nvSpPr>
        <p:spPr>
          <a:xfrm>
            <a:off x="2531646" y="1626872"/>
            <a:ext cx="12174954" cy="15388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000"/>
              </a:lnSpc>
            </a:pPr>
            <a:r>
              <a:rPr lang="ko-KR" altLang="en-US" sz="5000">
                <a:solidFill>
                  <a:srgbClr val="454444"/>
                </a:solidFill>
                <a:latin typeface="페이퍼로지 5 Medium" pitchFamily="2" charset="-127"/>
                <a:ea typeface="페이퍼로지 5 Medium" pitchFamily="2" charset="-127"/>
                <a:cs typeface="Nanum Square Bold"/>
                <a:sym typeface="Nanum Square Bold"/>
              </a:rPr>
              <a:t>현황분석 </a:t>
            </a:r>
            <a:r>
              <a:rPr lang="en-US" altLang="ko-KR" sz="5000">
                <a:solidFill>
                  <a:srgbClr val="454444"/>
                </a:solidFill>
                <a:latin typeface="페이퍼로지 5 Medium" pitchFamily="2" charset="-127"/>
                <a:ea typeface="페이퍼로지 5 Medium" pitchFamily="2" charset="-127"/>
                <a:cs typeface="Nanum Square Bold"/>
                <a:sym typeface="Nanum Square Bold"/>
              </a:rPr>
              <a:t>– </a:t>
            </a:r>
            <a:r>
              <a:rPr lang="ko-KR" altLang="en-US" sz="5000">
                <a:solidFill>
                  <a:srgbClr val="454444"/>
                </a:solidFill>
                <a:latin typeface="페이퍼로지 5 Medium" pitchFamily="2" charset="-127"/>
                <a:ea typeface="페이퍼로지 5 Medium" pitchFamily="2" charset="-127"/>
                <a:cs typeface="Nanum Square Bold"/>
                <a:sym typeface="Nanum Square Bold"/>
              </a:rPr>
              <a:t>예시</a:t>
            </a:r>
            <a:r>
              <a:rPr lang="en-US" altLang="ko-KR" sz="5000">
                <a:solidFill>
                  <a:srgbClr val="454444"/>
                </a:solidFill>
                <a:latin typeface="페이퍼로지 5 Medium" pitchFamily="2" charset="-127"/>
                <a:ea typeface="페이퍼로지 5 Medium" pitchFamily="2" charset="-127"/>
                <a:cs typeface="Nanum Square Bold"/>
                <a:sym typeface="Nanum Square Bold"/>
              </a:rPr>
              <a:t>)</a:t>
            </a:r>
            <a:r>
              <a:rPr lang="ko-KR" altLang="en-US" sz="5000">
                <a:solidFill>
                  <a:srgbClr val="454444"/>
                </a:solidFill>
                <a:latin typeface="페이퍼로지 5 Medium" pitchFamily="2" charset="-127"/>
                <a:ea typeface="페이퍼로지 5 Medium" pitchFamily="2" charset="-127"/>
                <a:cs typeface="Nanum Square Bold"/>
                <a:sym typeface="Nanum Square Bold"/>
              </a:rPr>
              <a:t> </a:t>
            </a:r>
            <a:r>
              <a:rPr lang="en-US" altLang="ko-KR" sz="5000">
                <a:solidFill>
                  <a:srgbClr val="454444"/>
                </a:solidFill>
                <a:latin typeface="페이퍼로지 5 Medium" pitchFamily="2" charset="-127"/>
                <a:ea typeface="페이퍼로지 5 Medium" pitchFamily="2" charset="-127"/>
                <a:cs typeface="Nanum Square Bold"/>
                <a:sym typeface="Nanum Square Bold"/>
              </a:rPr>
              <a:t>TV</a:t>
            </a:r>
            <a:r>
              <a:rPr lang="ko-KR" altLang="en-US" sz="5000">
                <a:solidFill>
                  <a:srgbClr val="454444"/>
                </a:solidFill>
                <a:latin typeface="페이퍼로지 5 Medium" pitchFamily="2" charset="-127"/>
                <a:ea typeface="페이퍼로지 5 Medium" pitchFamily="2" charset="-127"/>
                <a:cs typeface="Nanum Square Bold"/>
                <a:sym typeface="Nanum Square Bold"/>
              </a:rPr>
              <a:t>조선 콘텐츠 투자 실적</a:t>
            </a:r>
            <a:r>
              <a:rPr lang="en-US" altLang="ko-KR" sz="5000">
                <a:solidFill>
                  <a:srgbClr val="454444"/>
                </a:solidFill>
                <a:latin typeface="페이퍼로지 5 Medium" pitchFamily="2" charset="-127"/>
                <a:ea typeface="페이퍼로지 5 Medium" pitchFamily="2" charset="-127"/>
                <a:cs typeface="Nanum Square Bold"/>
                <a:sym typeface="Nanum Square Bold"/>
              </a:rPr>
              <a:t> </a:t>
            </a:r>
            <a:endParaRPr lang="ko-KR" altLang="en-US" sz="5000">
              <a:solidFill>
                <a:srgbClr val="454444"/>
              </a:solidFill>
              <a:latin typeface="페이퍼로지 5 Medium" pitchFamily="2" charset="-127"/>
              <a:ea typeface="페이퍼로지 5 Medium" pitchFamily="2" charset="-127"/>
              <a:cs typeface="Nanum Square Bold"/>
              <a:sym typeface="Nanum Square Bold"/>
            </a:endParaRPr>
          </a:p>
          <a:p>
            <a:pPr>
              <a:lnSpc>
                <a:spcPts val="6000"/>
              </a:lnSpc>
            </a:pPr>
            <a:endParaRPr lang="en-US" altLang="ko-KR" sz="5000">
              <a:solidFill>
                <a:srgbClr val="454444"/>
              </a:solidFill>
              <a:latin typeface="페이퍼로지 5 Medium" pitchFamily="2" charset="-127"/>
              <a:ea typeface="페이퍼로지 5 Medium" pitchFamily="2" charset="-127"/>
              <a:cs typeface="Nanum Square Bold"/>
              <a:sym typeface="Nanum Square Bold"/>
            </a:endParaRP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D86E3ECD-45E7-451D-40E9-105EEA1D01AD}"/>
              </a:ext>
            </a:extLst>
          </p:cNvPr>
          <p:cNvSpPr txBox="1"/>
          <p:nvPr/>
        </p:nvSpPr>
        <p:spPr>
          <a:xfrm>
            <a:off x="1123950" y="811675"/>
            <a:ext cx="3295650" cy="2239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888"/>
              </a:lnSpc>
            </a:pPr>
            <a:r>
              <a:rPr lang="ko-KR" altLang="en-US" sz="1574">
                <a:solidFill>
                  <a:srgbClr val="545454"/>
                </a:solidFill>
                <a:latin typeface="페이퍼로지 3 Light" pitchFamily="2" charset="-127"/>
                <a:ea typeface="페이퍼로지 3 Light" pitchFamily="2" charset="-127"/>
                <a:cs typeface="Nanum Square"/>
                <a:sym typeface="Nanum Square"/>
              </a:rPr>
              <a:t>한국언론학회 </a:t>
            </a:r>
            <a:r>
              <a:rPr lang="en-US" altLang="ko-KR" sz="1574">
                <a:solidFill>
                  <a:srgbClr val="545454"/>
                </a:solidFill>
                <a:latin typeface="페이퍼로지 3 Light" pitchFamily="2" charset="-127"/>
                <a:ea typeface="페이퍼로지 3 Light" pitchFamily="2" charset="-127"/>
                <a:cs typeface="Nanum Square"/>
                <a:sym typeface="Nanum Square"/>
              </a:rPr>
              <a:t>2025 </a:t>
            </a:r>
            <a:r>
              <a:rPr lang="ko-KR" altLang="en-US" sz="1574">
                <a:solidFill>
                  <a:srgbClr val="545454"/>
                </a:solidFill>
                <a:latin typeface="페이퍼로지 3 Light" pitchFamily="2" charset="-127"/>
                <a:ea typeface="페이퍼로지 3 Light" pitchFamily="2" charset="-127"/>
                <a:cs typeface="Nanum Square"/>
                <a:sym typeface="Nanum Square"/>
              </a:rPr>
              <a:t>가을철 학술대회</a:t>
            </a:r>
            <a:endParaRPr lang="en-US" altLang="ko-KR" sz="1574">
              <a:solidFill>
                <a:srgbClr val="545454"/>
              </a:solidFill>
              <a:latin typeface="페이퍼로지 3 Light" pitchFamily="2" charset="-127"/>
              <a:ea typeface="페이퍼로지 3 Light" pitchFamily="2" charset="-127"/>
              <a:cs typeface="Nanum Square"/>
              <a:sym typeface="Nanum Square"/>
            </a:endParaRPr>
          </a:p>
        </p:txBody>
      </p:sp>
      <p:sp>
        <p:nvSpPr>
          <p:cNvPr id="20" name="TextBox 12">
            <a:extLst>
              <a:ext uri="{FF2B5EF4-FFF2-40B4-BE49-F238E27FC236}">
                <a16:creationId xmlns:a16="http://schemas.microsoft.com/office/drawing/2014/main" id="{DE4542FA-4A37-5A15-DA94-9852E912C2BF}"/>
              </a:ext>
            </a:extLst>
          </p:cNvPr>
          <p:cNvSpPr txBox="1"/>
          <p:nvPr/>
        </p:nvSpPr>
        <p:spPr>
          <a:xfrm>
            <a:off x="15135245" y="792625"/>
            <a:ext cx="2124055" cy="2116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768"/>
              </a:lnSpc>
            </a:pPr>
            <a:r>
              <a:rPr lang="ko-KR" altLang="en-US" sz="1474" b="1">
                <a:solidFill>
                  <a:srgbClr val="545454"/>
                </a:solidFill>
                <a:latin typeface="페이퍼로지 6 SemiBold" pitchFamily="2" charset="-127"/>
                <a:ea typeface="페이퍼로지 6 SemiBold" pitchFamily="2" charset="-127"/>
                <a:cs typeface="Nanum Square Bold"/>
                <a:sym typeface="Nanum Square Bold"/>
              </a:rPr>
              <a:t>선문대학교</a:t>
            </a:r>
            <a:endParaRPr lang="en-US" sz="1474" b="1">
              <a:solidFill>
                <a:srgbClr val="545454"/>
              </a:solidFill>
              <a:latin typeface="페이퍼로지 6 SemiBold" pitchFamily="2" charset="-127"/>
              <a:ea typeface="페이퍼로지 6 SemiBold" pitchFamily="2" charset="-127"/>
              <a:cs typeface="Nanum Square Bold"/>
              <a:sym typeface="Nanum Square Bold"/>
            </a:endParaRPr>
          </a:p>
        </p:txBody>
      </p:sp>
      <p:sp>
        <p:nvSpPr>
          <p:cNvPr id="28" name="TextBox 16">
            <a:extLst>
              <a:ext uri="{FF2B5EF4-FFF2-40B4-BE49-F238E27FC236}">
                <a16:creationId xmlns:a16="http://schemas.microsoft.com/office/drawing/2014/main" id="{2DD239DA-1622-CA1C-AC4C-3B68018847EF}"/>
              </a:ext>
            </a:extLst>
          </p:cNvPr>
          <p:cNvSpPr txBox="1"/>
          <p:nvPr/>
        </p:nvSpPr>
        <p:spPr>
          <a:xfrm>
            <a:off x="2567031" y="8726892"/>
            <a:ext cx="13827841" cy="487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835"/>
              </a:lnSpc>
            </a:pPr>
            <a:r>
              <a:rPr lang="ko-KR" altLang="en-US" sz="3196">
                <a:solidFill>
                  <a:srgbClr val="FFFFFF"/>
                </a:solidFill>
                <a:latin typeface="페이퍼로지 6 SemiBold" pitchFamily="2" charset="-127"/>
                <a:ea typeface="페이퍼로지 6 SemiBold" pitchFamily="2" charset="-127"/>
                <a:cs typeface="Nanum Square Bold"/>
                <a:sym typeface="Nanum Square Bold"/>
              </a:rPr>
              <a:t>매출 감소 시에도 투자 수준 유지 강제 → 적정 수준 초과 투자 가능성</a:t>
            </a:r>
            <a:endParaRPr lang="en-US" sz="3196">
              <a:solidFill>
                <a:srgbClr val="FFFFFF"/>
              </a:solidFill>
              <a:latin typeface="페이퍼로지 6 SemiBold" pitchFamily="2" charset="-127"/>
              <a:ea typeface="페이퍼로지 6 SemiBold" pitchFamily="2" charset="-127"/>
              <a:cs typeface="Nanum Square Bold"/>
              <a:sym typeface="Nanum Square Bold"/>
            </a:endParaRPr>
          </a:p>
        </p:txBody>
      </p:sp>
      <p:pic>
        <p:nvPicPr>
          <p:cNvPr id="10" name="그림 9" descr="텍스트, 스크린샷, 도표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15B6A07-2AC0-32AC-A7A5-E14D407F013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1775" y="2857500"/>
            <a:ext cx="11811000" cy="685501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4068209-FBFF-B400-669F-64700EC5B429}"/>
              </a:ext>
            </a:extLst>
          </p:cNvPr>
          <p:cNvSpPr txBox="1"/>
          <p:nvPr/>
        </p:nvSpPr>
        <p:spPr>
          <a:xfrm>
            <a:off x="3276600" y="9657507"/>
            <a:ext cx="9144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>
                <a:latin typeface="페이퍼로지 4 Regular" pitchFamily="2" charset="-127"/>
                <a:ea typeface="페이퍼로지 4 Regular" pitchFamily="2" charset="-127"/>
              </a:rPr>
              <a:t>* </a:t>
            </a:r>
            <a:r>
              <a:rPr lang="ko-KR" altLang="en-US" sz="1100">
                <a:latin typeface="페이퍼로지 4 Regular" pitchFamily="2" charset="-127"/>
                <a:ea typeface="페이퍼로지 4 Regular" pitchFamily="2" charset="-127"/>
              </a:rPr>
              <a:t>출처</a:t>
            </a:r>
            <a:r>
              <a:rPr lang="en-US" altLang="ko-KR" sz="1100">
                <a:latin typeface="페이퍼로지 4 Regular" pitchFamily="2" charset="-127"/>
                <a:ea typeface="페이퍼로지 4 Regular" pitchFamily="2" charset="-127"/>
              </a:rPr>
              <a:t>: </a:t>
            </a:r>
            <a:r>
              <a:rPr lang="ko-KR" altLang="en-US" sz="1100">
                <a:latin typeface="페이퍼로지 4 Regular" pitchFamily="2" charset="-127"/>
                <a:ea typeface="페이퍼로지 4 Regular" pitchFamily="2" charset="-127"/>
              </a:rPr>
              <a:t>각년도 재산사항공표집 및 언론종합 </a:t>
            </a:r>
            <a:endParaRPr lang="ko-KR" altLang="en-US" sz="110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4EAB5B5-6DDE-248F-964E-84485CF98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9999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39F001-52E1-4994-1076-1282398B4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7A20969-F8D0-4539-172E-46D7CFC7CA8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/>
              <a:t>투자의 역설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17C7903-25C8-D973-34B5-B68F7AFB10E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3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820674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79F260-C240-B6CC-7D46-AF25D83A2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929783AD-F246-1BB5-027B-FBA7DCB3EC70}"/>
              </a:ext>
            </a:extLst>
          </p:cNvPr>
          <p:cNvSpPr/>
          <p:nvPr/>
        </p:nvSpPr>
        <p:spPr>
          <a:xfrm flipV="1">
            <a:off x="1028700" y="1169525"/>
            <a:ext cx="16230600" cy="0"/>
          </a:xfrm>
          <a:prstGeom prst="line">
            <a:avLst/>
          </a:prstGeom>
          <a:ln w="19050" cap="flat">
            <a:solidFill>
              <a:srgbClr val="D9D9D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15FA18D8-E6BD-E038-4704-1E0C1BDD6735}"/>
              </a:ext>
            </a:extLst>
          </p:cNvPr>
          <p:cNvSpPr txBox="1"/>
          <p:nvPr/>
        </p:nvSpPr>
        <p:spPr>
          <a:xfrm>
            <a:off x="1028700" y="1399848"/>
            <a:ext cx="1502946" cy="11319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579"/>
              </a:lnSpc>
            </a:pPr>
            <a:r>
              <a:rPr lang="en-US" altLang="ko-KR" sz="7983" spc="-239">
                <a:solidFill>
                  <a:srgbClr val="15A9F1"/>
                </a:solidFill>
                <a:latin typeface="페이퍼로지 5 Medium" pitchFamily="2" charset="-127"/>
                <a:ea typeface="페이퍼로지 5 Medium" pitchFamily="2" charset="-127"/>
                <a:cs typeface="Nanum Square Bold"/>
                <a:sym typeface="Nanum Square Bold"/>
              </a:rPr>
              <a:t>03</a:t>
            </a:r>
            <a:endParaRPr lang="en-US" sz="7983" spc="-239">
              <a:solidFill>
                <a:srgbClr val="15A9F1"/>
              </a:solidFill>
              <a:latin typeface="페이퍼로지 5 Medium" pitchFamily="2" charset="-127"/>
              <a:ea typeface="페이퍼로지 5 Medium" pitchFamily="2" charset="-127"/>
              <a:cs typeface="Nanum Square Bold"/>
              <a:sym typeface="Nanum Square Bold"/>
            </a:endParaRP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F65A9073-A4C5-EE7B-E6CF-73E35264881F}"/>
              </a:ext>
            </a:extLst>
          </p:cNvPr>
          <p:cNvSpPr txBox="1"/>
          <p:nvPr/>
        </p:nvSpPr>
        <p:spPr>
          <a:xfrm>
            <a:off x="2531646" y="1626872"/>
            <a:ext cx="12174954" cy="15388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000"/>
              </a:lnSpc>
            </a:pPr>
            <a:r>
              <a:rPr lang="ko-KR" altLang="en-US" sz="5000">
                <a:solidFill>
                  <a:srgbClr val="454444"/>
                </a:solidFill>
                <a:latin typeface="페이퍼로지 5 Medium" pitchFamily="2" charset="-127"/>
                <a:ea typeface="페이퍼로지 5 Medium" pitchFamily="2" charset="-127"/>
                <a:cs typeface="Nanum Square Bold"/>
                <a:sym typeface="Nanum Square Bold"/>
              </a:rPr>
              <a:t>투자의 역설 </a:t>
            </a:r>
            <a:r>
              <a:rPr lang="en-US" altLang="ko-KR" sz="5000">
                <a:solidFill>
                  <a:srgbClr val="454444"/>
                </a:solidFill>
                <a:latin typeface="페이퍼로지 5 Medium" pitchFamily="2" charset="-127"/>
                <a:ea typeface="페이퍼로지 5 Medium" pitchFamily="2" charset="-127"/>
                <a:cs typeface="Nanum Square Bold"/>
                <a:sym typeface="Nanum Square Bold"/>
              </a:rPr>
              <a:t>- </a:t>
            </a:r>
            <a:r>
              <a:rPr lang="en-US" altLang="ko-KR" sz="5000">
                <a:solidFill>
                  <a:srgbClr val="454444"/>
                </a:solidFill>
                <a:latin typeface="페이퍼로지 5 Medium" pitchFamily="2" charset="-127"/>
                <a:ea typeface="페이퍼로지 5 Medium" pitchFamily="2" charset="-127"/>
              </a:rPr>
              <a:t>1</a:t>
            </a:r>
            <a:r>
              <a:rPr lang="ko-KR" altLang="en-US" sz="5000">
                <a:solidFill>
                  <a:srgbClr val="454444"/>
                </a:solidFill>
                <a:latin typeface="페이퍼로지 5 Medium" pitchFamily="2" charset="-127"/>
                <a:ea typeface="페이퍼로지 5 Medium" pitchFamily="2" charset="-127"/>
              </a:rPr>
              <a:t>단계</a:t>
            </a:r>
            <a:r>
              <a:rPr lang="en-US" altLang="ko-KR" sz="5000">
                <a:solidFill>
                  <a:srgbClr val="454444"/>
                </a:solidFill>
                <a:latin typeface="페이퍼로지 5 Medium" pitchFamily="2" charset="-127"/>
                <a:ea typeface="페이퍼로지 5 Medium" pitchFamily="2" charset="-127"/>
              </a:rPr>
              <a:t>: </a:t>
            </a:r>
            <a:r>
              <a:rPr lang="ko-KR" altLang="en-US" sz="5000">
                <a:solidFill>
                  <a:srgbClr val="454444"/>
                </a:solidFill>
                <a:latin typeface="페이퍼로지 5 Medium" pitchFamily="2" charset="-127"/>
                <a:ea typeface="페이퍼로지 5 Medium" pitchFamily="2" charset="-127"/>
              </a:rPr>
              <a:t>적정 수준 초과 투자 강제</a:t>
            </a:r>
          </a:p>
          <a:p>
            <a:pPr>
              <a:lnSpc>
                <a:spcPts val="6000"/>
              </a:lnSpc>
            </a:pPr>
            <a:endParaRPr lang="en-US" altLang="ko-KR" sz="5000">
              <a:solidFill>
                <a:srgbClr val="454444"/>
              </a:solidFill>
              <a:latin typeface="페이퍼로지 5 Medium" pitchFamily="2" charset="-127"/>
              <a:ea typeface="페이퍼로지 5 Medium" pitchFamily="2" charset="-127"/>
              <a:cs typeface="Nanum Square Bold"/>
              <a:sym typeface="Nanum Square Bold"/>
            </a:endParaRP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062AECA2-04AC-9540-71B2-89BD9658C9AE}"/>
              </a:ext>
            </a:extLst>
          </p:cNvPr>
          <p:cNvSpPr txBox="1"/>
          <p:nvPr/>
        </p:nvSpPr>
        <p:spPr>
          <a:xfrm>
            <a:off x="1123950" y="811675"/>
            <a:ext cx="3295650" cy="2239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888"/>
              </a:lnSpc>
            </a:pPr>
            <a:r>
              <a:rPr lang="ko-KR" altLang="en-US" sz="1574">
                <a:solidFill>
                  <a:srgbClr val="545454"/>
                </a:solidFill>
                <a:latin typeface="페이퍼로지 3 Light" pitchFamily="2" charset="-127"/>
                <a:ea typeface="페이퍼로지 3 Light" pitchFamily="2" charset="-127"/>
                <a:cs typeface="Nanum Square"/>
                <a:sym typeface="Nanum Square"/>
              </a:rPr>
              <a:t>한국언론학회 </a:t>
            </a:r>
            <a:r>
              <a:rPr lang="en-US" altLang="ko-KR" sz="1574">
                <a:solidFill>
                  <a:srgbClr val="545454"/>
                </a:solidFill>
                <a:latin typeface="페이퍼로지 3 Light" pitchFamily="2" charset="-127"/>
                <a:ea typeface="페이퍼로지 3 Light" pitchFamily="2" charset="-127"/>
                <a:cs typeface="Nanum Square"/>
                <a:sym typeface="Nanum Square"/>
              </a:rPr>
              <a:t>2025 </a:t>
            </a:r>
            <a:r>
              <a:rPr lang="ko-KR" altLang="en-US" sz="1574">
                <a:solidFill>
                  <a:srgbClr val="545454"/>
                </a:solidFill>
                <a:latin typeface="페이퍼로지 3 Light" pitchFamily="2" charset="-127"/>
                <a:ea typeface="페이퍼로지 3 Light" pitchFamily="2" charset="-127"/>
                <a:cs typeface="Nanum Square"/>
                <a:sym typeface="Nanum Square"/>
              </a:rPr>
              <a:t>가을철 학술대회</a:t>
            </a:r>
            <a:endParaRPr lang="en-US" altLang="ko-KR" sz="1574">
              <a:solidFill>
                <a:srgbClr val="545454"/>
              </a:solidFill>
              <a:latin typeface="페이퍼로지 3 Light" pitchFamily="2" charset="-127"/>
              <a:ea typeface="페이퍼로지 3 Light" pitchFamily="2" charset="-127"/>
              <a:cs typeface="Nanum Square"/>
              <a:sym typeface="Nanum Square"/>
            </a:endParaRPr>
          </a:p>
        </p:txBody>
      </p:sp>
      <p:sp>
        <p:nvSpPr>
          <p:cNvPr id="20" name="TextBox 12">
            <a:extLst>
              <a:ext uri="{FF2B5EF4-FFF2-40B4-BE49-F238E27FC236}">
                <a16:creationId xmlns:a16="http://schemas.microsoft.com/office/drawing/2014/main" id="{D8293AD0-3736-AB0B-F4F8-9B3639B2E222}"/>
              </a:ext>
            </a:extLst>
          </p:cNvPr>
          <p:cNvSpPr txBox="1"/>
          <p:nvPr/>
        </p:nvSpPr>
        <p:spPr>
          <a:xfrm>
            <a:off x="15135245" y="792625"/>
            <a:ext cx="2124055" cy="2116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768"/>
              </a:lnSpc>
            </a:pPr>
            <a:r>
              <a:rPr lang="ko-KR" altLang="en-US" sz="1474" b="1">
                <a:solidFill>
                  <a:srgbClr val="545454"/>
                </a:solidFill>
                <a:latin typeface="페이퍼로지 6 SemiBold" pitchFamily="2" charset="-127"/>
                <a:ea typeface="페이퍼로지 6 SemiBold" pitchFamily="2" charset="-127"/>
                <a:cs typeface="Nanum Square Bold"/>
                <a:sym typeface="Nanum Square Bold"/>
              </a:rPr>
              <a:t>선문대학교</a:t>
            </a:r>
            <a:endParaRPr lang="en-US" sz="1474" b="1">
              <a:solidFill>
                <a:srgbClr val="545454"/>
              </a:solidFill>
              <a:latin typeface="페이퍼로지 6 SemiBold" pitchFamily="2" charset="-127"/>
              <a:ea typeface="페이퍼로지 6 SemiBold" pitchFamily="2" charset="-127"/>
              <a:cs typeface="Nanum Square Bold"/>
              <a:sym typeface="Nanum Square Bold"/>
            </a:endParaRPr>
          </a:p>
        </p:txBody>
      </p:sp>
      <p:sp>
        <p:nvSpPr>
          <p:cNvPr id="5" name="Freeform 11">
            <a:extLst>
              <a:ext uri="{FF2B5EF4-FFF2-40B4-BE49-F238E27FC236}">
                <a16:creationId xmlns:a16="http://schemas.microsoft.com/office/drawing/2014/main" id="{CB22AF21-E6AF-2C55-032F-F339BC03ED7C}"/>
              </a:ext>
            </a:extLst>
          </p:cNvPr>
          <p:cNvSpPr/>
          <p:nvPr/>
        </p:nvSpPr>
        <p:spPr>
          <a:xfrm>
            <a:off x="1138739" y="2893711"/>
            <a:ext cx="496132" cy="493858"/>
          </a:xfrm>
          <a:custGeom>
            <a:avLst/>
            <a:gdLst/>
            <a:ahLst/>
            <a:cxnLst/>
            <a:rect l="l" t="t" r="r" b="b"/>
            <a:pathLst>
              <a:path w="496132" h="493858">
                <a:moveTo>
                  <a:pt x="0" y="0"/>
                </a:moveTo>
                <a:lnTo>
                  <a:pt x="496132" y="0"/>
                </a:lnTo>
                <a:lnTo>
                  <a:pt x="496132" y="493858"/>
                </a:lnTo>
                <a:lnTo>
                  <a:pt x="0" y="4938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7EC92E-1B15-F5D8-2F77-53CF8010B5FC}"/>
              </a:ext>
            </a:extLst>
          </p:cNvPr>
          <p:cNvSpPr txBox="1"/>
          <p:nvPr/>
        </p:nvSpPr>
        <p:spPr>
          <a:xfrm>
            <a:off x="1670313" y="2926495"/>
            <a:ext cx="9144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250"/>
              </a:spcBef>
              <a:spcAft>
                <a:spcPts val="1500"/>
              </a:spcAft>
              <a:buNone/>
            </a:pPr>
            <a:r>
              <a:rPr lang="ko-KR" altLang="en-US" sz="2800" b="1" i="0">
                <a:solidFill>
                  <a:srgbClr val="2A5298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적정투자 </a:t>
            </a:r>
            <a:r>
              <a:rPr lang="en-US" altLang="ko-KR" sz="2800" b="1" i="0">
                <a:solidFill>
                  <a:srgbClr val="2A5298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vs </a:t>
            </a:r>
            <a:r>
              <a:rPr lang="ko-KR" altLang="en-US" sz="2800" b="1" i="0">
                <a:solidFill>
                  <a:srgbClr val="2A5298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강제투자</a:t>
            </a: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C85E424A-2546-345F-545D-0C57D627C107}"/>
              </a:ext>
            </a:extLst>
          </p:cNvPr>
          <p:cNvGrpSpPr/>
          <p:nvPr/>
        </p:nvGrpSpPr>
        <p:grpSpPr>
          <a:xfrm>
            <a:off x="1028700" y="3844449"/>
            <a:ext cx="7948076" cy="4303756"/>
            <a:chOff x="0" y="0"/>
            <a:chExt cx="3869376" cy="2095205"/>
          </a:xfrm>
        </p:grpSpPr>
        <p:sp>
          <p:nvSpPr>
            <p:cNvPr id="9" name="Freeform 4">
              <a:extLst>
                <a:ext uri="{FF2B5EF4-FFF2-40B4-BE49-F238E27FC236}">
                  <a16:creationId xmlns:a16="http://schemas.microsoft.com/office/drawing/2014/main" id="{CA0699A6-2EB3-AA1E-8E08-F840337C7DE3}"/>
                </a:ext>
              </a:extLst>
            </p:cNvPr>
            <p:cNvSpPr/>
            <p:nvPr/>
          </p:nvSpPr>
          <p:spPr>
            <a:xfrm>
              <a:off x="0" y="0"/>
              <a:ext cx="3869376" cy="2095205"/>
            </a:xfrm>
            <a:custGeom>
              <a:avLst/>
              <a:gdLst/>
              <a:ahLst/>
              <a:cxnLst/>
              <a:rect l="l" t="t" r="r" b="b"/>
              <a:pathLst>
                <a:path w="3869376" h="2095205">
                  <a:moveTo>
                    <a:pt x="14611" y="0"/>
                  </a:moveTo>
                  <a:lnTo>
                    <a:pt x="3854765" y="0"/>
                  </a:lnTo>
                  <a:cubicBezTo>
                    <a:pt x="3858640" y="0"/>
                    <a:pt x="3862357" y="1539"/>
                    <a:pt x="3865097" y="4279"/>
                  </a:cubicBezTo>
                  <a:cubicBezTo>
                    <a:pt x="3867837" y="7020"/>
                    <a:pt x="3869376" y="10736"/>
                    <a:pt x="3869376" y="14611"/>
                  </a:cubicBezTo>
                  <a:lnTo>
                    <a:pt x="3869376" y="2080594"/>
                  </a:lnTo>
                  <a:cubicBezTo>
                    <a:pt x="3869376" y="2088664"/>
                    <a:pt x="3862835" y="2095205"/>
                    <a:pt x="3854765" y="2095205"/>
                  </a:cubicBezTo>
                  <a:lnTo>
                    <a:pt x="14611" y="2095205"/>
                  </a:lnTo>
                  <a:cubicBezTo>
                    <a:pt x="10736" y="2095205"/>
                    <a:pt x="7020" y="2093666"/>
                    <a:pt x="4279" y="2090926"/>
                  </a:cubicBezTo>
                  <a:cubicBezTo>
                    <a:pt x="1539" y="2088186"/>
                    <a:pt x="0" y="2084469"/>
                    <a:pt x="0" y="2080594"/>
                  </a:cubicBezTo>
                  <a:lnTo>
                    <a:pt x="0" y="14611"/>
                  </a:lnTo>
                  <a:cubicBezTo>
                    <a:pt x="0" y="6542"/>
                    <a:pt x="6542" y="0"/>
                    <a:pt x="1461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15A9F1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" name="TextBox 5">
              <a:extLst>
                <a:ext uri="{FF2B5EF4-FFF2-40B4-BE49-F238E27FC236}">
                  <a16:creationId xmlns:a16="http://schemas.microsoft.com/office/drawing/2014/main" id="{AF3ABFB6-9069-21A4-E17B-C7ACA599AB87}"/>
                </a:ext>
              </a:extLst>
            </p:cNvPr>
            <p:cNvSpPr txBox="1"/>
            <p:nvPr/>
          </p:nvSpPr>
          <p:spPr>
            <a:xfrm>
              <a:off x="0" y="-9525"/>
              <a:ext cx="3869376" cy="21047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27"/>
                </a:lnSpc>
              </a:pPr>
              <a:endParaRPr/>
            </a:p>
          </p:txBody>
        </p:sp>
      </p:grpSp>
      <p:grpSp>
        <p:nvGrpSpPr>
          <p:cNvPr id="13" name="Group 6">
            <a:extLst>
              <a:ext uri="{FF2B5EF4-FFF2-40B4-BE49-F238E27FC236}">
                <a16:creationId xmlns:a16="http://schemas.microsoft.com/office/drawing/2014/main" id="{78B08404-A6A8-D37A-D93B-1E3B3B3B74BC}"/>
              </a:ext>
            </a:extLst>
          </p:cNvPr>
          <p:cNvGrpSpPr/>
          <p:nvPr/>
        </p:nvGrpSpPr>
        <p:grpSpPr>
          <a:xfrm>
            <a:off x="9311224" y="3844449"/>
            <a:ext cx="7948076" cy="4303756"/>
            <a:chOff x="0" y="0"/>
            <a:chExt cx="3869376" cy="2095205"/>
          </a:xfrm>
        </p:grpSpPr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13C3CD9C-B88B-56B1-A73D-1C24C33226F4}"/>
                </a:ext>
              </a:extLst>
            </p:cNvPr>
            <p:cNvSpPr/>
            <p:nvPr/>
          </p:nvSpPr>
          <p:spPr>
            <a:xfrm>
              <a:off x="0" y="0"/>
              <a:ext cx="3869376" cy="2095205"/>
            </a:xfrm>
            <a:custGeom>
              <a:avLst/>
              <a:gdLst/>
              <a:ahLst/>
              <a:cxnLst/>
              <a:rect l="l" t="t" r="r" b="b"/>
              <a:pathLst>
                <a:path w="3869376" h="2095205">
                  <a:moveTo>
                    <a:pt x="14611" y="0"/>
                  </a:moveTo>
                  <a:lnTo>
                    <a:pt x="3854765" y="0"/>
                  </a:lnTo>
                  <a:cubicBezTo>
                    <a:pt x="3858640" y="0"/>
                    <a:pt x="3862357" y="1539"/>
                    <a:pt x="3865097" y="4279"/>
                  </a:cubicBezTo>
                  <a:cubicBezTo>
                    <a:pt x="3867837" y="7020"/>
                    <a:pt x="3869376" y="10736"/>
                    <a:pt x="3869376" y="14611"/>
                  </a:cubicBezTo>
                  <a:lnTo>
                    <a:pt x="3869376" y="2080594"/>
                  </a:lnTo>
                  <a:cubicBezTo>
                    <a:pt x="3869376" y="2088664"/>
                    <a:pt x="3862835" y="2095205"/>
                    <a:pt x="3854765" y="2095205"/>
                  </a:cubicBezTo>
                  <a:lnTo>
                    <a:pt x="14611" y="2095205"/>
                  </a:lnTo>
                  <a:cubicBezTo>
                    <a:pt x="10736" y="2095205"/>
                    <a:pt x="7020" y="2093666"/>
                    <a:pt x="4279" y="2090926"/>
                  </a:cubicBezTo>
                  <a:cubicBezTo>
                    <a:pt x="1539" y="2088186"/>
                    <a:pt x="0" y="2084469"/>
                    <a:pt x="0" y="2080594"/>
                  </a:cubicBezTo>
                  <a:lnTo>
                    <a:pt x="0" y="14611"/>
                  </a:lnTo>
                  <a:cubicBezTo>
                    <a:pt x="0" y="6542"/>
                    <a:pt x="6542" y="0"/>
                    <a:pt x="1461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15A9F1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" name="TextBox 8">
              <a:extLst>
                <a:ext uri="{FF2B5EF4-FFF2-40B4-BE49-F238E27FC236}">
                  <a16:creationId xmlns:a16="http://schemas.microsoft.com/office/drawing/2014/main" id="{60FC9807-03FB-67E3-16C9-DFF3BF0FC7F3}"/>
                </a:ext>
              </a:extLst>
            </p:cNvPr>
            <p:cNvSpPr txBox="1"/>
            <p:nvPr/>
          </p:nvSpPr>
          <p:spPr>
            <a:xfrm>
              <a:off x="0" y="-9525"/>
              <a:ext cx="3869376" cy="21047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27"/>
                </a:lnSpc>
              </a:pPr>
              <a:endParaRPr/>
            </a:p>
          </p:txBody>
        </p:sp>
      </p:grpSp>
      <p:sp>
        <p:nvSpPr>
          <p:cNvPr id="17" name="AutoShape 9">
            <a:extLst>
              <a:ext uri="{FF2B5EF4-FFF2-40B4-BE49-F238E27FC236}">
                <a16:creationId xmlns:a16="http://schemas.microsoft.com/office/drawing/2014/main" id="{C0DB9E9F-48CF-0002-F724-DDB623E6B5EA}"/>
              </a:ext>
            </a:extLst>
          </p:cNvPr>
          <p:cNvSpPr/>
          <p:nvPr/>
        </p:nvSpPr>
        <p:spPr>
          <a:xfrm>
            <a:off x="1295309" y="5317195"/>
            <a:ext cx="7508233" cy="0"/>
          </a:xfrm>
          <a:prstGeom prst="line">
            <a:avLst/>
          </a:prstGeom>
          <a:ln w="9525" cap="flat">
            <a:solidFill>
              <a:srgbClr val="15A9F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AutoShape 10">
            <a:extLst>
              <a:ext uri="{FF2B5EF4-FFF2-40B4-BE49-F238E27FC236}">
                <a16:creationId xmlns:a16="http://schemas.microsoft.com/office/drawing/2014/main" id="{A49CC9E9-2B3D-D3FE-4762-1A1D01E0F02C}"/>
              </a:ext>
            </a:extLst>
          </p:cNvPr>
          <p:cNvSpPr/>
          <p:nvPr/>
        </p:nvSpPr>
        <p:spPr>
          <a:xfrm>
            <a:off x="9577833" y="5317195"/>
            <a:ext cx="7508233" cy="0"/>
          </a:xfrm>
          <a:prstGeom prst="line">
            <a:avLst/>
          </a:prstGeom>
          <a:ln w="9525" cap="flat">
            <a:solidFill>
              <a:srgbClr val="15A9F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Box 22">
            <a:extLst>
              <a:ext uri="{FF2B5EF4-FFF2-40B4-BE49-F238E27FC236}">
                <a16:creationId xmlns:a16="http://schemas.microsoft.com/office/drawing/2014/main" id="{98A96BC0-346C-89AD-5C0D-68B32E0CA3B4}"/>
              </a:ext>
            </a:extLst>
          </p:cNvPr>
          <p:cNvSpPr txBox="1"/>
          <p:nvPr/>
        </p:nvSpPr>
        <p:spPr>
          <a:xfrm>
            <a:off x="1551539" y="4363656"/>
            <a:ext cx="6528369" cy="4825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2"/>
              </a:lnSpc>
            </a:pPr>
            <a:r>
              <a:rPr lang="ko-KR" altLang="en-US" sz="3376">
                <a:solidFill>
                  <a:srgbClr val="454444"/>
                </a:solidFill>
                <a:latin typeface="페이퍼로지 4 Regular" pitchFamily="2" charset="-127"/>
                <a:ea typeface="페이퍼로지 4 Regular" pitchFamily="2" charset="-127"/>
                <a:cs typeface="Nanum Square Bold"/>
                <a:sym typeface="Nanum Square Bold"/>
              </a:rPr>
              <a:t>시장 최적 투자 </a:t>
            </a:r>
            <a:r>
              <a:rPr lang="en-US" altLang="ko-KR" sz="3376">
                <a:solidFill>
                  <a:srgbClr val="454444"/>
                </a:solidFill>
                <a:latin typeface="페이퍼로지 4 Regular" pitchFamily="2" charset="-127"/>
                <a:ea typeface="페이퍼로지 4 Regular" pitchFamily="2" charset="-127"/>
                <a:cs typeface="Nanum Square Bold"/>
                <a:sym typeface="Nanum Square Bold"/>
              </a:rPr>
              <a:t>(</a:t>
            </a:r>
            <a:r>
              <a:rPr lang="ko-KR" altLang="en-US" sz="3376">
                <a:solidFill>
                  <a:srgbClr val="454444"/>
                </a:solidFill>
                <a:latin typeface="페이퍼로지 4 Regular" pitchFamily="2" charset="-127"/>
                <a:ea typeface="페이퍼로지 4 Regular" pitchFamily="2" charset="-127"/>
                <a:cs typeface="Nanum Square Bold"/>
                <a:sym typeface="Nanum Square Bold"/>
              </a:rPr>
              <a:t>적정투자</a:t>
            </a:r>
            <a:r>
              <a:rPr lang="en-US" altLang="ko-KR" sz="3376">
                <a:solidFill>
                  <a:srgbClr val="454444"/>
                </a:solidFill>
                <a:latin typeface="페이퍼로지 4 Regular" pitchFamily="2" charset="-127"/>
                <a:ea typeface="페이퍼로지 4 Regular" pitchFamily="2" charset="-127"/>
                <a:cs typeface="Nanum Square Bold"/>
                <a:sym typeface="Nanum Square Bold"/>
              </a:rPr>
              <a:t>)</a:t>
            </a:r>
          </a:p>
        </p:txBody>
      </p:sp>
      <p:sp>
        <p:nvSpPr>
          <p:cNvPr id="22" name="TextBox 23">
            <a:extLst>
              <a:ext uri="{FF2B5EF4-FFF2-40B4-BE49-F238E27FC236}">
                <a16:creationId xmlns:a16="http://schemas.microsoft.com/office/drawing/2014/main" id="{2E8134D1-754A-BA85-7CB7-BBF3438E33DC}"/>
              </a:ext>
            </a:extLst>
          </p:cNvPr>
          <p:cNvSpPr txBox="1"/>
          <p:nvPr/>
        </p:nvSpPr>
        <p:spPr>
          <a:xfrm>
            <a:off x="10021078" y="4363656"/>
            <a:ext cx="6528369" cy="4825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2"/>
              </a:lnSpc>
            </a:pPr>
            <a:r>
              <a:rPr lang="ko-KR" altLang="en-US" sz="3376">
                <a:solidFill>
                  <a:srgbClr val="454444"/>
                </a:solidFill>
                <a:latin typeface="페이퍼로지 4 Regular" pitchFamily="2" charset="-127"/>
                <a:ea typeface="페이퍼로지 4 Regular" pitchFamily="2" charset="-127"/>
                <a:cs typeface="Nanum Square Bold"/>
                <a:sym typeface="Nanum Square Bold"/>
              </a:rPr>
              <a:t>규제 강제 투자</a:t>
            </a:r>
          </a:p>
        </p:txBody>
      </p:sp>
      <p:sp>
        <p:nvSpPr>
          <p:cNvPr id="23" name="TextBox 17">
            <a:extLst>
              <a:ext uri="{FF2B5EF4-FFF2-40B4-BE49-F238E27FC236}">
                <a16:creationId xmlns:a16="http://schemas.microsoft.com/office/drawing/2014/main" id="{F29C559B-E94A-FB64-9C25-0885D140F582}"/>
              </a:ext>
            </a:extLst>
          </p:cNvPr>
          <p:cNvSpPr txBox="1"/>
          <p:nvPr/>
        </p:nvSpPr>
        <p:spPr>
          <a:xfrm>
            <a:off x="1348982" y="5646230"/>
            <a:ext cx="7454560" cy="21627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>
                <a:solidFill>
                  <a:srgbClr val="454444"/>
                </a:solidFill>
                <a:latin typeface="페이퍼로지 2 ExtraLight" pitchFamily="2" charset="-127"/>
                <a:ea typeface="페이퍼로지 2 ExtraLight" pitchFamily="2" charset="-127"/>
                <a:cs typeface="Nanum Square Light"/>
                <a:sym typeface="Nanum Square Light"/>
              </a:rPr>
              <a:t>매출</a:t>
            </a:r>
            <a:r>
              <a:rPr lang="en-US" altLang="ko-KR" sz="2400">
                <a:solidFill>
                  <a:srgbClr val="454444"/>
                </a:solidFill>
                <a:latin typeface="페이퍼로지 2 ExtraLight" pitchFamily="2" charset="-127"/>
                <a:ea typeface="페이퍼로지 2 ExtraLight" pitchFamily="2" charset="-127"/>
                <a:cs typeface="Nanum Square Light"/>
                <a:sym typeface="Nanum Square Light"/>
              </a:rPr>
              <a:t>/</a:t>
            </a:r>
            <a:r>
              <a:rPr lang="ko-KR" altLang="en-US" sz="2400">
                <a:solidFill>
                  <a:srgbClr val="454444"/>
                </a:solidFill>
                <a:latin typeface="페이퍼로지 2 ExtraLight" pitchFamily="2" charset="-127"/>
                <a:ea typeface="페이퍼로지 2 ExtraLight" pitchFamily="2" charset="-127"/>
                <a:cs typeface="Nanum Square Light"/>
                <a:sym typeface="Nanum Square Light"/>
              </a:rPr>
              <a:t>수익에 따라 결정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>
                <a:solidFill>
                  <a:srgbClr val="454444"/>
                </a:solidFill>
                <a:latin typeface="페이퍼로지 2 ExtraLight" pitchFamily="2" charset="-127"/>
                <a:ea typeface="페이퍼로지 2 ExtraLight" pitchFamily="2" charset="-127"/>
                <a:cs typeface="Nanum Square Light"/>
                <a:sym typeface="Nanum Square Light"/>
              </a:rPr>
              <a:t>시장 여건에 탄력적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>
                <a:solidFill>
                  <a:srgbClr val="454444"/>
                </a:solidFill>
                <a:latin typeface="페이퍼로지 2 ExtraLight" pitchFamily="2" charset="-127"/>
                <a:ea typeface="페이퍼로지 2 ExtraLight" pitchFamily="2" charset="-127"/>
                <a:cs typeface="Nanum Square Light"/>
                <a:sym typeface="Nanum Square Light"/>
              </a:rPr>
              <a:t>수익 극대화 수준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>
                <a:solidFill>
                  <a:srgbClr val="454444"/>
                </a:solidFill>
                <a:latin typeface="페이퍼로지 2 ExtraLight" pitchFamily="2" charset="-127"/>
                <a:ea typeface="페이퍼로지 2 ExtraLight" pitchFamily="2" charset="-127"/>
                <a:cs typeface="Nanum Square Light"/>
                <a:sym typeface="Nanum Square Light"/>
              </a:rPr>
              <a:t>변동 가능</a:t>
            </a:r>
          </a:p>
        </p:txBody>
      </p:sp>
      <p:sp>
        <p:nvSpPr>
          <p:cNvPr id="24" name="TextBox 17">
            <a:extLst>
              <a:ext uri="{FF2B5EF4-FFF2-40B4-BE49-F238E27FC236}">
                <a16:creationId xmlns:a16="http://schemas.microsoft.com/office/drawing/2014/main" id="{FFE13F77-4FE9-590B-53E8-A34B5D293C8D}"/>
              </a:ext>
            </a:extLst>
          </p:cNvPr>
          <p:cNvSpPr txBox="1"/>
          <p:nvPr/>
        </p:nvSpPr>
        <p:spPr>
          <a:xfrm>
            <a:off x="9644599" y="5646230"/>
            <a:ext cx="7281326" cy="21627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>
                <a:solidFill>
                  <a:srgbClr val="454444"/>
                </a:solidFill>
                <a:latin typeface="페이퍼로지 2 ExtraLight" pitchFamily="2" charset="-127"/>
                <a:ea typeface="페이퍼로지 2 ExtraLight" pitchFamily="2" charset="-127"/>
                <a:cs typeface="Nanum Square Light"/>
                <a:sym typeface="Nanum Square Light"/>
              </a:rPr>
              <a:t>5</a:t>
            </a:r>
            <a:r>
              <a:rPr lang="ko-KR" altLang="en-US" sz="2400">
                <a:solidFill>
                  <a:srgbClr val="454444"/>
                </a:solidFill>
                <a:latin typeface="페이퍼로지 2 ExtraLight" pitchFamily="2" charset="-127"/>
                <a:ea typeface="페이퍼로지 2 ExtraLight" pitchFamily="2" charset="-127"/>
                <a:cs typeface="Nanum Square Light"/>
                <a:sym typeface="Nanum Square Light"/>
              </a:rPr>
              <a:t>년 전 계획으로 고정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>
                <a:solidFill>
                  <a:srgbClr val="454444"/>
                </a:solidFill>
                <a:latin typeface="페이퍼로지 2 ExtraLight" pitchFamily="2" charset="-127"/>
                <a:ea typeface="페이퍼로지 2 ExtraLight" pitchFamily="2" charset="-127"/>
                <a:cs typeface="Nanum Square Light"/>
                <a:sym typeface="Nanum Square Light"/>
              </a:rPr>
              <a:t>시장 여건 무관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>
                <a:solidFill>
                  <a:srgbClr val="454444"/>
                </a:solidFill>
                <a:latin typeface="페이퍼로지 2 ExtraLight" pitchFamily="2" charset="-127"/>
                <a:ea typeface="페이퍼로지 2 ExtraLight" pitchFamily="2" charset="-127"/>
                <a:cs typeface="Nanum Square Light"/>
                <a:sym typeface="Nanum Square Light"/>
              </a:rPr>
              <a:t>이행 의무화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>
                <a:solidFill>
                  <a:srgbClr val="454444"/>
                </a:solidFill>
                <a:latin typeface="페이퍼로지 2 ExtraLight" pitchFamily="2" charset="-127"/>
                <a:ea typeface="페이퍼로지 2 ExtraLight" pitchFamily="2" charset="-127"/>
                <a:cs typeface="Nanum Square Light"/>
                <a:sym typeface="Nanum Square Light"/>
              </a:rPr>
              <a:t>조정 불가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DF4EED6-0604-5181-D52C-7E0189875D9E}"/>
              </a:ext>
            </a:extLst>
          </p:cNvPr>
          <p:cNvSpPr txBox="1"/>
          <p:nvPr/>
        </p:nvSpPr>
        <p:spPr>
          <a:xfrm>
            <a:off x="1016294" y="8399329"/>
            <a:ext cx="14680905" cy="17748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  <a:spcAft>
                <a:spcPts val="1500"/>
              </a:spcAft>
            </a:pPr>
            <a:r>
              <a:rPr lang="ko-KR" altLang="en-US" sz="2800" b="1" i="0">
                <a:solidFill>
                  <a:srgbClr val="2A5298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과잉투자 증거 </a:t>
            </a:r>
            <a:endParaRPr lang="en-US" altLang="ko-KR" sz="2800" b="1">
              <a:solidFill>
                <a:srgbClr val="2A5298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85750" indent="-285750" algn="l">
              <a:spcBef>
                <a:spcPts val="500"/>
              </a:spcBef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altLang="ko-KR" sz="2400">
                <a:solidFill>
                  <a:srgbClr val="454444"/>
                </a:solidFill>
                <a:latin typeface="페이퍼로지 2 ExtraLight" pitchFamily="2" charset="-127"/>
                <a:ea typeface="페이퍼로지 2 ExtraLight" pitchFamily="2" charset="-127"/>
              </a:rPr>
              <a:t>JTBC </a:t>
            </a:r>
            <a:r>
              <a:rPr lang="ko-KR" altLang="en-US" sz="2400">
                <a:solidFill>
                  <a:srgbClr val="454444"/>
                </a:solidFill>
                <a:latin typeface="페이퍼로지 2 ExtraLight" pitchFamily="2" charset="-127"/>
                <a:ea typeface="페이퍼로지 2 ExtraLight" pitchFamily="2" charset="-127"/>
              </a:rPr>
              <a:t>투자비율 </a:t>
            </a:r>
            <a:r>
              <a:rPr lang="en-US" altLang="ko-KR" sz="2400">
                <a:solidFill>
                  <a:srgbClr val="454444"/>
                </a:solidFill>
                <a:latin typeface="페이퍼로지 2 ExtraLight" pitchFamily="2" charset="-127"/>
                <a:ea typeface="페이퍼로지 2 ExtraLight" pitchFamily="2" charset="-127"/>
              </a:rPr>
              <a:t>98.1% (2020</a:t>
            </a:r>
            <a:r>
              <a:rPr lang="ko-KR" altLang="en-US" sz="2400">
                <a:solidFill>
                  <a:srgbClr val="454444"/>
                </a:solidFill>
                <a:latin typeface="페이퍼로지 2 ExtraLight" pitchFamily="2" charset="-127"/>
                <a:ea typeface="페이퍼로지 2 ExtraLight" pitchFamily="2" charset="-127"/>
              </a:rPr>
              <a:t>년</a:t>
            </a:r>
            <a:r>
              <a:rPr lang="en-US" altLang="ko-KR" sz="2400">
                <a:solidFill>
                  <a:srgbClr val="454444"/>
                </a:solidFill>
                <a:latin typeface="페이퍼로지 2 ExtraLight" pitchFamily="2" charset="-127"/>
                <a:ea typeface="페이퍼로지 2 ExtraLight" pitchFamily="2" charset="-127"/>
              </a:rPr>
              <a:t>), </a:t>
            </a:r>
            <a:r>
              <a:rPr lang="ko-KR" altLang="en-US" sz="2400">
                <a:solidFill>
                  <a:srgbClr val="454444"/>
                </a:solidFill>
                <a:latin typeface="페이퍼로지 2 ExtraLight" pitchFamily="2" charset="-127"/>
                <a:ea typeface="페이퍼로지 2 ExtraLight" pitchFamily="2" charset="-127"/>
              </a:rPr>
              <a:t>매출의 거의 전부를 투자</a:t>
            </a:r>
            <a:r>
              <a:rPr lang="en-US" altLang="ko-KR" sz="2400">
                <a:solidFill>
                  <a:srgbClr val="454444"/>
                </a:solidFill>
                <a:latin typeface="페이퍼로지 2 ExtraLight" pitchFamily="2" charset="-127"/>
                <a:ea typeface="페이퍼로지 2 ExtraLight" pitchFamily="2" charset="-127"/>
              </a:rPr>
              <a:t>  </a:t>
            </a:r>
            <a:r>
              <a:rPr lang="en-US" altLang="ko-KR" sz="2400">
                <a:solidFill>
                  <a:srgbClr val="454444"/>
                </a:solidFill>
                <a:latin typeface="페이퍼로지 2 ExtraLight" pitchFamily="2" charset="-127"/>
                <a:ea typeface="페이퍼로지 2 ExtraLight" pitchFamily="2" charset="-127"/>
                <a:sym typeface="Wingdings" panose="05000000000000000000" pitchFamily="2" charset="2"/>
              </a:rPr>
              <a:t></a:t>
            </a:r>
            <a:r>
              <a:rPr lang="en-US" altLang="ko-KR" sz="2400">
                <a:solidFill>
                  <a:srgbClr val="454444"/>
                </a:solidFill>
                <a:latin typeface="페이퍼로지 2 ExtraLight" pitchFamily="2" charset="-127"/>
                <a:ea typeface="페이퍼로지 2 ExtraLight" pitchFamily="2" charset="-127"/>
              </a:rPr>
              <a:t> </a:t>
            </a:r>
            <a:r>
              <a:rPr lang="ko-KR" altLang="en-US" sz="2400">
                <a:solidFill>
                  <a:srgbClr val="C00000"/>
                </a:solidFill>
                <a:latin typeface="페이퍼로지 7 Bold" pitchFamily="2" charset="-127"/>
                <a:ea typeface="페이퍼로지 7 Bold" pitchFamily="2" charset="-127"/>
              </a:rPr>
              <a:t>경영 안정성 위협</a:t>
            </a:r>
            <a:r>
              <a:rPr lang="en-US" altLang="ko-KR" sz="2400">
                <a:solidFill>
                  <a:srgbClr val="C00000"/>
                </a:solidFill>
                <a:latin typeface="페이퍼로지 7 Bold" pitchFamily="2" charset="-127"/>
                <a:ea typeface="페이퍼로지 7 Bold" pitchFamily="2" charset="-127"/>
              </a:rPr>
              <a:t>(</a:t>
            </a:r>
            <a:r>
              <a:rPr lang="ko-KR" altLang="en-US" sz="2400">
                <a:solidFill>
                  <a:srgbClr val="C00000"/>
                </a:solidFill>
                <a:latin typeface="페이퍼로지 7 Bold" pitchFamily="2" charset="-127"/>
                <a:ea typeface="페이퍼로지 7 Bold" pitchFamily="2" charset="-127"/>
              </a:rPr>
              <a:t>현재 자본잠식</a:t>
            </a:r>
            <a:r>
              <a:rPr lang="en-US" altLang="ko-KR" sz="2400">
                <a:solidFill>
                  <a:srgbClr val="C00000"/>
                </a:solidFill>
                <a:latin typeface="페이퍼로지 7 Bold" pitchFamily="2" charset="-127"/>
                <a:ea typeface="페이퍼로지 7 Bold" pitchFamily="2" charset="-127"/>
              </a:rPr>
              <a:t>)</a:t>
            </a:r>
          </a:p>
          <a:p>
            <a:pPr marL="285750" indent="-285750" algn="l">
              <a:spcBef>
                <a:spcPts val="500"/>
              </a:spcBef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altLang="ko-KR" sz="2400">
                <a:solidFill>
                  <a:srgbClr val="454444"/>
                </a:solidFill>
                <a:latin typeface="페이퍼로지 2 ExtraLight" pitchFamily="2" charset="-127"/>
                <a:ea typeface="페이퍼로지 2 ExtraLight" pitchFamily="2" charset="-127"/>
              </a:rPr>
              <a:t>TV</a:t>
            </a:r>
            <a:r>
              <a:rPr lang="ko-KR" altLang="en-US" sz="2400">
                <a:solidFill>
                  <a:srgbClr val="454444"/>
                </a:solidFill>
                <a:latin typeface="페이퍼로지 2 ExtraLight" pitchFamily="2" charset="-127"/>
                <a:ea typeface="페이퍼로지 2 ExtraLight" pitchFamily="2" charset="-127"/>
              </a:rPr>
              <a:t>조선 평균 </a:t>
            </a:r>
            <a:r>
              <a:rPr lang="en-US" altLang="ko-KR" sz="2400">
                <a:solidFill>
                  <a:srgbClr val="454444"/>
                </a:solidFill>
                <a:latin typeface="페이퍼로지 2 ExtraLight" pitchFamily="2" charset="-127"/>
                <a:ea typeface="페이퍼로지 2 ExtraLight" pitchFamily="2" charset="-127"/>
              </a:rPr>
              <a:t>118.3% </a:t>
            </a:r>
            <a:r>
              <a:rPr lang="ko-KR" altLang="en-US" sz="2400">
                <a:solidFill>
                  <a:srgbClr val="454444"/>
                </a:solidFill>
                <a:latin typeface="페이퍼로지 2 ExtraLight" pitchFamily="2" charset="-127"/>
                <a:ea typeface="페이퍼로지 2 ExtraLight" pitchFamily="2" charset="-127"/>
              </a:rPr>
              <a:t>이행하며</a:t>
            </a:r>
            <a:r>
              <a:rPr lang="en-US" altLang="ko-KR" sz="2400">
                <a:solidFill>
                  <a:srgbClr val="454444"/>
                </a:solidFill>
                <a:latin typeface="페이퍼로지 2 ExtraLight" pitchFamily="2" charset="-127"/>
                <a:ea typeface="페이퍼로지 2 ExtraLight" pitchFamily="2" charset="-127"/>
              </a:rPr>
              <a:t> </a:t>
            </a:r>
            <a:r>
              <a:rPr lang="ko-KR" altLang="en-US" sz="2400">
                <a:solidFill>
                  <a:srgbClr val="454444"/>
                </a:solidFill>
                <a:latin typeface="페이퍼로지 2 ExtraLight" pitchFamily="2" charset="-127"/>
                <a:ea typeface="페이퍼로지 2 ExtraLight" pitchFamily="2" charset="-127"/>
              </a:rPr>
              <a:t>계획을 </a:t>
            </a:r>
            <a:r>
              <a:rPr lang="en-US" altLang="ko-KR" sz="2400">
                <a:solidFill>
                  <a:srgbClr val="454444"/>
                </a:solidFill>
                <a:latin typeface="페이퍼로지 2 ExtraLight" pitchFamily="2" charset="-127"/>
                <a:ea typeface="페이퍼로지 2 ExtraLight" pitchFamily="2" charset="-127"/>
              </a:rPr>
              <a:t>18.3% </a:t>
            </a:r>
            <a:r>
              <a:rPr lang="ko-KR" altLang="en-US" sz="2400">
                <a:solidFill>
                  <a:srgbClr val="454444"/>
                </a:solidFill>
                <a:latin typeface="페이퍼로지 2 ExtraLight" pitchFamily="2" charset="-127"/>
                <a:ea typeface="페이퍼로지 2 ExtraLight" pitchFamily="2" charset="-127"/>
              </a:rPr>
              <a:t>초과 달성</a:t>
            </a:r>
            <a:r>
              <a:rPr lang="en-US" altLang="ko-KR" sz="2400">
                <a:solidFill>
                  <a:srgbClr val="454444"/>
                </a:solidFill>
                <a:latin typeface="페이퍼로지 2 ExtraLight" pitchFamily="2" charset="-127"/>
                <a:ea typeface="페이퍼로지 2 ExtraLight" pitchFamily="2" charset="-127"/>
              </a:rPr>
              <a:t> </a:t>
            </a:r>
            <a:r>
              <a:rPr lang="en-US" altLang="ko-KR" sz="2400">
                <a:solidFill>
                  <a:srgbClr val="454444"/>
                </a:solidFill>
                <a:latin typeface="페이퍼로지 2 ExtraLight" pitchFamily="2" charset="-127"/>
                <a:ea typeface="페이퍼로지 2 ExtraLight" pitchFamily="2" charset="-127"/>
                <a:sym typeface="Wingdings" panose="05000000000000000000" pitchFamily="2" charset="2"/>
              </a:rPr>
              <a:t></a:t>
            </a:r>
            <a:r>
              <a:rPr lang="en-US" altLang="ko-KR" sz="2400">
                <a:solidFill>
                  <a:srgbClr val="454444"/>
                </a:solidFill>
                <a:latin typeface="페이퍼로지 2 ExtraLight" pitchFamily="2" charset="-127"/>
                <a:ea typeface="페이퍼로지 2 ExtraLight" pitchFamily="2" charset="-127"/>
              </a:rPr>
              <a:t> </a:t>
            </a:r>
            <a:r>
              <a:rPr lang="ko-KR" altLang="en-US" sz="2400">
                <a:solidFill>
                  <a:srgbClr val="C00000"/>
                </a:solidFill>
                <a:latin typeface="페이퍼로지 7 Bold" pitchFamily="2" charset="-127"/>
                <a:ea typeface="페이퍼로지 7 Bold" pitchFamily="2" charset="-127"/>
              </a:rPr>
              <a:t>시장 최적 수준 초과 불가피</a:t>
            </a:r>
          </a:p>
        </p:txBody>
      </p:sp>
      <p:sp>
        <p:nvSpPr>
          <p:cNvPr id="29" name="슬라이드 번호 개체 틀 28">
            <a:extLst>
              <a:ext uri="{FF2B5EF4-FFF2-40B4-BE49-F238E27FC236}">
                <a16:creationId xmlns:a16="http://schemas.microsoft.com/office/drawing/2014/main" id="{E11686B3-76A7-AAB0-942F-8D5B373E6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7864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904905-229E-DDBC-3F5E-70B388CE1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80B23799-4B9F-7E40-58E5-6D0A782DC956}"/>
              </a:ext>
            </a:extLst>
          </p:cNvPr>
          <p:cNvSpPr/>
          <p:nvPr/>
        </p:nvSpPr>
        <p:spPr>
          <a:xfrm flipV="1">
            <a:off x="1028700" y="1169525"/>
            <a:ext cx="16230600" cy="0"/>
          </a:xfrm>
          <a:prstGeom prst="line">
            <a:avLst/>
          </a:prstGeom>
          <a:ln w="19050" cap="flat">
            <a:solidFill>
              <a:srgbClr val="D9D9D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3EB9FC3E-B470-590E-1CC1-53F578183AE1}"/>
              </a:ext>
            </a:extLst>
          </p:cNvPr>
          <p:cNvSpPr txBox="1"/>
          <p:nvPr/>
        </p:nvSpPr>
        <p:spPr>
          <a:xfrm>
            <a:off x="1028700" y="1399848"/>
            <a:ext cx="1502946" cy="11319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579"/>
              </a:lnSpc>
            </a:pPr>
            <a:r>
              <a:rPr lang="en-US" altLang="ko-KR" sz="7983" spc="-239">
                <a:solidFill>
                  <a:srgbClr val="15A9F1"/>
                </a:solidFill>
                <a:latin typeface="페이퍼로지 5 Medium" pitchFamily="2" charset="-127"/>
                <a:ea typeface="페이퍼로지 5 Medium" pitchFamily="2" charset="-127"/>
                <a:cs typeface="Nanum Square Bold"/>
                <a:sym typeface="Nanum Square Bold"/>
              </a:rPr>
              <a:t>03</a:t>
            </a:r>
            <a:endParaRPr lang="en-US" sz="7983" spc="-239">
              <a:solidFill>
                <a:srgbClr val="15A9F1"/>
              </a:solidFill>
              <a:latin typeface="페이퍼로지 5 Medium" pitchFamily="2" charset="-127"/>
              <a:ea typeface="페이퍼로지 5 Medium" pitchFamily="2" charset="-127"/>
              <a:cs typeface="Nanum Square Bold"/>
              <a:sym typeface="Nanum Square Bold"/>
            </a:endParaRP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16A00146-35C7-5583-A6E5-FAF089C7EF09}"/>
              </a:ext>
            </a:extLst>
          </p:cNvPr>
          <p:cNvSpPr txBox="1"/>
          <p:nvPr/>
        </p:nvSpPr>
        <p:spPr>
          <a:xfrm>
            <a:off x="2531646" y="1626872"/>
            <a:ext cx="14232354" cy="15388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000"/>
              </a:lnSpc>
            </a:pPr>
            <a:r>
              <a:rPr lang="ko-KR" altLang="en-US" sz="5000">
                <a:solidFill>
                  <a:srgbClr val="454444"/>
                </a:solidFill>
                <a:latin typeface="페이퍼로지 5 Medium" pitchFamily="2" charset="-127"/>
                <a:ea typeface="페이퍼로지 5 Medium" pitchFamily="2" charset="-127"/>
                <a:cs typeface="Nanum Square Bold"/>
                <a:sym typeface="Nanum Square Bold"/>
              </a:rPr>
              <a:t>투자의 역설 </a:t>
            </a:r>
            <a:r>
              <a:rPr lang="en-US" altLang="ko-KR" sz="5000">
                <a:solidFill>
                  <a:srgbClr val="454444"/>
                </a:solidFill>
                <a:latin typeface="페이퍼로지 5 Medium" pitchFamily="2" charset="-127"/>
                <a:ea typeface="페이퍼로지 5 Medium" pitchFamily="2" charset="-127"/>
                <a:cs typeface="Nanum Square Bold"/>
                <a:sym typeface="Nanum Square Bold"/>
              </a:rPr>
              <a:t>- </a:t>
            </a:r>
            <a:r>
              <a:rPr lang="en-US" altLang="ko-KR" sz="5000">
                <a:solidFill>
                  <a:srgbClr val="454444"/>
                </a:solidFill>
                <a:latin typeface="페이퍼로지 5 Medium" pitchFamily="2" charset="-127"/>
                <a:ea typeface="페이퍼로지 5 Medium" pitchFamily="2" charset="-127"/>
              </a:rPr>
              <a:t>2</a:t>
            </a:r>
            <a:r>
              <a:rPr lang="ko-KR" altLang="en-US" sz="5000">
                <a:solidFill>
                  <a:srgbClr val="454444"/>
                </a:solidFill>
                <a:latin typeface="페이퍼로지 5 Medium" pitchFamily="2" charset="-127"/>
                <a:ea typeface="페이퍼로지 5 Medium" pitchFamily="2" charset="-127"/>
              </a:rPr>
              <a:t>단계</a:t>
            </a:r>
            <a:r>
              <a:rPr lang="en-US" altLang="ko-KR" sz="5000">
                <a:solidFill>
                  <a:srgbClr val="454444"/>
                </a:solidFill>
                <a:latin typeface="페이퍼로지 5 Medium" pitchFamily="2" charset="-127"/>
                <a:ea typeface="페이퍼로지 5 Medium" pitchFamily="2" charset="-127"/>
              </a:rPr>
              <a:t>: </a:t>
            </a:r>
            <a:r>
              <a:rPr lang="ko-KR" altLang="en-US" sz="5000">
                <a:solidFill>
                  <a:srgbClr val="454444"/>
                </a:solidFill>
                <a:latin typeface="페이퍼로지 5 Medium" pitchFamily="2" charset="-127"/>
                <a:ea typeface="페이퍼로지 5 Medium" pitchFamily="2" charset="-127"/>
              </a:rPr>
              <a:t>과잉투자로 인한 수익성 악화</a:t>
            </a:r>
          </a:p>
          <a:p>
            <a:pPr>
              <a:lnSpc>
                <a:spcPts val="6000"/>
              </a:lnSpc>
            </a:pPr>
            <a:endParaRPr lang="en-US" altLang="ko-KR" sz="5000">
              <a:solidFill>
                <a:srgbClr val="454444"/>
              </a:solidFill>
              <a:latin typeface="페이퍼로지 5 Medium" pitchFamily="2" charset="-127"/>
              <a:ea typeface="페이퍼로지 5 Medium" pitchFamily="2" charset="-127"/>
              <a:cs typeface="Nanum Square Bold"/>
              <a:sym typeface="Nanum Square Bold"/>
            </a:endParaRP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9A5586E0-83F1-FA72-7BAA-F125E314A7E9}"/>
              </a:ext>
            </a:extLst>
          </p:cNvPr>
          <p:cNvSpPr txBox="1"/>
          <p:nvPr/>
        </p:nvSpPr>
        <p:spPr>
          <a:xfrm>
            <a:off x="1123950" y="811675"/>
            <a:ext cx="3295650" cy="2239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888"/>
              </a:lnSpc>
            </a:pPr>
            <a:r>
              <a:rPr lang="ko-KR" altLang="en-US" sz="1574">
                <a:solidFill>
                  <a:srgbClr val="545454"/>
                </a:solidFill>
                <a:latin typeface="페이퍼로지 3 Light" pitchFamily="2" charset="-127"/>
                <a:ea typeface="페이퍼로지 3 Light" pitchFamily="2" charset="-127"/>
                <a:cs typeface="Nanum Square"/>
                <a:sym typeface="Nanum Square"/>
              </a:rPr>
              <a:t>한국언론학회 </a:t>
            </a:r>
            <a:r>
              <a:rPr lang="en-US" altLang="ko-KR" sz="1574">
                <a:solidFill>
                  <a:srgbClr val="545454"/>
                </a:solidFill>
                <a:latin typeface="페이퍼로지 3 Light" pitchFamily="2" charset="-127"/>
                <a:ea typeface="페이퍼로지 3 Light" pitchFamily="2" charset="-127"/>
                <a:cs typeface="Nanum Square"/>
                <a:sym typeface="Nanum Square"/>
              </a:rPr>
              <a:t>2025 </a:t>
            </a:r>
            <a:r>
              <a:rPr lang="ko-KR" altLang="en-US" sz="1574">
                <a:solidFill>
                  <a:srgbClr val="545454"/>
                </a:solidFill>
                <a:latin typeface="페이퍼로지 3 Light" pitchFamily="2" charset="-127"/>
                <a:ea typeface="페이퍼로지 3 Light" pitchFamily="2" charset="-127"/>
                <a:cs typeface="Nanum Square"/>
                <a:sym typeface="Nanum Square"/>
              </a:rPr>
              <a:t>가을철 학술대회</a:t>
            </a:r>
            <a:endParaRPr lang="en-US" altLang="ko-KR" sz="1574">
              <a:solidFill>
                <a:srgbClr val="545454"/>
              </a:solidFill>
              <a:latin typeface="페이퍼로지 3 Light" pitchFamily="2" charset="-127"/>
              <a:ea typeface="페이퍼로지 3 Light" pitchFamily="2" charset="-127"/>
              <a:cs typeface="Nanum Square"/>
              <a:sym typeface="Nanum Square"/>
            </a:endParaRPr>
          </a:p>
        </p:txBody>
      </p:sp>
      <p:sp>
        <p:nvSpPr>
          <p:cNvPr id="20" name="TextBox 12">
            <a:extLst>
              <a:ext uri="{FF2B5EF4-FFF2-40B4-BE49-F238E27FC236}">
                <a16:creationId xmlns:a16="http://schemas.microsoft.com/office/drawing/2014/main" id="{046BEE1F-EC23-D4B2-9B26-FD7D5E7BB2A5}"/>
              </a:ext>
            </a:extLst>
          </p:cNvPr>
          <p:cNvSpPr txBox="1"/>
          <p:nvPr/>
        </p:nvSpPr>
        <p:spPr>
          <a:xfrm>
            <a:off x="15135245" y="792625"/>
            <a:ext cx="2124055" cy="2116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768"/>
              </a:lnSpc>
            </a:pPr>
            <a:r>
              <a:rPr lang="ko-KR" altLang="en-US" sz="1474" b="1">
                <a:solidFill>
                  <a:srgbClr val="545454"/>
                </a:solidFill>
                <a:latin typeface="페이퍼로지 6 SemiBold" pitchFamily="2" charset="-127"/>
                <a:ea typeface="페이퍼로지 6 SemiBold" pitchFamily="2" charset="-127"/>
                <a:cs typeface="Nanum Square Bold"/>
                <a:sym typeface="Nanum Square Bold"/>
              </a:rPr>
              <a:t>선문대학교</a:t>
            </a:r>
            <a:endParaRPr lang="en-US" sz="1474" b="1">
              <a:solidFill>
                <a:srgbClr val="545454"/>
              </a:solidFill>
              <a:latin typeface="페이퍼로지 6 SemiBold" pitchFamily="2" charset="-127"/>
              <a:ea typeface="페이퍼로지 6 SemiBold" pitchFamily="2" charset="-127"/>
              <a:cs typeface="Nanum Square Bold"/>
              <a:sym typeface="Nanum Square Bold"/>
            </a:endParaRPr>
          </a:p>
        </p:txBody>
      </p:sp>
      <p:sp>
        <p:nvSpPr>
          <p:cNvPr id="5" name="Freeform 11">
            <a:extLst>
              <a:ext uri="{FF2B5EF4-FFF2-40B4-BE49-F238E27FC236}">
                <a16:creationId xmlns:a16="http://schemas.microsoft.com/office/drawing/2014/main" id="{7473E627-BB63-1026-4314-46AEF51DCD15}"/>
              </a:ext>
            </a:extLst>
          </p:cNvPr>
          <p:cNvSpPr/>
          <p:nvPr/>
        </p:nvSpPr>
        <p:spPr>
          <a:xfrm>
            <a:off x="1138739" y="2893711"/>
            <a:ext cx="496132" cy="493858"/>
          </a:xfrm>
          <a:custGeom>
            <a:avLst/>
            <a:gdLst/>
            <a:ahLst/>
            <a:cxnLst/>
            <a:rect l="l" t="t" r="r" b="b"/>
            <a:pathLst>
              <a:path w="496132" h="493858">
                <a:moveTo>
                  <a:pt x="0" y="0"/>
                </a:moveTo>
                <a:lnTo>
                  <a:pt x="496132" y="0"/>
                </a:lnTo>
                <a:lnTo>
                  <a:pt x="496132" y="493858"/>
                </a:lnTo>
                <a:lnTo>
                  <a:pt x="0" y="4938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97AAE6-EE1C-2391-0F7E-219B63E58EC0}"/>
              </a:ext>
            </a:extLst>
          </p:cNvPr>
          <p:cNvSpPr txBox="1"/>
          <p:nvPr/>
        </p:nvSpPr>
        <p:spPr>
          <a:xfrm>
            <a:off x="1670313" y="2926495"/>
            <a:ext cx="9144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250"/>
              </a:spcBef>
              <a:spcAft>
                <a:spcPts val="1500"/>
              </a:spcAft>
              <a:buNone/>
            </a:pPr>
            <a:r>
              <a:rPr lang="ko-KR" altLang="en-US" sz="2800" b="1" i="0">
                <a:solidFill>
                  <a:srgbClr val="2A5298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투자비율 </a:t>
            </a:r>
            <a:r>
              <a:rPr lang="en-US" altLang="ko-KR" sz="2800" b="1" i="0">
                <a:solidFill>
                  <a:srgbClr val="2A5298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1%p </a:t>
            </a:r>
            <a:r>
              <a:rPr lang="ko-KR" altLang="en-US" sz="2800" b="1" i="0">
                <a:solidFill>
                  <a:srgbClr val="2A5298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증가 → 영업이익률 </a:t>
            </a:r>
            <a:r>
              <a:rPr lang="en-US" altLang="ko-KR" sz="2800" b="1" i="0">
                <a:solidFill>
                  <a:srgbClr val="2A5298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0.60%p </a:t>
            </a:r>
            <a:r>
              <a:rPr lang="ko-KR" altLang="en-US" sz="2800" b="1" i="0">
                <a:solidFill>
                  <a:srgbClr val="2A5298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감소 </a:t>
            </a:r>
            <a:r>
              <a:rPr lang="en-US" altLang="ko-KR" sz="2800" b="1" i="0">
                <a:solidFill>
                  <a:srgbClr val="2A5298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(p &lt; 0.001)</a:t>
            </a:r>
          </a:p>
        </p:txBody>
      </p:sp>
      <p:pic>
        <p:nvPicPr>
          <p:cNvPr id="4" name="그림 3" descr="텍스트, 스크린샷, 도표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90739A3-E8C0-6B79-B975-0C9DCE783DF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0" y="3899622"/>
            <a:ext cx="10046739" cy="599961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0CCE05E-3FE5-A7DC-560A-16BF884574F2}"/>
              </a:ext>
            </a:extLst>
          </p:cNvPr>
          <p:cNvSpPr txBox="1"/>
          <p:nvPr/>
        </p:nvSpPr>
        <p:spPr>
          <a:xfrm>
            <a:off x="11811000" y="4610100"/>
            <a:ext cx="5715000" cy="46338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en-US" sz="2800" b="1">
                <a:solidFill>
                  <a:srgbClr val="2A529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분석 방법론</a:t>
            </a:r>
          </a:p>
          <a:p>
            <a:pPr>
              <a:buNone/>
            </a:pPr>
            <a:endParaRPr lang="en-US" altLang="ko-KR" sz="2000">
              <a:solidFill>
                <a:srgbClr val="454444"/>
              </a:solidFill>
              <a:latin typeface="페이퍼로지 2 ExtraLight" pitchFamily="2" charset="-127"/>
              <a:ea typeface="페이퍼로지 2 ExtraLight" pitchFamily="2" charset="-127"/>
            </a:endParaRPr>
          </a:p>
          <a:p>
            <a:pPr>
              <a:buNone/>
            </a:pPr>
            <a:r>
              <a:rPr lang="ko-KR" altLang="en-US" sz="2000">
                <a:solidFill>
                  <a:srgbClr val="454444"/>
                </a:solidFill>
                <a:latin typeface="페이퍼로지 2 ExtraLight" pitchFamily="2" charset="-127"/>
                <a:ea typeface="페이퍼로지 2 ExtraLight" pitchFamily="2" charset="-127"/>
              </a:rPr>
              <a:t>패널 고정효과 모형 </a:t>
            </a:r>
            <a:r>
              <a:rPr lang="en-US" altLang="ko-KR" sz="2000">
                <a:solidFill>
                  <a:srgbClr val="454444"/>
                </a:solidFill>
                <a:latin typeface="페이퍼로지 2 ExtraLight" pitchFamily="2" charset="-127"/>
                <a:ea typeface="페이퍼로지 2 ExtraLight" pitchFamily="2" charset="-127"/>
              </a:rPr>
              <a:t>(Panel Fixed Effects)</a:t>
            </a:r>
          </a:p>
          <a:p>
            <a:pPr>
              <a:buFont typeface="+mj-lt"/>
              <a:buAutoNum type="arabicPeriod"/>
            </a:pPr>
            <a:endParaRPr lang="en-US" altLang="ko-KR" sz="2000">
              <a:solidFill>
                <a:srgbClr val="454444"/>
              </a:solidFill>
              <a:latin typeface="페이퍼로지 2 ExtraLight" pitchFamily="2" charset="-127"/>
              <a:ea typeface="페이퍼로지 2 ExtraLight" pitchFamily="2" charset="-127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>
                <a:solidFill>
                  <a:srgbClr val="454444"/>
                </a:solidFill>
                <a:latin typeface="페이퍼로지 2 ExtraLight" pitchFamily="2" charset="-127"/>
                <a:ea typeface="페이퍼로지 2 ExtraLight" pitchFamily="2" charset="-127"/>
              </a:rPr>
              <a:t>기업 고정효과 </a:t>
            </a:r>
            <a:r>
              <a:rPr lang="en-US" altLang="ko-KR" sz="2000">
                <a:solidFill>
                  <a:srgbClr val="454444"/>
                </a:solidFill>
                <a:latin typeface="페이퍼로지 2 ExtraLight" pitchFamily="2" charset="-127"/>
                <a:ea typeface="페이퍼로지 2 ExtraLight" pitchFamily="2" charset="-127"/>
              </a:rPr>
              <a:t>(α_i): </a:t>
            </a:r>
            <a:r>
              <a:rPr lang="ko-KR" altLang="en-US" sz="2000">
                <a:solidFill>
                  <a:srgbClr val="454444"/>
                </a:solidFill>
                <a:latin typeface="페이퍼로지 2 ExtraLight" pitchFamily="2" charset="-127"/>
                <a:ea typeface="페이퍼로지 2 ExtraLight" pitchFamily="2" charset="-127"/>
              </a:rPr>
              <a:t>시간 불변 기업 특성 통제 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>
                <a:solidFill>
                  <a:srgbClr val="454444"/>
                </a:solidFill>
                <a:latin typeface="페이퍼로지 2 ExtraLight" pitchFamily="2" charset="-127"/>
                <a:ea typeface="페이퍼로지 2 ExtraLight" pitchFamily="2" charset="-127"/>
              </a:rPr>
              <a:t>JTBC</a:t>
            </a:r>
            <a:r>
              <a:rPr lang="ko-KR" altLang="en-US" sz="2000">
                <a:solidFill>
                  <a:srgbClr val="454444"/>
                </a:solidFill>
                <a:latin typeface="페이퍼로지 2 ExtraLight" pitchFamily="2" charset="-127"/>
                <a:ea typeface="페이퍼로지 2 ExtraLight" pitchFamily="2" charset="-127"/>
              </a:rPr>
              <a:t>의 고유한 경영 스타일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>
                <a:solidFill>
                  <a:srgbClr val="454444"/>
                </a:solidFill>
                <a:latin typeface="페이퍼로지 2 ExtraLight" pitchFamily="2" charset="-127"/>
                <a:ea typeface="페이퍼로지 2 ExtraLight" pitchFamily="2" charset="-127"/>
              </a:rPr>
              <a:t>TV</a:t>
            </a:r>
            <a:r>
              <a:rPr lang="ko-KR" altLang="en-US" sz="2000">
                <a:solidFill>
                  <a:srgbClr val="454444"/>
                </a:solidFill>
                <a:latin typeface="페이퍼로지 2 ExtraLight" pitchFamily="2" charset="-127"/>
                <a:ea typeface="페이퍼로지 2 ExtraLight" pitchFamily="2" charset="-127"/>
              </a:rPr>
              <a:t>조선의 특수한 시장 포지션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>
                <a:solidFill>
                  <a:srgbClr val="454444"/>
                </a:solidFill>
                <a:latin typeface="페이퍼로지 2 ExtraLight" pitchFamily="2" charset="-127"/>
                <a:ea typeface="페이퍼로지 2 ExtraLight" pitchFamily="2" charset="-127"/>
              </a:rPr>
              <a:t>연도 고정효과 </a:t>
            </a:r>
            <a:r>
              <a:rPr lang="en-US" altLang="ko-KR" sz="2000">
                <a:solidFill>
                  <a:srgbClr val="454444"/>
                </a:solidFill>
                <a:latin typeface="페이퍼로지 2 ExtraLight" pitchFamily="2" charset="-127"/>
                <a:ea typeface="페이퍼로지 2 ExtraLight" pitchFamily="2" charset="-127"/>
              </a:rPr>
              <a:t>(τ_t): </a:t>
            </a:r>
            <a:r>
              <a:rPr lang="ko-KR" altLang="en-US" sz="2000">
                <a:solidFill>
                  <a:srgbClr val="454444"/>
                </a:solidFill>
                <a:latin typeface="페이퍼로지 2 ExtraLight" pitchFamily="2" charset="-127"/>
                <a:ea typeface="페이퍼로지 2 ExtraLight" pitchFamily="2" charset="-127"/>
              </a:rPr>
              <a:t>시간 추세 통제 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>
                <a:solidFill>
                  <a:srgbClr val="454444"/>
                </a:solidFill>
                <a:latin typeface="페이퍼로지 2 ExtraLight" pitchFamily="2" charset="-127"/>
                <a:ea typeface="페이퍼로지 2 ExtraLight" pitchFamily="2" charset="-127"/>
              </a:rPr>
              <a:t>2020</a:t>
            </a:r>
            <a:r>
              <a:rPr lang="ko-KR" altLang="en-US" sz="2000">
                <a:solidFill>
                  <a:srgbClr val="454444"/>
                </a:solidFill>
                <a:latin typeface="페이퍼로지 2 ExtraLight" pitchFamily="2" charset="-127"/>
                <a:ea typeface="페이퍼로지 2 ExtraLight" pitchFamily="2" charset="-127"/>
              </a:rPr>
              <a:t>년 코로나</a:t>
            </a:r>
            <a:r>
              <a:rPr lang="en-US" altLang="ko-KR" sz="2000">
                <a:solidFill>
                  <a:srgbClr val="454444"/>
                </a:solidFill>
                <a:latin typeface="페이퍼로지 2 ExtraLight" pitchFamily="2" charset="-127"/>
                <a:ea typeface="페이퍼로지 2 ExtraLight" pitchFamily="2" charset="-127"/>
              </a:rPr>
              <a:t>19 </a:t>
            </a:r>
            <a:r>
              <a:rPr lang="ko-KR" altLang="en-US" sz="2000">
                <a:solidFill>
                  <a:srgbClr val="454444"/>
                </a:solidFill>
                <a:latin typeface="페이퍼로지 2 ExtraLight" pitchFamily="2" charset="-127"/>
                <a:ea typeface="페이퍼로지 2 ExtraLight" pitchFamily="2" charset="-127"/>
              </a:rPr>
              <a:t>영향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>
                <a:solidFill>
                  <a:srgbClr val="454444"/>
                </a:solidFill>
                <a:latin typeface="페이퍼로지 2 ExtraLight" pitchFamily="2" charset="-127"/>
                <a:ea typeface="페이퍼로지 2 ExtraLight" pitchFamily="2" charset="-127"/>
              </a:rPr>
              <a:t>2023</a:t>
            </a:r>
            <a:r>
              <a:rPr lang="ko-KR" altLang="en-US" sz="2000">
                <a:solidFill>
                  <a:srgbClr val="454444"/>
                </a:solidFill>
                <a:latin typeface="페이퍼로지 2 ExtraLight" pitchFamily="2" charset="-127"/>
                <a:ea typeface="페이퍼로지 2 ExtraLight" pitchFamily="2" charset="-127"/>
              </a:rPr>
              <a:t>년 경기 침체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>
                <a:solidFill>
                  <a:srgbClr val="454444"/>
                </a:solidFill>
                <a:latin typeface="페이퍼로지 2 ExtraLight" pitchFamily="2" charset="-127"/>
                <a:ea typeface="페이퍼로지 2 ExtraLight" pitchFamily="2" charset="-127"/>
              </a:rPr>
              <a:t>양측 군집 표준오차</a:t>
            </a:r>
            <a:r>
              <a:rPr lang="en-US" altLang="ko-KR" sz="2000">
                <a:solidFill>
                  <a:srgbClr val="454444"/>
                </a:solidFill>
                <a:latin typeface="페이퍼로지 2 ExtraLight" pitchFamily="2" charset="-127"/>
                <a:ea typeface="페이퍼로지 2 ExtraLight" pitchFamily="2" charset="-127"/>
              </a:rPr>
              <a:t>: </a:t>
            </a:r>
            <a:r>
              <a:rPr lang="ko-KR" altLang="en-US" sz="2000">
                <a:solidFill>
                  <a:srgbClr val="454444"/>
                </a:solidFill>
                <a:latin typeface="페이퍼로지 2 ExtraLight" pitchFamily="2" charset="-127"/>
                <a:ea typeface="페이퍼로지 2 ExtraLight" pitchFamily="2" charset="-127"/>
              </a:rPr>
              <a:t>기업 내 </a:t>
            </a:r>
            <a:r>
              <a:rPr lang="en-US" altLang="ko-KR" sz="2000">
                <a:solidFill>
                  <a:srgbClr val="454444"/>
                </a:solidFill>
                <a:latin typeface="페이퍼로지 2 ExtraLight" pitchFamily="2" charset="-127"/>
                <a:ea typeface="페이퍼로지 2 ExtraLight" pitchFamily="2" charset="-127"/>
              </a:rPr>
              <a:t>+ </a:t>
            </a:r>
            <a:r>
              <a:rPr lang="ko-KR" altLang="en-US" sz="2000">
                <a:solidFill>
                  <a:srgbClr val="454444"/>
                </a:solidFill>
                <a:latin typeface="페이퍼로지 2 ExtraLight" pitchFamily="2" charset="-127"/>
                <a:ea typeface="페이퍼로지 2 ExtraLight" pitchFamily="2" charset="-127"/>
              </a:rPr>
              <a:t>연도 내 상관 고려</a:t>
            </a:r>
          </a:p>
        </p:txBody>
      </p:sp>
      <p:sp>
        <p:nvSpPr>
          <p:cNvPr id="27" name="슬라이드 번호 개체 틀 26">
            <a:extLst>
              <a:ext uri="{FF2B5EF4-FFF2-40B4-BE49-F238E27FC236}">
                <a16:creationId xmlns:a16="http://schemas.microsoft.com/office/drawing/2014/main" id="{3F5CDE0C-C34D-AD2D-1CBC-CC78918BA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4641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C5C557-2040-D02B-1E9E-6B8BD84C67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4">
            <a:extLst>
              <a:ext uri="{FF2B5EF4-FFF2-40B4-BE49-F238E27FC236}">
                <a16:creationId xmlns:a16="http://schemas.microsoft.com/office/drawing/2014/main" id="{1F588716-5558-8BD7-D33A-A0CC8EDB4384}"/>
              </a:ext>
            </a:extLst>
          </p:cNvPr>
          <p:cNvSpPr/>
          <p:nvPr/>
        </p:nvSpPr>
        <p:spPr>
          <a:xfrm flipH="1">
            <a:off x="67846" y="5379410"/>
            <a:ext cx="5674196" cy="4931392"/>
          </a:xfrm>
          <a:custGeom>
            <a:avLst/>
            <a:gdLst/>
            <a:ahLst/>
            <a:cxnLst/>
            <a:rect l="l" t="t" r="r" b="b"/>
            <a:pathLst>
              <a:path w="5674196" h="4931392">
                <a:moveTo>
                  <a:pt x="5674196" y="0"/>
                </a:moveTo>
                <a:lnTo>
                  <a:pt x="0" y="0"/>
                </a:lnTo>
                <a:lnTo>
                  <a:pt x="0" y="4931391"/>
                </a:lnTo>
                <a:lnTo>
                  <a:pt x="5674196" y="4931391"/>
                </a:lnTo>
                <a:lnTo>
                  <a:pt x="567419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4232CA27-8916-64D5-A35F-9C7236DF03AD}"/>
              </a:ext>
            </a:extLst>
          </p:cNvPr>
          <p:cNvSpPr/>
          <p:nvPr/>
        </p:nvSpPr>
        <p:spPr>
          <a:xfrm flipV="1">
            <a:off x="1028700" y="1169525"/>
            <a:ext cx="16230600" cy="0"/>
          </a:xfrm>
          <a:prstGeom prst="line">
            <a:avLst/>
          </a:prstGeom>
          <a:ln w="19050" cap="flat">
            <a:solidFill>
              <a:srgbClr val="D9D9D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F8479A56-E375-9B84-6403-EC0AC05FC9C9}"/>
              </a:ext>
            </a:extLst>
          </p:cNvPr>
          <p:cNvSpPr txBox="1"/>
          <p:nvPr/>
        </p:nvSpPr>
        <p:spPr>
          <a:xfrm>
            <a:off x="1028700" y="1399848"/>
            <a:ext cx="1502946" cy="11319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579"/>
              </a:lnSpc>
            </a:pPr>
            <a:r>
              <a:rPr lang="en-US" altLang="ko-KR" sz="7983" spc="-239">
                <a:solidFill>
                  <a:srgbClr val="15A9F1"/>
                </a:solidFill>
                <a:latin typeface="페이퍼로지 5 Medium" pitchFamily="2" charset="-127"/>
                <a:ea typeface="페이퍼로지 5 Medium" pitchFamily="2" charset="-127"/>
                <a:cs typeface="Nanum Square Bold"/>
                <a:sym typeface="Nanum Square Bold"/>
              </a:rPr>
              <a:t>03</a:t>
            </a:r>
            <a:endParaRPr lang="en-US" sz="7983" spc="-239">
              <a:solidFill>
                <a:srgbClr val="15A9F1"/>
              </a:solidFill>
              <a:latin typeface="페이퍼로지 5 Medium" pitchFamily="2" charset="-127"/>
              <a:ea typeface="페이퍼로지 5 Medium" pitchFamily="2" charset="-127"/>
              <a:cs typeface="Nanum Square Bold"/>
              <a:sym typeface="Nanum Square Bold"/>
            </a:endParaRP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EACF3247-993F-E793-4C5D-27229855D3AD}"/>
              </a:ext>
            </a:extLst>
          </p:cNvPr>
          <p:cNvSpPr txBox="1"/>
          <p:nvPr/>
        </p:nvSpPr>
        <p:spPr>
          <a:xfrm>
            <a:off x="2531646" y="1626872"/>
            <a:ext cx="14232354" cy="7694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000"/>
              </a:lnSpc>
            </a:pPr>
            <a:r>
              <a:rPr lang="ko-KR" altLang="en-US" sz="5000">
                <a:solidFill>
                  <a:srgbClr val="454444"/>
                </a:solidFill>
                <a:latin typeface="페이퍼로지 5 Medium" pitchFamily="2" charset="-127"/>
                <a:ea typeface="페이퍼로지 5 Medium" pitchFamily="2" charset="-127"/>
                <a:cs typeface="Nanum Square Bold"/>
                <a:sym typeface="Nanum Square Bold"/>
              </a:rPr>
              <a:t>투자의 역설 </a:t>
            </a:r>
            <a:r>
              <a:rPr lang="en-US" altLang="ko-KR" sz="5000">
                <a:solidFill>
                  <a:srgbClr val="454444"/>
                </a:solidFill>
                <a:latin typeface="페이퍼로지 5 Medium" pitchFamily="2" charset="-127"/>
                <a:ea typeface="페이퍼로지 5 Medium" pitchFamily="2" charset="-127"/>
                <a:cs typeface="Nanum Square Bold"/>
                <a:sym typeface="Nanum Square Bold"/>
              </a:rPr>
              <a:t>- </a:t>
            </a:r>
            <a:r>
              <a:rPr lang="en-US" altLang="ko-KR" sz="5000">
                <a:solidFill>
                  <a:srgbClr val="454444"/>
                </a:solidFill>
                <a:latin typeface="페이퍼로지 5 Medium" pitchFamily="2" charset="-127"/>
                <a:ea typeface="페이퍼로지 5 Medium" pitchFamily="2" charset="-127"/>
              </a:rPr>
              <a:t>3</a:t>
            </a:r>
            <a:r>
              <a:rPr lang="ko-KR" altLang="en-US" sz="5000">
                <a:solidFill>
                  <a:srgbClr val="454444"/>
                </a:solidFill>
                <a:latin typeface="페이퍼로지 5 Medium" pitchFamily="2" charset="-127"/>
                <a:ea typeface="페이퍼로지 5 Medium" pitchFamily="2" charset="-127"/>
              </a:rPr>
              <a:t>단계</a:t>
            </a:r>
            <a:r>
              <a:rPr lang="en-US" altLang="ko-KR" sz="5000">
                <a:solidFill>
                  <a:srgbClr val="454444"/>
                </a:solidFill>
                <a:latin typeface="페이퍼로지 5 Medium" pitchFamily="2" charset="-127"/>
                <a:ea typeface="페이퍼로지 5 Medium" pitchFamily="2" charset="-127"/>
              </a:rPr>
              <a:t>: </a:t>
            </a:r>
            <a:r>
              <a:rPr lang="ko-KR" altLang="en-US" sz="5000">
                <a:solidFill>
                  <a:srgbClr val="454444"/>
                </a:solidFill>
                <a:latin typeface="페이퍼로지 5 Medium" pitchFamily="2" charset="-127"/>
                <a:ea typeface="페이퍼로지 5 Medium" pitchFamily="2" charset="-127"/>
              </a:rPr>
              <a:t>재투자 여력 감소의 악순환</a:t>
            </a:r>
            <a:endParaRPr lang="en-US" altLang="ko-KR" sz="5000">
              <a:solidFill>
                <a:srgbClr val="454444"/>
              </a:solidFill>
              <a:latin typeface="페이퍼로지 5 Medium" pitchFamily="2" charset="-127"/>
              <a:ea typeface="페이퍼로지 5 Medium" pitchFamily="2" charset="-127"/>
              <a:cs typeface="Nanum Square Bold"/>
              <a:sym typeface="Nanum Square Bold"/>
            </a:endParaRP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12CA6291-4BBA-B2AD-1C77-A09A1806DB8C}"/>
              </a:ext>
            </a:extLst>
          </p:cNvPr>
          <p:cNvSpPr txBox="1"/>
          <p:nvPr/>
        </p:nvSpPr>
        <p:spPr>
          <a:xfrm>
            <a:off x="1123950" y="811675"/>
            <a:ext cx="3295650" cy="2239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888"/>
              </a:lnSpc>
            </a:pPr>
            <a:r>
              <a:rPr lang="ko-KR" altLang="en-US" sz="1574">
                <a:solidFill>
                  <a:srgbClr val="545454"/>
                </a:solidFill>
                <a:latin typeface="페이퍼로지 3 Light" pitchFamily="2" charset="-127"/>
                <a:ea typeface="페이퍼로지 3 Light" pitchFamily="2" charset="-127"/>
                <a:cs typeface="Nanum Square"/>
                <a:sym typeface="Nanum Square"/>
              </a:rPr>
              <a:t>한국언론학회 </a:t>
            </a:r>
            <a:r>
              <a:rPr lang="en-US" altLang="ko-KR" sz="1574">
                <a:solidFill>
                  <a:srgbClr val="545454"/>
                </a:solidFill>
                <a:latin typeface="페이퍼로지 3 Light" pitchFamily="2" charset="-127"/>
                <a:ea typeface="페이퍼로지 3 Light" pitchFamily="2" charset="-127"/>
                <a:cs typeface="Nanum Square"/>
                <a:sym typeface="Nanum Square"/>
              </a:rPr>
              <a:t>2025 </a:t>
            </a:r>
            <a:r>
              <a:rPr lang="ko-KR" altLang="en-US" sz="1574">
                <a:solidFill>
                  <a:srgbClr val="545454"/>
                </a:solidFill>
                <a:latin typeface="페이퍼로지 3 Light" pitchFamily="2" charset="-127"/>
                <a:ea typeface="페이퍼로지 3 Light" pitchFamily="2" charset="-127"/>
                <a:cs typeface="Nanum Square"/>
                <a:sym typeface="Nanum Square"/>
              </a:rPr>
              <a:t>가을철 학술대회</a:t>
            </a:r>
            <a:endParaRPr lang="en-US" altLang="ko-KR" sz="1574">
              <a:solidFill>
                <a:srgbClr val="545454"/>
              </a:solidFill>
              <a:latin typeface="페이퍼로지 3 Light" pitchFamily="2" charset="-127"/>
              <a:ea typeface="페이퍼로지 3 Light" pitchFamily="2" charset="-127"/>
              <a:cs typeface="Nanum Square"/>
              <a:sym typeface="Nanum Square"/>
            </a:endParaRPr>
          </a:p>
        </p:txBody>
      </p:sp>
      <p:sp>
        <p:nvSpPr>
          <p:cNvPr id="20" name="TextBox 12">
            <a:extLst>
              <a:ext uri="{FF2B5EF4-FFF2-40B4-BE49-F238E27FC236}">
                <a16:creationId xmlns:a16="http://schemas.microsoft.com/office/drawing/2014/main" id="{571E44E0-FA71-71FB-6C37-7A185B44B0BB}"/>
              </a:ext>
            </a:extLst>
          </p:cNvPr>
          <p:cNvSpPr txBox="1"/>
          <p:nvPr/>
        </p:nvSpPr>
        <p:spPr>
          <a:xfrm>
            <a:off x="15135245" y="792625"/>
            <a:ext cx="2124055" cy="2116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768"/>
              </a:lnSpc>
            </a:pPr>
            <a:r>
              <a:rPr lang="ko-KR" altLang="en-US" sz="1474" b="1">
                <a:solidFill>
                  <a:srgbClr val="545454"/>
                </a:solidFill>
                <a:latin typeface="페이퍼로지 6 SemiBold" pitchFamily="2" charset="-127"/>
                <a:ea typeface="페이퍼로지 6 SemiBold" pitchFamily="2" charset="-127"/>
                <a:cs typeface="Nanum Square Bold"/>
                <a:sym typeface="Nanum Square Bold"/>
              </a:rPr>
              <a:t>선문대학교</a:t>
            </a:r>
            <a:endParaRPr lang="en-US" sz="1474" b="1">
              <a:solidFill>
                <a:srgbClr val="545454"/>
              </a:solidFill>
              <a:latin typeface="페이퍼로지 6 SemiBold" pitchFamily="2" charset="-127"/>
              <a:ea typeface="페이퍼로지 6 SemiBold" pitchFamily="2" charset="-127"/>
              <a:cs typeface="Nanum Square Bold"/>
              <a:sym typeface="Nanum Square Bold"/>
            </a:endParaRPr>
          </a:p>
        </p:txBody>
      </p:sp>
      <p:sp>
        <p:nvSpPr>
          <p:cNvPr id="5" name="Freeform 11">
            <a:extLst>
              <a:ext uri="{FF2B5EF4-FFF2-40B4-BE49-F238E27FC236}">
                <a16:creationId xmlns:a16="http://schemas.microsoft.com/office/drawing/2014/main" id="{E7F1B6D6-0131-AADD-743E-A596A17C361B}"/>
              </a:ext>
            </a:extLst>
          </p:cNvPr>
          <p:cNvSpPr/>
          <p:nvPr/>
        </p:nvSpPr>
        <p:spPr>
          <a:xfrm>
            <a:off x="1138739" y="2893711"/>
            <a:ext cx="496132" cy="493858"/>
          </a:xfrm>
          <a:custGeom>
            <a:avLst/>
            <a:gdLst/>
            <a:ahLst/>
            <a:cxnLst/>
            <a:rect l="l" t="t" r="r" b="b"/>
            <a:pathLst>
              <a:path w="496132" h="493858">
                <a:moveTo>
                  <a:pt x="0" y="0"/>
                </a:moveTo>
                <a:lnTo>
                  <a:pt x="496132" y="0"/>
                </a:lnTo>
                <a:lnTo>
                  <a:pt x="496132" y="493858"/>
                </a:lnTo>
                <a:lnTo>
                  <a:pt x="0" y="49385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2A0D76-3D27-24D1-93B9-B6B7536CC244}"/>
              </a:ext>
            </a:extLst>
          </p:cNvPr>
          <p:cNvSpPr txBox="1"/>
          <p:nvPr/>
        </p:nvSpPr>
        <p:spPr>
          <a:xfrm>
            <a:off x="1670313" y="2926495"/>
            <a:ext cx="1346493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250"/>
              </a:spcBef>
              <a:spcAft>
                <a:spcPts val="1500"/>
              </a:spcAft>
              <a:buNone/>
            </a:pPr>
            <a:r>
              <a:rPr lang="ko-KR" altLang="en-US" sz="2800" i="0">
                <a:solidFill>
                  <a:srgbClr val="C00000"/>
                </a:solidFill>
                <a:effectLst/>
                <a:latin typeface="페이퍼로지 7 Bold" pitchFamily="2" charset="-127"/>
                <a:ea typeface="페이퍼로지 7 Bold" pitchFamily="2" charset="-127"/>
              </a:rPr>
              <a:t>재투자 여력 감소 메커니즘 </a:t>
            </a:r>
            <a:r>
              <a:rPr lang="en-US" altLang="ko-KR" sz="2800" b="1" i="0">
                <a:solidFill>
                  <a:srgbClr val="2A5298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sz="2800" b="1" i="0">
                <a:solidFill>
                  <a:srgbClr val="2A5298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낮은 수익 → 내부 유보 감소 → 미래 투자 재원 고갈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6826DE-71F7-3F08-5F60-EA7540F761AE}"/>
              </a:ext>
            </a:extLst>
          </p:cNvPr>
          <p:cNvSpPr txBox="1"/>
          <p:nvPr/>
        </p:nvSpPr>
        <p:spPr>
          <a:xfrm>
            <a:off x="4838700" y="3955086"/>
            <a:ext cx="10820400" cy="952505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000" b="1">
                <a:latin typeface="페이퍼로지 6 SemiBold" pitchFamily="2" charset="-127"/>
                <a:ea typeface="페이퍼로지 6 SemiBold" pitchFamily="2" charset="-127"/>
              </a:rPr>
              <a:t>과잉투자 강제</a:t>
            </a:r>
            <a:endParaRPr lang="ko-KR" altLang="en-US" sz="2400">
              <a:latin typeface="페이퍼로지 6 SemiBold" pitchFamily="2" charset="-127"/>
              <a:ea typeface="페이퍼로지 6 SemiBold" pitchFamily="2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2000">
                <a:latin typeface="페이퍼로지 6 SemiBold" pitchFamily="2" charset="-127"/>
                <a:ea typeface="페이퍼로지 6 SemiBold" pitchFamily="2" charset="-127"/>
              </a:rPr>
              <a:t>적정 수준 초과 투자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D5F841-BF6D-1109-00D6-C84F3338732B}"/>
              </a:ext>
            </a:extLst>
          </p:cNvPr>
          <p:cNvSpPr txBox="1"/>
          <p:nvPr/>
        </p:nvSpPr>
        <p:spPr>
          <a:xfrm>
            <a:off x="4838700" y="5474349"/>
            <a:ext cx="10820400" cy="95250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000" b="1">
                <a:solidFill>
                  <a:srgbClr val="C00000"/>
                </a:solidFill>
                <a:latin typeface="페이퍼로지 6 SemiBold" pitchFamily="2" charset="-127"/>
                <a:ea typeface="페이퍼로지 6 SemiBold" pitchFamily="2" charset="-127"/>
              </a:rPr>
              <a:t>영업이익 감소</a:t>
            </a:r>
            <a:endParaRPr lang="ko-KR" altLang="en-US" sz="2400">
              <a:solidFill>
                <a:srgbClr val="C00000"/>
              </a:solidFill>
              <a:latin typeface="페이퍼로지 6 SemiBold" pitchFamily="2" charset="-127"/>
              <a:ea typeface="페이퍼로지 6 SemiBold" pitchFamily="2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2000">
                <a:latin typeface="페이퍼로지 6 SemiBold" pitchFamily="2" charset="-127"/>
                <a:ea typeface="페이퍼로지 6 SemiBold" pitchFamily="2" charset="-127"/>
              </a:rPr>
              <a:t>투자비율 ↑ → 영업이익률 ↓</a:t>
            </a:r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9AB69E2C-E79A-62F9-2140-0160451F0B6E}"/>
              </a:ext>
            </a:extLst>
          </p:cNvPr>
          <p:cNvCxnSpPr>
            <a:cxnSpLocks/>
            <a:stCxn id="3" idx="2"/>
            <a:endCxn id="8" idx="0"/>
          </p:cNvCxnSpPr>
          <p:nvPr/>
        </p:nvCxnSpPr>
        <p:spPr>
          <a:xfrm>
            <a:off x="10248900" y="4907591"/>
            <a:ext cx="0" cy="56675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08991B0B-F56A-CBF9-AE0C-0C79B648B93E}"/>
              </a:ext>
            </a:extLst>
          </p:cNvPr>
          <p:cNvSpPr txBox="1"/>
          <p:nvPr/>
        </p:nvSpPr>
        <p:spPr>
          <a:xfrm>
            <a:off x="4838700" y="6998357"/>
            <a:ext cx="10820400" cy="95250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000" b="1">
                <a:solidFill>
                  <a:srgbClr val="00ACFF"/>
                </a:solidFill>
                <a:latin typeface="페이퍼로지 6 SemiBold" pitchFamily="2" charset="-127"/>
                <a:ea typeface="페이퍼로지 6 SemiBold" pitchFamily="2" charset="-127"/>
              </a:rPr>
              <a:t>내부 유보 고갈</a:t>
            </a:r>
            <a:endParaRPr lang="ko-KR" altLang="en-US" sz="2400">
              <a:solidFill>
                <a:srgbClr val="00ACFF"/>
              </a:solidFill>
              <a:latin typeface="페이퍼로지 6 SemiBold" pitchFamily="2" charset="-127"/>
              <a:ea typeface="페이퍼로지 6 SemiBold" pitchFamily="2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2000">
                <a:latin typeface="페이퍼로지 6 SemiBold" pitchFamily="2" charset="-127"/>
                <a:ea typeface="페이퍼로지 6 SemiBold" pitchFamily="2" charset="-127"/>
              </a:rPr>
              <a:t>미래 투자 재원 부족</a:t>
            </a:r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E0F3AC56-F7FB-F8FF-F25C-7D8089B9C670}"/>
              </a:ext>
            </a:extLst>
          </p:cNvPr>
          <p:cNvCxnSpPr>
            <a:cxnSpLocks/>
            <a:stCxn id="8" idx="2"/>
            <a:endCxn id="10" idx="0"/>
          </p:cNvCxnSpPr>
          <p:nvPr/>
        </p:nvCxnSpPr>
        <p:spPr>
          <a:xfrm>
            <a:off x="10248900" y="6426854"/>
            <a:ext cx="0" cy="57150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A6D6A267-18F6-8635-5DFD-963EF1A012FF}"/>
              </a:ext>
            </a:extLst>
          </p:cNvPr>
          <p:cNvCxnSpPr>
            <a:cxnSpLocks/>
            <a:stCxn id="10" idx="2"/>
            <a:endCxn id="15" idx="0"/>
          </p:cNvCxnSpPr>
          <p:nvPr/>
        </p:nvCxnSpPr>
        <p:spPr>
          <a:xfrm>
            <a:off x="10248900" y="7950862"/>
            <a:ext cx="0" cy="56675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141DB3C8-6196-8093-1A72-EFE509E59598}"/>
              </a:ext>
            </a:extLst>
          </p:cNvPr>
          <p:cNvSpPr txBox="1"/>
          <p:nvPr/>
        </p:nvSpPr>
        <p:spPr>
          <a:xfrm>
            <a:off x="4838700" y="8517620"/>
            <a:ext cx="10820400" cy="952505"/>
          </a:xfrm>
          <a:prstGeom prst="rect">
            <a:avLst/>
          </a:prstGeom>
          <a:ln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000" b="1">
                <a:latin typeface="페이퍼로지 6 SemiBold" pitchFamily="2" charset="-127"/>
                <a:ea typeface="페이퍼로지 6 SemiBold" pitchFamily="2" charset="-127"/>
              </a:rPr>
              <a:t>재투자 여력 상실</a:t>
            </a:r>
            <a:endParaRPr lang="ko-KR" altLang="en-US" sz="2000">
              <a:latin typeface="페이퍼로지 6 SemiBold" pitchFamily="2" charset="-127"/>
              <a:ea typeface="페이퍼로지 6 SemiBold" pitchFamily="2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2000">
                <a:latin typeface="페이퍼로지 6 SemiBold" pitchFamily="2" charset="-127"/>
                <a:ea typeface="페이퍼로지 6 SemiBold" pitchFamily="2" charset="-127"/>
              </a:rPr>
              <a:t>혁신 투자 불가 → 경쟁력 약화</a:t>
            </a:r>
          </a:p>
        </p:txBody>
      </p:sp>
      <p:sp>
        <p:nvSpPr>
          <p:cNvPr id="26" name="슬라이드 번호 개체 틀 25">
            <a:extLst>
              <a:ext uri="{FF2B5EF4-FFF2-40B4-BE49-F238E27FC236}">
                <a16:creationId xmlns:a16="http://schemas.microsoft.com/office/drawing/2014/main" id="{E91FEC85-4BA7-A52B-4DEC-C36096A5E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9350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68EAC6-A1B3-9F7F-B0D2-251E0F2D57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3C300B53-800E-F43B-42EF-BB0D28D90D13}"/>
              </a:ext>
            </a:extLst>
          </p:cNvPr>
          <p:cNvSpPr/>
          <p:nvPr/>
        </p:nvSpPr>
        <p:spPr>
          <a:xfrm flipV="1">
            <a:off x="1028700" y="1169525"/>
            <a:ext cx="16230600" cy="0"/>
          </a:xfrm>
          <a:prstGeom prst="line">
            <a:avLst/>
          </a:prstGeom>
          <a:ln w="19050" cap="flat">
            <a:solidFill>
              <a:srgbClr val="D9D9D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1FE21C76-2C9C-79AA-01F5-6DF7FF0BE006}"/>
              </a:ext>
            </a:extLst>
          </p:cNvPr>
          <p:cNvSpPr txBox="1"/>
          <p:nvPr/>
        </p:nvSpPr>
        <p:spPr>
          <a:xfrm>
            <a:off x="1028700" y="1399848"/>
            <a:ext cx="1502946" cy="11319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579"/>
              </a:lnSpc>
            </a:pPr>
            <a:r>
              <a:rPr lang="en-US" altLang="ko-KR" sz="7983" spc="-239">
                <a:solidFill>
                  <a:srgbClr val="15A9F1"/>
                </a:solidFill>
                <a:latin typeface="페이퍼로지 5 Medium" pitchFamily="2" charset="-127"/>
                <a:ea typeface="페이퍼로지 5 Medium" pitchFamily="2" charset="-127"/>
                <a:cs typeface="Nanum Square Bold"/>
                <a:sym typeface="Nanum Square Bold"/>
              </a:rPr>
              <a:t>03</a:t>
            </a:r>
            <a:endParaRPr lang="en-US" sz="7983" spc="-239">
              <a:solidFill>
                <a:srgbClr val="15A9F1"/>
              </a:solidFill>
              <a:latin typeface="페이퍼로지 5 Medium" pitchFamily="2" charset="-127"/>
              <a:ea typeface="페이퍼로지 5 Medium" pitchFamily="2" charset="-127"/>
              <a:cs typeface="Nanum Square Bold"/>
              <a:sym typeface="Nanum Square Bold"/>
            </a:endParaRP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215F7435-5669-54B1-6802-43E6B4B95DAE}"/>
              </a:ext>
            </a:extLst>
          </p:cNvPr>
          <p:cNvSpPr txBox="1"/>
          <p:nvPr/>
        </p:nvSpPr>
        <p:spPr>
          <a:xfrm>
            <a:off x="2531646" y="1626872"/>
            <a:ext cx="14232354" cy="7694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000"/>
              </a:lnSpc>
            </a:pPr>
            <a:r>
              <a:rPr lang="ko-KR" altLang="en-US" sz="5000">
                <a:solidFill>
                  <a:srgbClr val="454444"/>
                </a:solidFill>
                <a:latin typeface="페이퍼로지 5 Medium" pitchFamily="2" charset="-127"/>
                <a:ea typeface="페이퍼로지 5 Medium" pitchFamily="2" charset="-127"/>
                <a:cs typeface="Nanum Square Bold"/>
                <a:sym typeface="Nanum Square Bold"/>
              </a:rPr>
              <a:t>투자의 역설 </a:t>
            </a:r>
            <a:r>
              <a:rPr lang="en-US" altLang="ko-KR" sz="5000">
                <a:solidFill>
                  <a:srgbClr val="454444"/>
                </a:solidFill>
                <a:latin typeface="페이퍼로지 5 Medium" pitchFamily="2" charset="-127"/>
                <a:ea typeface="페이퍼로지 5 Medium" pitchFamily="2" charset="-127"/>
                <a:cs typeface="Nanum Square Bold"/>
                <a:sym typeface="Nanum Square Bold"/>
              </a:rPr>
              <a:t>– </a:t>
            </a:r>
            <a:r>
              <a:rPr lang="ko-KR" altLang="en-US" sz="5000">
                <a:solidFill>
                  <a:srgbClr val="454444"/>
                </a:solidFill>
                <a:latin typeface="페이퍼로지 5 Medium" pitchFamily="2" charset="-127"/>
                <a:ea typeface="페이퍼로지 5 Medium" pitchFamily="2" charset="-127"/>
                <a:cs typeface="Nanum Square Bold"/>
                <a:sym typeface="Nanum Square Bold"/>
              </a:rPr>
              <a:t>정리</a:t>
            </a:r>
            <a:endParaRPr lang="en-US" altLang="ko-KR" sz="5000">
              <a:solidFill>
                <a:srgbClr val="454444"/>
              </a:solidFill>
              <a:latin typeface="페이퍼로지 5 Medium" pitchFamily="2" charset="-127"/>
              <a:ea typeface="페이퍼로지 5 Medium" pitchFamily="2" charset="-127"/>
              <a:cs typeface="Nanum Square Bold"/>
              <a:sym typeface="Nanum Square Bold"/>
            </a:endParaRP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7CB3A562-7A41-E284-1A2C-95C8765C4F7D}"/>
              </a:ext>
            </a:extLst>
          </p:cNvPr>
          <p:cNvSpPr txBox="1"/>
          <p:nvPr/>
        </p:nvSpPr>
        <p:spPr>
          <a:xfrm>
            <a:off x="1123950" y="811675"/>
            <a:ext cx="3295650" cy="2239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888"/>
              </a:lnSpc>
            </a:pPr>
            <a:r>
              <a:rPr lang="ko-KR" altLang="en-US" sz="1574">
                <a:solidFill>
                  <a:srgbClr val="545454"/>
                </a:solidFill>
                <a:latin typeface="페이퍼로지 3 Light" pitchFamily="2" charset="-127"/>
                <a:ea typeface="페이퍼로지 3 Light" pitchFamily="2" charset="-127"/>
                <a:cs typeface="Nanum Square"/>
                <a:sym typeface="Nanum Square"/>
              </a:rPr>
              <a:t>한국언론학회 </a:t>
            </a:r>
            <a:r>
              <a:rPr lang="en-US" altLang="ko-KR" sz="1574">
                <a:solidFill>
                  <a:srgbClr val="545454"/>
                </a:solidFill>
                <a:latin typeface="페이퍼로지 3 Light" pitchFamily="2" charset="-127"/>
                <a:ea typeface="페이퍼로지 3 Light" pitchFamily="2" charset="-127"/>
                <a:cs typeface="Nanum Square"/>
                <a:sym typeface="Nanum Square"/>
              </a:rPr>
              <a:t>2025 </a:t>
            </a:r>
            <a:r>
              <a:rPr lang="ko-KR" altLang="en-US" sz="1574">
                <a:solidFill>
                  <a:srgbClr val="545454"/>
                </a:solidFill>
                <a:latin typeface="페이퍼로지 3 Light" pitchFamily="2" charset="-127"/>
                <a:ea typeface="페이퍼로지 3 Light" pitchFamily="2" charset="-127"/>
                <a:cs typeface="Nanum Square"/>
                <a:sym typeface="Nanum Square"/>
              </a:rPr>
              <a:t>가을철 학술대회</a:t>
            </a:r>
            <a:endParaRPr lang="en-US" altLang="ko-KR" sz="1574">
              <a:solidFill>
                <a:srgbClr val="545454"/>
              </a:solidFill>
              <a:latin typeface="페이퍼로지 3 Light" pitchFamily="2" charset="-127"/>
              <a:ea typeface="페이퍼로지 3 Light" pitchFamily="2" charset="-127"/>
              <a:cs typeface="Nanum Square"/>
              <a:sym typeface="Nanum Square"/>
            </a:endParaRPr>
          </a:p>
        </p:txBody>
      </p:sp>
      <p:sp>
        <p:nvSpPr>
          <p:cNvPr id="20" name="TextBox 12">
            <a:extLst>
              <a:ext uri="{FF2B5EF4-FFF2-40B4-BE49-F238E27FC236}">
                <a16:creationId xmlns:a16="http://schemas.microsoft.com/office/drawing/2014/main" id="{2E719355-B693-EFE3-63C0-1BADA645E8BB}"/>
              </a:ext>
            </a:extLst>
          </p:cNvPr>
          <p:cNvSpPr txBox="1"/>
          <p:nvPr/>
        </p:nvSpPr>
        <p:spPr>
          <a:xfrm>
            <a:off x="15135245" y="792625"/>
            <a:ext cx="2124055" cy="2116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768"/>
              </a:lnSpc>
            </a:pPr>
            <a:r>
              <a:rPr lang="ko-KR" altLang="en-US" sz="1474" b="1">
                <a:solidFill>
                  <a:srgbClr val="545454"/>
                </a:solidFill>
                <a:latin typeface="페이퍼로지 6 SemiBold" pitchFamily="2" charset="-127"/>
                <a:ea typeface="페이퍼로지 6 SemiBold" pitchFamily="2" charset="-127"/>
                <a:cs typeface="Nanum Square Bold"/>
                <a:sym typeface="Nanum Square Bold"/>
              </a:rPr>
              <a:t>선문대학교</a:t>
            </a:r>
            <a:endParaRPr lang="en-US" sz="1474" b="1">
              <a:solidFill>
                <a:srgbClr val="545454"/>
              </a:solidFill>
              <a:latin typeface="페이퍼로지 6 SemiBold" pitchFamily="2" charset="-127"/>
              <a:ea typeface="페이퍼로지 6 SemiBold" pitchFamily="2" charset="-127"/>
              <a:cs typeface="Nanum Square Bold"/>
              <a:sym typeface="Nanum Square Bold"/>
            </a:endParaRPr>
          </a:p>
        </p:txBody>
      </p:sp>
      <p:sp>
        <p:nvSpPr>
          <p:cNvPr id="5" name="Freeform 11">
            <a:extLst>
              <a:ext uri="{FF2B5EF4-FFF2-40B4-BE49-F238E27FC236}">
                <a16:creationId xmlns:a16="http://schemas.microsoft.com/office/drawing/2014/main" id="{4CE0097C-60FB-7182-1C2D-D737DDA66B4F}"/>
              </a:ext>
            </a:extLst>
          </p:cNvPr>
          <p:cNvSpPr/>
          <p:nvPr/>
        </p:nvSpPr>
        <p:spPr>
          <a:xfrm>
            <a:off x="1138739" y="2893711"/>
            <a:ext cx="496132" cy="493858"/>
          </a:xfrm>
          <a:custGeom>
            <a:avLst/>
            <a:gdLst/>
            <a:ahLst/>
            <a:cxnLst/>
            <a:rect l="l" t="t" r="r" b="b"/>
            <a:pathLst>
              <a:path w="496132" h="493858">
                <a:moveTo>
                  <a:pt x="0" y="0"/>
                </a:moveTo>
                <a:lnTo>
                  <a:pt x="496132" y="0"/>
                </a:lnTo>
                <a:lnTo>
                  <a:pt x="496132" y="493858"/>
                </a:lnTo>
                <a:lnTo>
                  <a:pt x="0" y="4938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AA29A3-BDEF-96DD-CF99-029CF34DFD31}"/>
              </a:ext>
            </a:extLst>
          </p:cNvPr>
          <p:cNvSpPr txBox="1"/>
          <p:nvPr/>
        </p:nvSpPr>
        <p:spPr>
          <a:xfrm>
            <a:off x="1670313" y="2926495"/>
            <a:ext cx="1346493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250"/>
              </a:spcBef>
              <a:spcAft>
                <a:spcPts val="1500"/>
              </a:spcAft>
              <a:buNone/>
            </a:pPr>
            <a:r>
              <a:rPr lang="ko-KR" altLang="en-US" sz="2800" i="0">
                <a:solidFill>
                  <a:srgbClr val="C00000"/>
                </a:solidFill>
                <a:effectLst/>
                <a:latin typeface="페이퍼로지 7 Bold" pitchFamily="2" charset="-127"/>
                <a:ea typeface="페이퍼로지 7 Bold" pitchFamily="2" charset="-127"/>
              </a:rPr>
              <a:t>더 많은 투자 → 더 낮은 수익 → 더 적은 미래 투자</a:t>
            </a:r>
          </a:p>
        </p:txBody>
      </p: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F6B827D1-91CB-59FD-D283-F1E7326877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6075003"/>
              </p:ext>
            </p:extLst>
          </p:nvPr>
        </p:nvGraphicFramePr>
        <p:xfrm>
          <a:off x="1670313" y="4305300"/>
          <a:ext cx="15624429" cy="2779093"/>
        </p:xfrm>
        <a:graphic>
          <a:graphicData uri="http://schemas.openxmlformats.org/drawingml/2006/table">
            <a:tbl>
              <a:tblPr/>
              <a:tblGrid>
                <a:gridCol w="5208143">
                  <a:extLst>
                    <a:ext uri="{9D8B030D-6E8A-4147-A177-3AD203B41FA5}">
                      <a16:colId xmlns:a16="http://schemas.microsoft.com/office/drawing/2014/main" val="3756985695"/>
                    </a:ext>
                  </a:extLst>
                </a:gridCol>
                <a:gridCol w="5208143">
                  <a:extLst>
                    <a:ext uri="{9D8B030D-6E8A-4147-A177-3AD203B41FA5}">
                      <a16:colId xmlns:a16="http://schemas.microsoft.com/office/drawing/2014/main" val="1377335895"/>
                    </a:ext>
                  </a:extLst>
                </a:gridCol>
                <a:gridCol w="5208143">
                  <a:extLst>
                    <a:ext uri="{9D8B030D-6E8A-4147-A177-3AD203B41FA5}">
                      <a16:colId xmlns:a16="http://schemas.microsoft.com/office/drawing/2014/main" val="276225787"/>
                    </a:ext>
                  </a:extLst>
                </a:gridCol>
              </a:tblGrid>
              <a:tr h="77965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2400" b="1">
                          <a:solidFill>
                            <a:srgbClr val="FFFFFF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단계</a:t>
                      </a:r>
                    </a:p>
                  </a:txBody>
                  <a:tcPr marL="158262" marR="158262" marT="158262" marB="1582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A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2400" b="1">
                          <a:solidFill>
                            <a:srgbClr val="FFFFFF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메커니즘</a:t>
                      </a:r>
                    </a:p>
                  </a:txBody>
                  <a:tcPr marL="158262" marR="158262" marT="158262" marB="1582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A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2400" b="1">
                          <a:solidFill>
                            <a:srgbClr val="FFFFFF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결과</a:t>
                      </a:r>
                    </a:p>
                  </a:txBody>
                  <a:tcPr marL="158262" marR="158262" marT="158262" marB="15826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A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6906269"/>
                  </a:ext>
                </a:extLst>
              </a:tr>
              <a:tr h="66647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2400"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</a:t>
                      </a:r>
                      <a:r>
                        <a:rPr lang="ko-KR" altLang="en-US" sz="2400"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단계</a:t>
                      </a:r>
                    </a:p>
                  </a:txBody>
                  <a:tcPr marL="118696" marR="118696" marT="118696" marB="1186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2400"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적정 수준 초과 투자 강제</a:t>
                      </a:r>
                    </a:p>
                  </a:txBody>
                  <a:tcPr marL="118696" marR="118696" marT="118696" marB="1186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2400"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과잉투자</a:t>
                      </a:r>
                    </a:p>
                  </a:txBody>
                  <a:tcPr marL="118696" marR="118696" marT="118696" marB="1186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7584093"/>
                  </a:ext>
                </a:extLst>
              </a:tr>
              <a:tr h="66647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2400"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2</a:t>
                      </a:r>
                      <a:r>
                        <a:rPr lang="ko-KR" altLang="en-US" sz="2400"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단계</a:t>
                      </a:r>
                    </a:p>
                  </a:txBody>
                  <a:tcPr marL="118696" marR="118696" marT="118696" marB="118696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2400"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과잉투자 → 수익성 악화</a:t>
                      </a:r>
                    </a:p>
                  </a:txBody>
                  <a:tcPr marL="118696" marR="118696" marT="118696" marB="118696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2400"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영업이익률 감소</a:t>
                      </a:r>
                    </a:p>
                  </a:txBody>
                  <a:tcPr marL="118696" marR="118696" marT="118696" marB="118696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4539326"/>
                  </a:ext>
                </a:extLst>
              </a:tr>
              <a:tr h="66647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2400"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3</a:t>
                      </a:r>
                      <a:r>
                        <a:rPr lang="ko-KR" altLang="en-US" sz="2400"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단계</a:t>
                      </a:r>
                    </a:p>
                  </a:txBody>
                  <a:tcPr marL="118696" marR="118696" marT="118696" marB="118696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2400"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낮은 수익 → 재투자 여력 감소</a:t>
                      </a:r>
                    </a:p>
                  </a:txBody>
                  <a:tcPr marL="118696" marR="118696" marT="118696" marB="118696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2400" b="1"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경쟁력 약화</a:t>
                      </a:r>
                      <a:endParaRPr lang="ko-KR" altLang="en-US" sz="2400"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118696" marR="118696" marT="118696" marB="118696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930846"/>
                  </a:ext>
                </a:extLst>
              </a:tr>
            </a:tbl>
          </a:graphicData>
        </a:graphic>
      </p:graphicFrame>
      <p:sp>
        <p:nvSpPr>
          <p:cNvPr id="21" name="Rectangle 1">
            <a:extLst>
              <a:ext uri="{FF2B5EF4-FFF2-40B4-BE49-F238E27FC236}">
                <a16:creationId xmlns:a16="http://schemas.microsoft.com/office/drawing/2014/main" id="{76010A5A-7391-3F5D-3CDF-863E2E0E9E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0313" y="7266862"/>
            <a:ext cx="10869027" cy="27865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ko-KR" sz="2800" b="1">
                <a:solidFill>
                  <a:srgbClr val="2A529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정책 시사점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ko-KR" altLang="ko-KR" sz="2400" b="0" i="0" u="none" strike="noStrike" cap="none" normalizeH="0" baseline="0">
                <a:ln>
                  <a:noFill/>
                </a:ln>
                <a:solidFill>
                  <a:srgbClr val="4A5568"/>
                </a:solidFill>
                <a:effectLst/>
                <a:latin typeface="페이퍼로지 5 Medium" pitchFamily="2" charset="-127"/>
                <a:ea typeface="페이퍼로지 5 Medium" pitchFamily="2" charset="-127"/>
              </a:rPr>
              <a:t>강제 투자 ≠ 산업 발전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ko-KR" altLang="ko-KR" sz="2400" b="0" i="0" u="none" strike="noStrike" cap="none" normalizeH="0" baseline="0">
                <a:ln>
                  <a:noFill/>
                </a:ln>
                <a:solidFill>
                  <a:srgbClr val="4A5568"/>
                </a:solidFill>
                <a:effectLst/>
                <a:latin typeface="페이퍼로지 5 Medium" pitchFamily="2" charset="-127"/>
                <a:ea typeface="페이퍼로지 5 Medium" pitchFamily="2" charset="-127"/>
              </a:rPr>
              <a:t>과잉투자는 오히려 독(毒)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ko-KR" altLang="ko-KR" sz="2400" b="0" i="0" u="none" strike="noStrike" cap="none" normalizeH="0" baseline="0">
                <a:ln>
                  <a:noFill/>
                </a:ln>
                <a:solidFill>
                  <a:srgbClr val="4A5568"/>
                </a:solidFill>
                <a:effectLst/>
                <a:latin typeface="페이퍼로지 5 Medium" pitchFamily="2" charset="-127"/>
                <a:ea typeface="페이퍼로지 5 Medium" pitchFamily="2" charset="-127"/>
              </a:rPr>
              <a:t>시장 최적 수준의 자율 투자 필요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ko-KR" altLang="ko-KR" sz="2400" b="0" i="0" u="none" strike="noStrike" cap="none" normalizeH="0" baseline="0">
                <a:ln>
                  <a:noFill/>
                </a:ln>
                <a:solidFill>
                  <a:srgbClr val="4A5568"/>
                </a:solidFill>
                <a:effectLst/>
                <a:latin typeface="페이퍼로지 5 Medium" pitchFamily="2" charset="-127"/>
                <a:ea typeface="페이퍼로지 5 Medium" pitchFamily="2" charset="-127"/>
              </a:rPr>
              <a:t>재투자 여력 확보가 핵심</a:t>
            </a:r>
            <a:endParaRPr kumimoji="0" lang="ko-KR" altLang="en-US" b="0" i="0" u="none" strike="noStrike" cap="none" normalizeH="0" baseline="0">
              <a:ln>
                <a:noFill/>
              </a:ln>
              <a:solidFill>
                <a:srgbClr val="4A5568"/>
              </a:solidFill>
              <a:effectLst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EA7ED39-241F-E0BD-7F00-A53990447BD1}"/>
              </a:ext>
            </a:extLst>
          </p:cNvPr>
          <p:cNvSpPr txBox="1"/>
          <p:nvPr/>
        </p:nvSpPr>
        <p:spPr>
          <a:xfrm>
            <a:off x="1670313" y="3662884"/>
            <a:ext cx="9144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250"/>
              </a:spcBef>
              <a:spcAft>
                <a:spcPts val="1500"/>
              </a:spcAft>
              <a:buNone/>
            </a:pPr>
            <a:r>
              <a:rPr lang="ko-KR" altLang="en-US" sz="2800" b="1" i="0">
                <a:solidFill>
                  <a:srgbClr val="2A5298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역설의 </a:t>
            </a:r>
            <a:r>
              <a:rPr lang="en-US" altLang="ko-KR" sz="2800" b="1" i="0">
                <a:solidFill>
                  <a:srgbClr val="2A5298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  <a:r>
              <a:rPr lang="ko-KR" altLang="en-US" sz="2800" b="1" i="0">
                <a:solidFill>
                  <a:srgbClr val="2A5298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단계 메카니즘</a:t>
            </a:r>
            <a:endParaRPr lang="en-US" altLang="ko-KR" sz="2800" b="1" i="0">
              <a:solidFill>
                <a:srgbClr val="2A5298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4" name="슬라이드 번호 개체 틀 23">
            <a:extLst>
              <a:ext uri="{FF2B5EF4-FFF2-40B4-BE49-F238E27FC236}">
                <a16:creationId xmlns:a16="http://schemas.microsoft.com/office/drawing/2014/main" id="{FCD3BDE7-2E96-337F-9B62-82AF12A26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2651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927B68-407A-59AF-3342-931C9323A2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4D0997D5-934D-6871-0720-E34AF6E4A968}"/>
              </a:ext>
            </a:extLst>
          </p:cNvPr>
          <p:cNvSpPr/>
          <p:nvPr/>
        </p:nvSpPr>
        <p:spPr>
          <a:xfrm flipV="1">
            <a:off x="1028700" y="1169525"/>
            <a:ext cx="16230600" cy="0"/>
          </a:xfrm>
          <a:prstGeom prst="line">
            <a:avLst/>
          </a:prstGeom>
          <a:ln w="19050" cap="flat">
            <a:solidFill>
              <a:srgbClr val="D9D9D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441276F8-DBB4-BA90-4AD1-0A10FC418C5D}"/>
              </a:ext>
            </a:extLst>
          </p:cNvPr>
          <p:cNvSpPr txBox="1"/>
          <p:nvPr/>
        </p:nvSpPr>
        <p:spPr>
          <a:xfrm>
            <a:off x="1028700" y="1399848"/>
            <a:ext cx="1502946" cy="11319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579"/>
              </a:lnSpc>
            </a:pPr>
            <a:r>
              <a:rPr lang="en-US" altLang="ko-KR" sz="7983" spc="-239">
                <a:solidFill>
                  <a:srgbClr val="15A9F1"/>
                </a:solidFill>
                <a:latin typeface="페이퍼로지 5 Medium" pitchFamily="2" charset="-127"/>
                <a:ea typeface="페이퍼로지 5 Medium" pitchFamily="2" charset="-127"/>
                <a:cs typeface="Nanum Square Bold"/>
                <a:sym typeface="Nanum Square Bold"/>
              </a:rPr>
              <a:t>03</a:t>
            </a:r>
            <a:endParaRPr lang="en-US" sz="7983" spc="-239">
              <a:solidFill>
                <a:srgbClr val="15A9F1"/>
              </a:solidFill>
              <a:latin typeface="페이퍼로지 5 Medium" pitchFamily="2" charset="-127"/>
              <a:ea typeface="페이퍼로지 5 Medium" pitchFamily="2" charset="-127"/>
              <a:cs typeface="Nanum Square Bold"/>
              <a:sym typeface="Nanum Square Bold"/>
            </a:endParaRP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48B313EF-0541-BB10-B6DD-3D194781F191}"/>
              </a:ext>
            </a:extLst>
          </p:cNvPr>
          <p:cNvSpPr txBox="1"/>
          <p:nvPr/>
        </p:nvSpPr>
        <p:spPr>
          <a:xfrm>
            <a:off x="2531646" y="1626872"/>
            <a:ext cx="14232354" cy="7694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000"/>
              </a:lnSpc>
            </a:pPr>
            <a:r>
              <a:rPr lang="ko-KR" altLang="en-US" sz="5000">
                <a:solidFill>
                  <a:srgbClr val="454444"/>
                </a:solidFill>
                <a:latin typeface="페이퍼로지 5 Medium" pitchFamily="2" charset="-127"/>
                <a:ea typeface="페이퍼로지 5 Medium" pitchFamily="2" charset="-127"/>
                <a:cs typeface="Nanum Square Bold"/>
                <a:sym typeface="Nanum Square Bold"/>
              </a:rPr>
              <a:t>정책목표 이미 달성 </a:t>
            </a:r>
            <a:endParaRPr lang="en-US" altLang="ko-KR" sz="5000">
              <a:solidFill>
                <a:srgbClr val="454444"/>
              </a:solidFill>
              <a:latin typeface="페이퍼로지 5 Medium" pitchFamily="2" charset="-127"/>
              <a:ea typeface="페이퍼로지 5 Medium" pitchFamily="2" charset="-127"/>
              <a:cs typeface="Nanum Square Bold"/>
              <a:sym typeface="Nanum Square Bold"/>
            </a:endParaRP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39C42AEF-ACA0-A656-BC5C-44BEF9F83F6E}"/>
              </a:ext>
            </a:extLst>
          </p:cNvPr>
          <p:cNvSpPr txBox="1"/>
          <p:nvPr/>
        </p:nvSpPr>
        <p:spPr>
          <a:xfrm>
            <a:off x="1123950" y="811675"/>
            <a:ext cx="3295650" cy="2239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888"/>
              </a:lnSpc>
            </a:pPr>
            <a:r>
              <a:rPr lang="ko-KR" altLang="en-US" sz="1574">
                <a:solidFill>
                  <a:srgbClr val="545454"/>
                </a:solidFill>
                <a:latin typeface="페이퍼로지 3 Light" pitchFamily="2" charset="-127"/>
                <a:ea typeface="페이퍼로지 3 Light" pitchFamily="2" charset="-127"/>
                <a:cs typeface="Nanum Square"/>
                <a:sym typeface="Nanum Square"/>
              </a:rPr>
              <a:t>한국언론학회 </a:t>
            </a:r>
            <a:r>
              <a:rPr lang="en-US" altLang="ko-KR" sz="1574">
                <a:solidFill>
                  <a:srgbClr val="545454"/>
                </a:solidFill>
                <a:latin typeface="페이퍼로지 3 Light" pitchFamily="2" charset="-127"/>
                <a:ea typeface="페이퍼로지 3 Light" pitchFamily="2" charset="-127"/>
                <a:cs typeface="Nanum Square"/>
                <a:sym typeface="Nanum Square"/>
              </a:rPr>
              <a:t>2025 </a:t>
            </a:r>
            <a:r>
              <a:rPr lang="ko-KR" altLang="en-US" sz="1574">
                <a:solidFill>
                  <a:srgbClr val="545454"/>
                </a:solidFill>
                <a:latin typeface="페이퍼로지 3 Light" pitchFamily="2" charset="-127"/>
                <a:ea typeface="페이퍼로지 3 Light" pitchFamily="2" charset="-127"/>
                <a:cs typeface="Nanum Square"/>
                <a:sym typeface="Nanum Square"/>
              </a:rPr>
              <a:t>가을철 학술대회</a:t>
            </a:r>
            <a:endParaRPr lang="en-US" altLang="ko-KR" sz="1574">
              <a:solidFill>
                <a:srgbClr val="545454"/>
              </a:solidFill>
              <a:latin typeface="페이퍼로지 3 Light" pitchFamily="2" charset="-127"/>
              <a:ea typeface="페이퍼로지 3 Light" pitchFamily="2" charset="-127"/>
              <a:cs typeface="Nanum Square"/>
              <a:sym typeface="Nanum Square"/>
            </a:endParaRPr>
          </a:p>
        </p:txBody>
      </p:sp>
      <p:sp>
        <p:nvSpPr>
          <p:cNvPr id="20" name="TextBox 12">
            <a:extLst>
              <a:ext uri="{FF2B5EF4-FFF2-40B4-BE49-F238E27FC236}">
                <a16:creationId xmlns:a16="http://schemas.microsoft.com/office/drawing/2014/main" id="{03217744-5D67-2D91-6094-2536D02A72C5}"/>
              </a:ext>
            </a:extLst>
          </p:cNvPr>
          <p:cNvSpPr txBox="1"/>
          <p:nvPr/>
        </p:nvSpPr>
        <p:spPr>
          <a:xfrm>
            <a:off x="15135245" y="792625"/>
            <a:ext cx="2124055" cy="2116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768"/>
              </a:lnSpc>
            </a:pPr>
            <a:r>
              <a:rPr lang="ko-KR" altLang="en-US" sz="1474" b="1">
                <a:solidFill>
                  <a:srgbClr val="545454"/>
                </a:solidFill>
                <a:latin typeface="페이퍼로지 6 SemiBold" pitchFamily="2" charset="-127"/>
                <a:ea typeface="페이퍼로지 6 SemiBold" pitchFamily="2" charset="-127"/>
                <a:cs typeface="Nanum Square Bold"/>
                <a:sym typeface="Nanum Square Bold"/>
              </a:rPr>
              <a:t>선문대학교</a:t>
            </a:r>
            <a:endParaRPr lang="en-US" sz="1474" b="1">
              <a:solidFill>
                <a:srgbClr val="545454"/>
              </a:solidFill>
              <a:latin typeface="페이퍼로지 6 SemiBold" pitchFamily="2" charset="-127"/>
              <a:ea typeface="페이퍼로지 6 SemiBold" pitchFamily="2" charset="-127"/>
              <a:cs typeface="Nanum Square Bold"/>
              <a:sym typeface="Nanum Square Bold"/>
            </a:endParaRPr>
          </a:p>
        </p:txBody>
      </p:sp>
      <p:sp>
        <p:nvSpPr>
          <p:cNvPr id="5" name="Freeform 11">
            <a:extLst>
              <a:ext uri="{FF2B5EF4-FFF2-40B4-BE49-F238E27FC236}">
                <a16:creationId xmlns:a16="http://schemas.microsoft.com/office/drawing/2014/main" id="{2F2A43AC-1012-5D5E-A24C-FDE7CE4389D6}"/>
              </a:ext>
            </a:extLst>
          </p:cNvPr>
          <p:cNvSpPr/>
          <p:nvPr/>
        </p:nvSpPr>
        <p:spPr>
          <a:xfrm>
            <a:off x="1138739" y="2893711"/>
            <a:ext cx="496132" cy="493858"/>
          </a:xfrm>
          <a:custGeom>
            <a:avLst/>
            <a:gdLst/>
            <a:ahLst/>
            <a:cxnLst/>
            <a:rect l="l" t="t" r="r" b="b"/>
            <a:pathLst>
              <a:path w="496132" h="493858">
                <a:moveTo>
                  <a:pt x="0" y="0"/>
                </a:moveTo>
                <a:lnTo>
                  <a:pt x="496132" y="0"/>
                </a:lnTo>
                <a:lnTo>
                  <a:pt x="496132" y="493858"/>
                </a:lnTo>
                <a:lnTo>
                  <a:pt x="0" y="4938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E0A62D-4477-B882-6892-FCB5358013B3}"/>
              </a:ext>
            </a:extLst>
          </p:cNvPr>
          <p:cNvSpPr txBox="1"/>
          <p:nvPr/>
        </p:nvSpPr>
        <p:spPr>
          <a:xfrm>
            <a:off x="1670313" y="2926495"/>
            <a:ext cx="1346493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250"/>
              </a:spcBef>
              <a:spcAft>
                <a:spcPts val="1500"/>
              </a:spcAft>
              <a:buNone/>
            </a:pPr>
            <a:r>
              <a:rPr lang="en-US" altLang="ko-KR" sz="2800" i="0">
                <a:effectLst/>
                <a:latin typeface="페이퍼로지 5 Medium" pitchFamily="2" charset="-127"/>
                <a:ea typeface="페이퍼로지 5 Medium" pitchFamily="2" charset="-127"/>
              </a:rPr>
              <a:t>15</a:t>
            </a:r>
            <a:r>
              <a:rPr lang="ko-KR" altLang="en-US" sz="2800" i="0">
                <a:effectLst/>
                <a:latin typeface="페이퍼로지 5 Medium" pitchFamily="2" charset="-127"/>
                <a:ea typeface="페이퍼로지 5 Medium" pitchFamily="2" charset="-127"/>
              </a:rPr>
              <a:t>년간 투자 정착</a:t>
            </a:r>
            <a:r>
              <a:rPr lang="en-US" altLang="ko-KR" sz="2800" i="0">
                <a:effectLst/>
                <a:latin typeface="페이퍼로지 5 Medium" pitchFamily="2" charset="-127"/>
                <a:ea typeface="페이퍼로지 5 Medium" pitchFamily="2" charset="-127"/>
              </a:rPr>
              <a:t>, </a:t>
            </a:r>
            <a:r>
              <a:rPr lang="ko-KR" altLang="en-US" sz="2800" i="0">
                <a:effectLst/>
                <a:latin typeface="페이퍼로지 5 Medium" pitchFamily="2" charset="-127"/>
                <a:ea typeface="페이퍼로지 5 Medium" pitchFamily="2" charset="-127"/>
              </a:rPr>
              <a:t>이제는 불필요한 규제</a:t>
            </a:r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7E90A502-8A61-2666-06B3-64DE712CAE43}"/>
              </a:ext>
            </a:extLst>
          </p:cNvPr>
          <p:cNvGrpSpPr/>
          <p:nvPr/>
        </p:nvGrpSpPr>
        <p:grpSpPr>
          <a:xfrm>
            <a:off x="1028700" y="3844449"/>
            <a:ext cx="7948076" cy="4303756"/>
            <a:chOff x="0" y="0"/>
            <a:chExt cx="3869376" cy="2095205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6E0002EB-40D5-469E-BB70-6955D6A5BC20}"/>
                </a:ext>
              </a:extLst>
            </p:cNvPr>
            <p:cNvSpPr/>
            <p:nvPr/>
          </p:nvSpPr>
          <p:spPr>
            <a:xfrm>
              <a:off x="0" y="0"/>
              <a:ext cx="3869376" cy="2095205"/>
            </a:xfrm>
            <a:custGeom>
              <a:avLst/>
              <a:gdLst/>
              <a:ahLst/>
              <a:cxnLst/>
              <a:rect l="l" t="t" r="r" b="b"/>
              <a:pathLst>
                <a:path w="3869376" h="2095205">
                  <a:moveTo>
                    <a:pt x="14611" y="0"/>
                  </a:moveTo>
                  <a:lnTo>
                    <a:pt x="3854765" y="0"/>
                  </a:lnTo>
                  <a:cubicBezTo>
                    <a:pt x="3858640" y="0"/>
                    <a:pt x="3862357" y="1539"/>
                    <a:pt x="3865097" y="4279"/>
                  </a:cubicBezTo>
                  <a:cubicBezTo>
                    <a:pt x="3867837" y="7020"/>
                    <a:pt x="3869376" y="10736"/>
                    <a:pt x="3869376" y="14611"/>
                  </a:cubicBezTo>
                  <a:lnTo>
                    <a:pt x="3869376" y="2080594"/>
                  </a:lnTo>
                  <a:cubicBezTo>
                    <a:pt x="3869376" y="2088664"/>
                    <a:pt x="3862835" y="2095205"/>
                    <a:pt x="3854765" y="2095205"/>
                  </a:cubicBezTo>
                  <a:lnTo>
                    <a:pt x="14611" y="2095205"/>
                  </a:lnTo>
                  <a:cubicBezTo>
                    <a:pt x="10736" y="2095205"/>
                    <a:pt x="7020" y="2093666"/>
                    <a:pt x="4279" y="2090926"/>
                  </a:cubicBezTo>
                  <a:cubicBezTo>
                    <a:pt x="1539" y="2088186"/>
                    <a:pt x="0" y="2084469"/>
                    <a:pt x="0" y="2080594"/>
                  </a:cubicBezTo>
                  <a:lnTo>
                    <a:pt x="0" y="14611"/>
                  </a:lnTo>
                  <a:cubicBezTo>
                    <a:pt x="0" y="6542"/>
                    <a:pt x="6542" y="0"/>
                    <a:pt x="1461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15A9F1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18B5A10-CFCF-2F67-147D-D0C3C89F7E04}"/>
                </a:ext>
              </a:extLst>
            </p:cNvPr>
            <p:cNvSpPr txBox="1"/>
            <p:nvPr/>
          </p:nvSpPr>
          <p:spPr>
            <a:xfrm>
              <a:off x="0" y="-9525"/>
              <a:ext cx="3869376" cy="21047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27"/>
                </a:lnSpc>
              </a:pPr>
              <a:endParaRPr/>
            </a:p>
          </p:txBody>
        </p:sp>
      </p:grpSp>
      <p:grpSp>
        <p:nvGrpSpPr>
          <p:cNvPr id="8" name="Group 6">
            <a:extLst>
              <a:ext uri="{FF2B5EF4-FFF2-40B4-BE49-F238E27FC236}">
                <a16:creationId xmlns:a16="http://schemas.microsoft.com/office/drawing/2014/main" id="{767302B1-5D64-9AAC-6B71-C923FD47A9CB}"/>
              </a:ext>
            </a:extLst>
          </p:cNvPr>
          <p:cNvGrpSpPr/>
          <p:nvPr/>
        </p:nvGrpSpPr>
        <p:grpSpPr>
          <a:xfrm>
            <a:off x="9311224" y="3844449"/>
            <a:ext cx="7948076" cy="4303756"/>
            <a:chOff x="0" y="0"/>
            <a:chExt cx="3869376" cy="2095205"/>
          </a:xfrm>
        </p:grpSpPr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2ACC7CBC-1231-B728-0A00-1D2FAE970062}"/>
                </a:ext>
              </a:extLst>
            </p:cNvPr>
            <p:cNvSpPr/>
            <p:nvPr/>
          </p:nvSpPr>
          <p:spPr>
            <a:xfrm>
              <a:off x="0" y="0"/>
              <a:ext cx="3869376" cy="2095205"/>
            </a:xfrm>
            <a:custGeom>
              <a:avLst/>
              <a:gdLst/>
              <a:ahLst/>
              <a:cxnLst/>
              <a:rect l="l" t="t" r="r" b="b"/>
              <a:pathLst>
                <a:path w="3869376" h="2095205">
                  <a:moveTo>
                    <a:pt x="14611" y="0"/>
                  </a:moveTo>
                  <a:lnTo>
                    <a:pt x="3854765" y="0"/>
                  </a:lnTo>
                  <a:cubicBezTo>
                    <a:pt x="3858640" y="0"/>
                    <a:pt x="3862357" y="1539"/>
                    <a:pt x="3865097" y="4279"/>
                  </a:cubicBezTo>
                  <a:cubicBezTo>
                    <a:pt x="3867837" y="7020"/>
                    <a:pt x="3869376" y="10736"/>
                    <a:pt x="3869376" y="14611"/>
                  </a:cubicBezTo>
                  <a:lnTo>
                    <a:pt x="3869376" y="2080594"/>
                  </a:lnTo>
                  <a:cubicBezTo>
                    <a:pt x="3869376" y="2088664"/>
                    <a:pt x="3862835" y="2095205"/>
                    <a:pt x="3854765" y="2095205"/>
                  </a:cubicBezTo>
                  <a:lnTo>
                    <a:pt x="14611" y="2095205"/>
                  </a:lnTo>
                  <a:cubicBezTo>
                    <a:pt x="10736" y="2095205"/>
                    <a:pt x="7020" y="2093666"/>
                    <a:pt x="4279" y="2090926"/>
                  </a:cubicBezTo>
                  <a:cubicBezTo>
                    <a:pt x="1539" y="2088186"/>
                    <a:pt x="0" y="2084469"/>
                    <a:pt x="0" y="2080594"/>
                  </a:cubicBezTo>
                  <a:lnTo>
                    <a:pt x="0" y="14611"/>
                  </a:lnTo>
                  <a:cubicBezTo>
                    <a:pt x="0" y="6542"/>
                    <a:pt x="6542" y="0"/>
                    <a:pt x="1461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15A9F1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" name="TextBox 8">
              <a:extLst>
                <a:ext uri="{FF2B5EF4-FFF2-40B4-BE49-F238E27FC236}">
                  <a16:creationId xmlns:a16="http://schemas.microsoft.com/office/drawing/2014/main" id="{63F740E0-3DEA-5E66-7B97-6376F107B8A0}"/>
                </a:ext>
              </a:extLst>
            </p:cNvPr>
            <p:cNvSpPr txBox="1"/>
            <p:nvPr/>
          </p:nvSpPr>
          <p:spPr>
            <a:xfrm>
              <a:off x="0" y="-9525"/>
              <a:ext cx="3869376" cy="21047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27"/>
                </a:lnSpc>
              </a:pPr>
              <a:endParaRPr/>
            </a:p>
          </p:txBody>
        </p:sp>
      </p:grpSp>
      <p:sp>
        <p:nvSpPr>
          <p:cNvPr id="11" name="AutoShape 9">
            <a:extLst>
              <a:ext uri="{FF2B5EF4-FFF2-40B4-BE49-F238E27FC236}">
                <a16:creationId xmlns:a16="http://schemas.microsoft.com/office/drawing/2014/main" id="{A8BB8306-4E92-105B-A60B-CB0E06A66597}"/>
              </a:ext>
            </a:extLst>
          </p:cNvPr>
          <p:cNvSpPr/>
          <p:nvPr/>
        </p:nvSpPr>
        <p:spPr>
          <a:xfrm>
            <a:off x="1295309" y="5317195"/>
            <a:ext cx="7508233" cy="0"/>
          </a:xfrm>
          <a:prstGeom prst="line">
            <a:avLst/>
          </a:prstGeom>
          <a:ln w="9525" cap="flat">
            <a:solidFill>
              <a:srgbClr val="15A9F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AutoShape 10">
            <a:extLst>
              <a:ext uri="{FF2B5EF4-FFF2-40B4-BE49-F238E27FC236}">
                <a16:creationId xmlns:a16="http://schemas.microsoft.com/office/drawing/2014/main" id="{9DC2D6A2-7D81-3EBB-6717-F474C5E2D8C8}"/>
              </a:ext>
            </a:extLst>
          </p:cNvPr>
          <p:cNvSpPr/>
          <p:nvPr/>
        </p:nvSpPr>
        <p:spPr>
          <a:xfrm>
            <a:off x="9577833" y="5317195"/>
            <a:ext cx="7508233" cy="0"/>
          </a:xfrm>
          <a:prstGeom prst="line">
            <a:avLst/>
          </a:prstGeom>
          <a:ln w="9525" cap="flat">
            <a:solidFill>
              <a:srgbClr val="15A9F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Box 22">
            <a:extLst>
              <a:ext uri="{FF2B5EF4-FFF2-40B4-BE49-F238E27FC236}">
                <a16:creationId xmlns:a16="http://schemas.microsoft.com/office/drawing/2014/main" id="{2A01A03D-6C6A-4F67-C987-B182E2B88073}"/>
              </a:ext>
            </a:extLst>
          </p:cNvPr>
          <p:cNvSpPr txBox="1"/>
          <p:nvPr/>
        </p:nvSpPr>
        <p:spPr>
          <a:xfrm>
            <a:off x="1551539" y="4363656"/>
            <a:ext cx="6528369" cy="4825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2"/>
              </a:lnSpc>
            </a:pPr>
            <a:r>
              <a:rPr lang="en-US" altLang="ko-KR" sz="3376">
                <a:solidFill>
                  <a:srgbClr val="454444"/>
                </a:solidFill>
                <a:latin typeface="페이퍼로지 4 Regular" pitchFamily="2" charset="-127"/>
                <a:ea typeface="페이퍼로지 4 Regular" pitchFamily="2" charset="-127"/>
                <a:cs typeface="Nanum Square Bold"/>
                <a:sym typeface="Nanum Square Bold"/>
              </a:rPr>
              <a:t>2011</a:t>
            </a:r>
            <a:r>
              <a:rPr lang="ko-KR" altLang="en-US" sz="3376">
                <a:solidFill>
                  <a:srgbClr val="454444"/>
                </a:solidFill>
                <a:latin typeface="페이퍼로지 4 Regular" pitchFamily="2" charset="-127"/>
                <a:ea typeface="페이퍼로지 4 Regular" pitchFamily="2" charset="-127"/>
                <a:cs typeface="Nanum Square Bold"/>
                <a:sym typeface="Nanum Square Bold"/>
              </a:rPr>
              <a:t>년 도입 당시</a:t>
            </a:r>
          </a:p>
        </p:txBody>
      </p:sp>
      <p:sp>
        <p:nvSpPr>
          <p:cNvPr id="16" name="TextBox 23">
            <a:extLst>
              <a:ext uri="{FF2B5EF4-FFF2-40B4-BE49-F238E27FC236}">
                <a16:creationId xmlns:a16="http://schemas.microsoft.com/office/drawing/2014/main" id="{A8D52E0A-E351-6D5C-F4B8-4CB87CD7C981}"/>
              </a:ext>
            </a:extLst>
          </p:cNvPr>
          <p:cNvSpPr txBox="1"/>
          <p:nvPr/>
        </p:nvSpPr>
        <p:spPr>
          <a:xfrm>
            <a:off x="10021078" y="4363656"/>
            <a:ext cx="6528369" cy="4825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2"/>
              </a:lnSpc>
            </a:pPr>
            <a:r>
              <a:rPr lang="en-US" altLang="ko-KR" sz="3376">
                <a:solidFill>
                  <a:srgbClr val="454444"/>
                </a:solidFill>
                <a:latin typeface="페이퍼로지 4 Regular" pitchFamily="2" charset="-127"/>
                <a:ea typeface="페이퍼로지 4 Regular" pitchFamily="2" charset="-127"/>
                <a:cs typeface="Nanum Square Bold"/>
                <a:sym typeface="Nanum Square Bold"/>
              </a:rPr>
              <a:t>2024</a:t>
            </a:r>
            <a:r>
              <a:rPr lang="ko-KR" altLang="en-US" sz="3376">
                <a:solidFill>
                  <a:srgbClr val="454444"/>
                </a:solidFill>
                <a:latin typeface="페이퍼로지 4 Regular" pitchFamily="2" charset="-127"/>
                <a:ea typeface="페이퍼로지 4 Regular" pitchFamily="2" charset="-127"/>
                <a:cs typeface="Nanum Square Bold"/>
                <a:sym typeface="Nanum Square Bold"/>
              </a:rPr>
              <a:t>년 현재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3D27C88F-ED55-CB78-8310-46B004B8E2AF}"/>
              </a:ext>
            </a:extLst>
          </p:cNvPr>
          <p:cNvSpPr txBox="1"/>
          <p:nvPr/>
        </p:nvSpPr>
        <p:spPr>
          <a:xfrm>
            <a:off x="1348982" y="5646230"/>
            <a:ext cx="7454560" cy="21627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>
                <a:solidFill>
                  <a:srgbClr val="454444"/>
                </a:solidFill>
                <a:latin typeface="페이퍼로지 2 ExtraLight" pitchFamily="2" charset="-127"/>
                <a:ea typeface="페이퍼로지 2 ExtraLight" pitchFamily="2" charset="-127"/>
                <a:cs typeface="Nanum Square Light"/>
                <a:sym typeface="Nanum Square Light"/>
              </a:rPr>
              <a:t>종편 시장 안착 필요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>
                <a:solidFill>
                  <a:srgbClr val="454444"/>
                </a:solidFill>
                <a:latin typeface="페이퍼로지 2 ExtraLight" pitchFamily="2" charset="-127"/>
                <a:ea typeface="페이퍼로지 2 ExtraLight" pitchFamily="2" charset="-127"/>
                <a:cs typeface="Nanum Square Light"/>
                <a:sym typeface="Nanum Square Light"/>
              </a:rPr>
              <a:t>콘텐츠 투자 확대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>
                <a:solidFill>
                  <a:srgbClr val="454444"/>
                </a:solidFill>
                <a:latin typeface="페이퍼로지 2 ExtraLight" pitchFamily="2" charset="-127"/>
                <a:ea typeface="페이퍼로지 2 ExtraLight" pitchFamily="2" charset="-127"/>
                <a:cs typeface="Nanum Square Light"/>
                <a:sym typeface="Nanum Square Light"/>
              </a:rPr>
              <a:t>시장 신뢰 구축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>
                <a:solidFill>
                  <a:srgbClr val="454444"/>
                </a:solidFill>
                <a:latin typeface="페이퍼로지 2 ExtraLight" pitchFamily="2" charset="-127"/>
                <a:ea typeface="페이퍼로지 2 ExtraLight" pitchFamily="2" charset="-127"/>
                <a:cs typeface="Nanum Square Light"/>
                <a:sym typeface="Nanum Square Light"/>
              </a:rPr>
              <a:t>목표</a:t>
            </a:r>
            <a:r>
              <a:rPr lang="en-US" altLang="ko-KR" sz="2400">
                <a:solidFill>
                  <a:srgbClr val="454444"/>
                </a:solidFill>
                <a:latin typeface="페이퍼로지 2 ExtraLight" pitchFamily="2" charset="-127"/>
                <a:ea typeface="페이퍼로지 2 ExtraLight" pitchFamily="2" charset="-127"/>
                <a:cs typeface="Nanum Square Light"/>
                <a:sym typeface="Nanum Square Light"/>
              </a:rPr>
              <a:t>: </a:t>
            </a:r>
            <a:r>
              <a:rPr lang="ko-KR" altLang="en-US" sz="2400">
                <a:solidFill>
                  <a:srgbClr val="454444"/>
                </a:solidFill>
                <a:latin typeface="페이퍼로지 2 ExtraLight" pitchFamily="2" charset="-127"/>
                <a:ea typeface="페이퍼로지 2 ExtraLight" pitchFamily="2" charset="-127"/>
                <a:cs typeface="Nanum Square Light"/>
                <a:sym typeface="Nanum Square Light"/>
              </a:rPr>
              <a:t>투자 정착</a:t>
            </a:r>
          </a:p>
        </p:txBody>
      </p:sp>
      <p:sp>
        <p:nvSpPr>
          <p:cNvPr id="23" name="TextBox 17">
            <a:extLst>
              <a:ext uri="{FF2B5EF4-FFF2-40B4-BE49-F238E27FC236}">
                <a16:creationId xmlns:a16="http://schemas.microsoft.com/office/drawing/2014/main" id="{7490572B-821F-115A-F377-A735BA8876B4}"/>
              </a:ext>
            </a:extLst>
          </p:cNvPr>
          <p:cNvSpPr txBox="1"/>
          <p:nvPr/>
        </p:nvSpPr>
        <p:spPr>
          <a:xfrm>
            <a:off x="9644599" y="5646230"/>
            <a:ext cx="7281326" cy="21627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>
                <a:solidFill>
                  <a:srgbClr val="454444"/>
                </a:solidFill>
                <a:latin typeface="페이퍼로지 2 ExtraLight" pitchFamily="2" charset="-127"/>
                <a:ea typeface="페이퍼로지 2 ExtraLight" pitchFamily="2" charset="-127"/>
                <a:cs typeface="Nanum Square Light"/>
                <a:sym typeface="Nanum Square Light"/>
              </a:rPr>
              <a:t>연 </a:t>
            </a:r>
            <a:r>
              <a:rPr lang="en-US" altLang="ko-KR" sz="2400">
                <a:solidFill>
                  <a:srgbClr val="454444"/>
                </a:solidFill>
                <a:latin typeface="페이퍼로지 2 ExtraLight" pitchFamily="2" charset="-127"/>
                <a:ea typeface="페이퍼로지 2 ExtraLight" pitchFamily="2" charset="-127"/>
                <a:cs typeface="Nanum Square Light"/>
                <a:sym typeface="Nanum Square Light"/>
              </a:rPr>
              <a:t>2,000</a:t>
            </a:r>
            <a:r>
              <a:rPr lang="ko-KR" altLang="en-US" sz="2400">
                <a:solidFill>
                  <a:srgbClr val="454444"/>
                </a:solidFill>
                <a:latin typeface="페이퍼로지 2 ExtraLight" pitchFamily="2" charset="-127"/>
                <a:ea typeface="페이퍼로지 2 ExtraLight" pitchFamily="2" charset="-127"/>
                <a:cs typeface="Nanum Square Light"/>
                <a:sym typeface="Nanum Square Light"/>
              </a:rPr>
              <a:t>억 투자 정착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>
                <a:solidFill>
                  <a:srgbClr val="454444"/>
                </a:solidFill>
                <a:latin typeface="페이퍼로지 2 ExtraLight" pitchFamily="2" charset="-127"/>
                <a:ea typeface="페이퍼로지 2 ExtraLight" pitchFamily="2" charset="-127"/>
                <a:cs typeface="Nanum Square Light"/>
                <a:sym typeface="Nanum Square Light"/>
              </a:rPr>
              <a:t>다양한 장르 제작 역량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>
                <a:solidFill>
                  <a:srgbClr val="454444"/>
                </a:solidFill>
                <a:latin typeface="페이퍼로지 2 ExtraLight" pitchFamily="2" charset="-127"/>
                <a:ea typeface="페이퍼로지 2 ExtraLight" pitchFamily="2" charset="-127"/>
                <a:cs typeface="Nanum Square Light"/>
                <a:sym typeface="Nanum Square Light"/>
              </a:rPr>
              <a:t>시장 입지 확고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>
                <a:solidFill>
                  <a:srgbClr val="454444"/>
                </a:solidFill>
                <a:latin typeface="페이퍼로지 2 ExtraLight" pitchFamily="2" charset="-127"/>
                <a:ea typeface="페이퍼로지 2 ExtraLight" pitchFamily="2" charset="-127"/>
                <a:cs typeface="Nanum Square Light"/>
                <a:sym typeface="Nanum Square Light"/>
              </a:rPr>
              <a:t>목표 달성 완료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AEC90C2-2FD1-3AB4-3C4C-8733A6AF0504}"/>
              </a:ext>
            </a:extLst>
          </p:cNvPr>
          <p:cNvSpPr txBox="1"/>
          <p:nvPr/>
        </p:nvSpPr>
        <p:spPr>
          <a:xfrm>
            <a:off x="1123950" y="8619240"/>
            <a:ext cx="16230600" cy="11464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500"/>
              </a:spcAft>
            </a:pPr>
            <a:r>
              <a:rPr lang="ko-KR" altLang="en-US" sz="2800">
                <a:solidFill>
                  <a:srgbClr val="C00000"/>
                </a:solidFill>
                <a:latin typeface="페이퍼로지 6 SemiBold" pitchFamily="2" charset="-127"/>
                <a:ea typeface="페이퍼로지 6 SemiBold" pitchFamily="2" charset="-127"/>
              </a:rPr>
              <a:t>규제 없어도 자발적 투자 지속될 것 </a:t>
            </a:r>
            <a:endParaRPr lang="en-US" altLang="ko-KR" sz="2800">
              <a:solidFill>
                <a:srgbClr val="C00000"/>
              </a:solidFill>
              <a:latin typeface="페이퍼로지 6 SemiBold" pitchFamily="2" charset="-127"/>
              <a:ea typeface="페이퍼로지 6 SemiBold" pitchFamily="2" charset="-127"/>
            </a:endParaRPr>
          </a:p>
          <a:p>
            <a:pPr algn="l">
              <a:spcAft>
                <a:spcPts val="1500"/>
              </a:spcAft>
            </a:pPr>
            <a:r>
              <a:rPr lang="ko-KR" altLang="en-US" sz="2800">
                <a:solidFill>
                  <a:srgbClr val="454444"/>
                </a:solidFill>
                <a:latin typeface="페이퍼로지 4 Regular" pitchFamily="2" charset="-127"/>
                <a:ea typeface="페이퍼로지 4 Regular" pitchFamily="2" charset="-127"/>
              </a:rPr>
              <a:t>콘텐츠 </a:t>
            </a:r>
            <a:r>
              <a:rPr lang="en-US" altLang="ko-KR" sz="2800">
                <a:solidFill>
                  <a:srgbClr val="454444"/>
                </a:solidFill>
                <a:latin typeface="페이퍼로지 4 Regular" pitchFamily="2" charset="-127"/>
                <a:ea typeface="페이퍼로지 4 Regular" pitchFamily="2" charset="-127"/>
              </a:rPr>
              <a:t>= </a:t>
            </a:r>
            <a:r>
              <a:rPr lang="ko-KR" altLang="en-US" sz="2800">
                <a:solidFill>
                  <a:srgbClr val="454444"/>
                </a:solidFill>
                <a:latin typeface="페이퍼로지 4 Regular" pitchFamily="2" charset="-127"/>
                <a:ea typeface="페이퍼로지 4 Regular" pitchFamily="2" charset="-127"/>
              </a:rPr>
              <a:t>방송사 핵심 경쟁력 </a:t>
            </a:r>
            <a:r>
              <a:rPr lang="en-US" altLang="ko-KR" sz="2800">
                <a:solidFill>
                  <a:srgbClr val="454444"/>
                </a:solidFill>
                <a:latin typeface="페이퍼로지 4 Regular" pitchFamily="2" charset="-127"/>
                <a:ea typeface="페이퍼로지 4 Regular" pitchFamily="2" charset="-127"/>
                <a:sym typeface="Wingdings" panose="05000000000000000000" pitchFamily="2" charset="2"/>
              </a:rPr>
              <a:t> </a:t>
            </a:r>
            <a:r>
              <a:rPr lang="ko-KR" altLang="en-US" sz="2800">
                <a:solidFill>
                  <a:srgbClr val="454444"/>
                </a:solidFill>
                <a:latin typeface="페이퍼로지 4 Regular" pitchFamily="2" charset="-127"/>
                <a:ea typeface="페이퍼로지 4 Regular" pitchFamily="2" charset="-127"/>
              </a:rPr>
              <a:t>투자 축소 </a:t>
            </a:r>
            <a:r>
              <a:rPr lang="en-US" altLang="ko-KR" sz="2800">
                <a:solidFill>
                  <a:srgbClr val="454444"/>
                </a:solidFill>
                <a:latin typeface="페이퍼로지 4 Regular" pitchFamily="2" charset="-127"/>
                <a:ea typeface="페이퍼로지 4 Regular" pitchFamily="2" charset="-127"/>
              </a:rPr>
              <a:t>= </a:t>
            </a:r>
            <a:r>
              <a:rPr lang="ko-KR" altLang="en-US" sz="2800">
                <a:solidFill>
                  <a:srgbClr val="454444"/>
                </a:solidFill>
                <a:latin typeface="페이퍼로지 4 Regular" pitchFamily="2" charset="-127"/>
                <a:ea typeface="페이퍼로지 4 Regular" pitchFamily="2" charset="-127"/>
              </a:rPr>
              <a:t>시청률 하락 </a:t>
            </a:r>
            <a:r>
              <a:rPr lang="en-US" altLang="ko-KR" sz="2800">
                <a:solidFill>
                  <a:srgbClr val="454444"/>
                </a:solidFill>
                <a:latin typeface="페이퍼로지 4 Regular" pitchFamily="2" charset="-127"/>
                <a:ea typeface="페이퍼로지 4 Regular" pitchFamily="2" charset="-127"/>
              </a:rPr>
              <a:t>= </a:t>
            </a:r>
            <a:r>
              <a:rPr lang="ko-KR" altLang="en-US" sz="2800">
                <a:solidFill>
                  <a:srgbClr val="454444"/>
                </a:solidFill>
                <a:latin typeface="페이퍼로지 4 Regular" pitchFamily="2" charset="-127"/>
                <a:ea typeface="페이퍼로지 4 Regular" pitchFamily="2" charset="-127"/>
              </a:rPr>
              <a:t>광고 수익 감소 </a:t>
            </a:r>
            <a:r>
              <a:rPr lang="en-US" altLang="ko-KR" sz="2800">
                <a:solidFill>
                  <a:srgbClr val="454444"/>
                </a:solidFill>
                <a:latin typeface="페이퍼로지 4 Regular" pitchFamily="2" charset="-127"/>
                <a:ea typeface="페이퍼로지 4 Regular" pitchFamily="2" charset="-127"/>
                <a:sym typeface="Wingdings" panose="05000000000000000000" pitchFamily="2" charset="2"/>
              </a:rPr>
              <a:t> </a:t>
            </a:r>
            <a:r>
              <a:rPr lang="ko-KR" altLang="en-US" sz="2800">
                <a:solidFill>
                  <a:srgbClr val="454444"/>
                </a:solidFill>
                <a:latin typeface="페이퍼로지 4 Regular" pitchFamily="2" charset="-127"/>
                <a:ea typeface="페이퍼로지 4 Regular" pitchFamily="2" charset="-127"/>
              </a:rPr>
              <a:t>생존을 위해 투자 지속 필수</a:t>
            </a:r>
          </a:p>
        </p:txBody>
      </p:sp>
      <p:sp>
        <p:nvSpPr>
          <p:cNvPr id="27" name="슬라이드 번호 개체 틀 26">
            <a:extLst>
              <a:ext uri="{FF2B5EF4-FFF2-40B4-BE49-F238E27FC236}">
                <a16:creationId xmlns:a16="http://schemas.microsoft.com/office/drawing/2014/main" id="{73A825ED-744B-77AB-9755-97781BA99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9312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82F1FB-D492-F537-015A-7DF8ED4D56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757DB13-85F4-3372-EA41-8AA379D6673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/>
              <a:t>재승인 제도 평가 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6A81931-EA82-0394-83C8-4E23C8A7CCD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4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984878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1C1F41-C911-8B92-6D2F-A4B291D6F4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2BADBA3A-36CD-5A77-D751-B4B9ECD9BC6D}"/>
              </a:ext>
            </a:extLst>
          </p:cNvPr>
          <p:cNvSpPr/>
          <p:nvPr/>
        </p:nvSpPr>
        <p:spPr>
          <a:xfrm flipV="1">
            <a:off x="1028700" y="1169525"/>
            <a:ext cx="16230600" cy="0"/>
          </a:xfrm>
          <a:prstGeom prst="line">
            <a:avLst/>
          </a:prstGeom>
          <a:ln w="19050" cap="flat">
            <a:solidFill>
              <a:srgbClr val="D9D9D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76AE415A-1DA6-FBA0-303F-74FF5C342136}"/>
              </a:ext>
            </a:extLst>
          </p:cNvPr>
          <p:cNvSpPr txBox="1"/>
          <p:nvPr/>
        </p:nvSpPr>
        <p:spPr>
          <a:xfrm>
            <a:off x="1028700" y="1399848"/>
            <a:ext cx="1502946" cy="11319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579"/>
              </a:lnSpc>
            </a:pPr>
            <a:r>
              <a:rPr lang="en-US" altLang="ko-KR" sz="7983" spc="-239">
                <a:solidFill>
                  <a:srgbClr val="15A9F1"/>
                </a:solidFill>
                <a:latin typeface="페이퍼로지 5 Medium" pitchFamily="2" charset="-127"/>
                <a:ea typeface="페이퍼로지 5 Medium" pitchFamily="2" charset="-127"/>
                <a:cs typeface="Nanum Square Bold"/>
                <a:sym typeface="Nanum Square Bold"/>
              </a:rPr>
              <a:t>04</a:t>
            </a:r>
            <a:endParaRPr lang="en-US" sz="7983" spc="-239">
              <a:solidFill>
                <a:srgbClr val="15A9F1"/>
              </a:solidFill>
              <a:latin typeface="페이퍼로지 5 Medium" pitchFamily="2" charset="-127"/>
              <a:ea typeface="페이퍼로지 5 Medium" pitchFamily="2" charset="-127"/>
              <a:cs typeface="Nanum Square Bold"/>
              <a:sym typeface="Nanum Square Bold"/>
            </a:endParaRP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2EC03A57-CBFB-5C57-3BB1-663AA2C1ECEC}"/>
              </a:ext>
            </a:extLst>
          </p:cNvPr>
          <p:cNvSpPr txBox="1"/>
          <p:nvPr/>
        </p:nvSpPr>
        <p:spPr>
          <a:xfrm>
            <a:off x="2531646" y="1626872"/>
            <a:ext cx="14232354" cy="7694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ko-KR" altLang="en-US" sz="5000">
                <a:solidFill>
                  <a:srgbClr val="454444"/>
                </a:solidFill>
                <a:latin typeface="페이퍼로지 5 Medium" pitchFamily="2" charset="-127"/>
                <a:ea typeface="페이퍼로지 5 Medium" pitchFamily="2" charset="-127"/>
                <a:sym typeface="Nanum Square Bold"/>
              </a:rPr>
              <a:t>재승인 제도 평가 </a:t>
            </a:r>
            <a:r>
              <a:rPr lang="en-US" altLang="ko-KR" sz="5000">
                <a:solidFill>
                  <a:srgbClr val="454444"/>
                </a:solidFill>
                <a:latin typeface="페이퍼로지 5 Medium" pitchFamily="2" charset="-127"/>
                <a:ea typeface="페이퍼로지 5 Medium" pitchFamily="2" charset="-127"/>
                <a:sym typeface="Nanum Square Bold"/>
              </a:rPr>
              <a:t>- </a:t>
            </a:r>
            <a:r>
              <a:rPr lang="ko-KR" altLang="en-US" sz="5000">
                <a:solidFill>
                  <a:srgbClr val="454444"/>
                </a:solidFill>
                <a:latin typeface="페이퍼로지 5 Medium" pitchFamily="2" charset="-127"/>
                <a:ea typeface="페이퍼로지 5 Medium" pitchFamily="2" charset="-127"/>
              </a:rPr>
              <a:t>투자의 역설을 가속하는 구축효과</a:t>
            </a:r>
            <a:r>
              <a:rPr lang="en-US" altLang="ko-KR" sz="5000">
                <a:solidFill>
                  <a:srgbClr val="454444"/>
                </a:solidFill>
                <a:latin typeface="페이퍼로지 5 Medium" pitchFamily="2" charset="-127"/>
                <a:ea typeface="페이퍼로지 5 Medium" pitchFamily="2" charset="-127"/>
                <a:sym typeface="Nanum Square Bold"/>
              </a:rPr>
              <a:t>  </a:t>
            </a:r>
            <a:endParaRPr lang="ko-KR" altLang="en-US" sz="5000">
              <a:solidFill>
                <a:srgbClr val="454444"/>
              </a:solidFill>
              <a:latin typeface="페이퍼로지 5 Medium" pitchFamily="2" charset="-127"/>
              <a:ea typeface="페이퍼로지 5 Medium" pitchFamily="2" charset="-127"/>
              <a:sym typeface="Nanum Square Bold"/>
            </a:endParaRP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F62FA1BA-DB00-BB2F-B1D6-4E722773D94A}"/>
              </a:ext>
            </a:extLst>
          </p:cNvPr>
          <p:cNvSpPr txBox="1"/>
          <p:nvPr/>
        </p:nvSpPr>
        <p:spPr>
          <a:xfrm>
            <a:off x="1123950" y="811675"/>
            <a:ext cx="3295650" cy="2239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888"/>
              </a:lnSpc>
            </a:pPr>
            <a:r>
              <a:rPr lang="ko-KR" altLang="en-US" sz="1574">
                <a:solidFill>
                  <a:srgbClr val="545454"/>
                </a:solidFill>
                <a:latin typeface="페이퍼로지 3 Light" pitchFamily="2" charset="-127"/>
                <a:ea typeface="페이퍼로지 3 Light" pitchFamily="2" charset="-127"/>
                <a:cs typeface="Nanum Square"/>
                <a:sym typeface="Nanum Square"/>
              </a:rPr>
              <a:t>한국언론학회 </a:t>
            </a:r>
            <a:r>
              <a:rPr lang="en-US" altLang="ko-KR" sz="1574">
                <a:solidFill>
                  <a:srgbClr val="545454"/>
                </a:solidFill>
                <a:latin typeface="페이퍼로지 3 Light" pitchFamily="2" charset="-127"/>
                <a:ea typeface="페이퍼로지 3 Light" pitchFamily="2" charset="-127"/>
                <a:cs typeface="Nanum Square"/>
                <a:sym typeface="Nanum Square"/>
              </a:rPr>
              <a:t>2025 </a:t>
            </a:r>
            <a:r>
              <a:rPr lang="ko-KR" altLang="en-US" sz="1574">
                <a:solidFill>
                  <a:srgbClr val="545454"/>
                </a:solidFill>
                <a:latin typeface="페이퍼로지 3 Light" pitchFamily="2" charset="-127"/>
                <a:ea typeface="페이퍼로지 3 Light" pitchFamily="2" charset="-127"/>
                <a:cs typeface="Nanum Square"/>
                <a:sym typeface="Nanum Square"/>
              </a:rPr>
              <a:t>가을철 학술대회</a:t>
            </a:r>
            <a:endParaRPr lang="en-US" altLang="ko-KR" sz="1574">
              <a:solidFill>
                <a:srgbClr val="545454"/>
              </a:solidFill>
              <a:latin typeface="페이퍼로지 3 Light" pitchFamily="2" charset="-127"/>
              <a:ea typeface="페이퍼로지 3 Light" pitchFamily="2" charset="-127"/>
              <a:cs typeface="Nanum Square"/>
              <a:sym typeface="Nanum Square"/>
            </a:endParaRPr>
          </a:p>
        </p:txBody>
      </p:sp>
      <p:sp>
        <p:nvSpPr>
          <p:cNvPr id="20" name="TextBox 12">
            <a:extLst>
              <a:ext uri="{FF2B5EF4-FFF2-40B4-BE49-F238E27FC236}">
                <a16:creationId xmlns:a16="http://schemas.microsoft.com/office/drawing/2014/main" id="{4DFA61A6-30BE-8CA6-8335-B4BA82F10663}"/>
              </a:ext>
            </a:extLst>
          </p:cNvPr>
          <p:cNvSpPr txBox="1"/>
          <p:nvPr/>
        </p:nvSpPr>
        <p:spPr>
          <a:xfrm>
            <a:off x="15135245" y="792625"/>
            <a:ext cx="2124055" cy="2116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768"/>
              </a:lnSpc>
            </a:pPr>
            <a:r>
              <a:rPr lang="ko-KR" altLang="en-US" sz="1474" b="1">
                <a:solidFill>
                  <a:srgbClr val="545454"/>
                </a:solidFill>
                <a:latin typeface="페이퍼로지 6 SemiBold" pitchFamily="2" charset="-127"/>
                <a:ea typeface="페이퍼로지 6 SemiBold" pitchFamily="2" charset="-127"/>
                <a:cs typeface="Nanum Square Bold"/>
                <a:sym typeface="Nanum Square Bold"/>
              </a:rPr>
              <a:t>선문대학교</a:t>
            </a:r>
            <a:endParaRPr lang="en-US" sz="1474" b="1">
              <a:solidFill>
                <a:srgbClr val="545454"/>
              </a:solidFill>
              <a:latin typeface="페이퍼로지 6 SemiBold" pitchFamily="2" charset="-127"/>
              <a:ea typeface="페이퍼로지 6 SemiBold" pitchFamily="2" charset="-127"/>
              <a:cs typeface="Nanum Square Bold"/>
              <a:sym typeface="Nanum Square Bold"/>
            </a:endParaRPr>
          </a:p>
        </p:txBody>
      </p:sp>
      <p:sp>
        <p:nvSpPr>
          <p:cNvPr id="5" name="Freeform 11">
            <a:extLst>
              <a:ext uri="{FF2B5EF4-FFF2-40B4-BE49-F238E27FC236}">
                <a16:creationId xmlns:a16="http://schemas.microsoft.com/office/drawing/2014/main" id="{06E99D6B-0B7F-9796-F567-F1C5776040C2}"/>
              </a:ext>
            </a:extLst>
          </p:cNvPr>
          <p:cNvSpPr/>
          <p:nvPr/>
        </p:nvSpPr>
        <p:spPr>
          <a:xfrm>
            <a:off x="1138739" y="2893711"/>
            <a:ext cx="496132" cy="493858"/>
          </a:xfrm>
          <a:custGeom>
            <a:avLst/>
            <a:gdLst/>
            <a:ahLst/>
            <a:cxnLst/>
            <a:rect l="l" t="t" r="r" b="b"/>
            <a:pathLst>
              <a:path w="496132" h="493858">
                <a:moveTo>
                  <a:pt x="0" y="0"/>
                </a:moveTo>
                <a:lnTo>
                  <a:pt x="496132" y="0"/>
                </a:lnTo>
                <a:lnTo>
                  <a:pt x="496132" y="493858"/>
                </a:lnTo>
                <a:lnTo>
                  <a:pt x="0" y="4938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388DB7-D441-4665-0B7D-42F50873D210}"/>
              </a:ext>
            </a:extLst>
          </p:cNvPr>
          <p:cNvSpPr txBox="1"/>
          <p:nvPr/>
        </p:nvSpPr>
        <p:spPr>
          <a:xfrm>
            <a:off x="1670313" y="2926495"/>
            <a:ext cx="1346493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250"/>
              </a:spcBef>
              <a:spcAft>
                <a:spcPts val="1500"/>
              </a:spcAft>
              <a:buNone/>
            </a:pPr>
            <a:r>
              <a:rPr lang="ko-KR" altLang="en-US" sz="2800" i="0">
                <a:effectLst/>
                <a:latin typeface="페이퍼로지 5 Medium" pitchFamily="2" charset="-127"/>
                <a:ea typeface="페이퍼로지 5 Medium" pitchFamily="2" charset="-127"/>
              </a:rPr>
              <a:t>강제 투자가 자발적 투자를 </a:t>
            </a:r>
            <a:r>
              <a:rPr lang="en-US" altLang="ko-KR" sz="2800" i="0">
                <a:effectLst/>
                <a:latin typeface="페이퍼로지 5 Medium" pitchFamily="2" charset="-127"/>
                <a:ea typeface="페이퍼로지 5 Medium" pitchFamily="2" charset="-127"/>
              </a:rPr>
              <a:t>1.7~3.8</a:t>
            </a:r>
            <a:r>
              <a:rPr lang="ko-KR" altLang="en-US" sz="2800" i="0">
                <a:effectLst/>
                <a:latin typeface="페이퍼로지 5 Medium" pitchFamily="2" charset="-127"/>
                <a:ea typeface="페이퍼로지 5 Medium" pitchFamily="2" charset="-127"/>
              </a:rPr>
              <a:t>배 감소시킴 </a:t>
            </a:r>
            <a:r>
              <a:rPr lang="en-US" altLang="ko-KR" sz="2800" i="0">
                <a:effectLst/>
                <a:latin typeface="페이퍼로지 5 Medium" pitchFamily="2" charset="-127"/>
                <a:ea typeface="페이퍼로지 5 Medium" pitchFamily="2" charset="-127"/>
                <a:sym typeface="Wingdings" panose="05000000000000000000" pitchFamily="2" charset="2"/>
              </a:rPr>
              <a:t> </a:t>
            </a:r>
            <a:r>
              <a:rPr lang="ko-KR" altLang="en-US" sz="2800" i="0">
                <a:effectLst/>
                <a:latin typeface="페이퍼로지 5 Medium" pitchFamily="2" charset="-127"/>
                <a:ea typeface="페이퍼로지 5 Medium" pitchFamily="2" charset="-127"/>
              </a:rPr>
              <a:t>재투자 여력을 더욱 악화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D5E74168-4435-1A34-1548-9F67A8F3F8AA}"/>
              </a:ext>
            </a:extLst>
          </p:cNvPr>
          <p:cNvSpPr/>
          <p:nvPr/>
        </p:nvSpPr>
        <p:spPr>
          <a:xfrm>
            <a:off x="1386805" y="3718082"/>
            <a:ext cx="7586161" cy="5399393"/>
          </a:xfrm>
          <a:prstGeom prst="rect">
            <a:avLst/>
          </a:prstGeom>
          <a:noFill/>
          <a:ln>
            <a:solidFill>
              <a:srgbClr val="00A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Bef>
                <a:spcPts val="2250"/>
              </a:spcBef>
              <a:spcAft>
                <a:spcPts val="1500"/>
              </a:spcAft>
            </a:pPr>
            <a:r>
              <a:rPr lang="ko-KR" altLang="en-US" sz="2800" b="1">
                <a:solidFill>
                  <a:srgbClr val="2A5298"/>
                </a:solidFill>
                <a:latin typeface="페이퍼로지 6 SemiBold" pitchFamily="2" charset="-127"/>
                <a:ea typeface="페이퍼로지 6 SemiBold" pitchFamily="2" charset="-127"/>
              </a:rPr>
              <a:t>구축효과 개념</a:t>
            </a:r>
          </a:p>
          <a:p>
            <a:pPr marL="285750" indent="-285750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ko-KR" altLang="en-US" sz="2000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</a:rPr>
              <a:t>강제적 기금</a:t>
            </a:r>
            <a:r>
              <a:rPr lang="en-US" altLang="ko-KR" sz="2000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</a:rPr>
              <a:t>/</a:t>
            </a:r>
            <a:r>
              <a:rPr lang="ko-KR" altLang="en-US" sz="2000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</a:rPr>
              <a:t>투자 → 자발적 투자 위축</a:t>
            </a:r>
          </a:p>
          <a:p>
            <a:pPr marL="285750" indent="-285750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ko-KR" altLang="en-US" sz="2000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</a:rPr>
              <a:t>메커니즘</a:t>
            </a:r>
          </a:p>
          <a:p>
            <a:pPr marL="742950" lvl="1" indent="-285750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ko-KR" altLang="en-US" sz="2000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</a:rPr>
              <a:t>직접적 재원 감소 </a:t>
            </a:r>
            <a:r>
              <a:rPr lang="en-US" altLang="ko-KR" sz="2000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</a:rPr>
              <a:t>(</a:t>
            </a:r>
            <a:r>
              <a:rPr lang="ko-KR" altLang="en-US" sz="2000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</a:rPr>
              <a:t>현금 유출</a:t>
            </a:r>
            <a:r>
              <a:rPr lang="en-US" altLang="ko-KR" sz="2000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</a:rPr>
              <a:t>)</a:t>
            </a:r>
          </a:p>
          <a:p>
            <a:pPr marL="742950" lvl="1" indent="-285750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ko-KR" altLang="en-US" sz="2000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</a:rPr>
              <a:t>경영 불확실성 증대 → 투자 회피</a:t>
            </a:r>
          </a:p>
          <a:p>
            <a:pPr marL="742950" lvl="1" indent="-285750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ko-KR" altLang="en-US" sz="2000" b="1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</a:rPr>
              <a:t>재투자 여력 추가 감소</a:t>
            </a:r>
            <a:endParaRPr lang="ko-KR" altLang="en-US" sz="2000">
              <a:solidFill>
                <a:srgbClr val="4A5568"/>
              </a:solidFill>
              <a:latin typeface="페이퍼로지 4 Regular" pitchFamily="2" charset="-127"/>
              <a:ea typeface="페이퍼로지 4 Regular" pitchFamily="2" charset="-127"/>
            </a:endParaRPr>
          </a:p>
          <a:p>
            <a:pPr>
              <a:spcBef>
                <a:spcPts val="2250"/>
              </a:spcBef>
              <a:spcAft>
                <a:spcPts val="1500"/>
              </a:spcAft>
            </a:pPr>
            <a:r>
              <a:rPr lang="ko-KR" altLang="en-US" sz="2800" b="1">
                <a:solidFill>
                  <a:srgbClr val="2A5298"/>
                </a:solidFill>
                <a:latin typeface="페이퍼로지 6 SemiBold" pitchFamily="2" charset="-127"/>
                <a:ea typeface="페이퍼로지 6 SemiBold" pitchFamily="2" charset="-127"/>
              </a:rPr>
              <a:t>투자의 역설과의 관계</a:t>
            </a:r>
          </a:p>
          <a:p>
            <a:pPr marL="285750" indent="-285750">
              <a:lnSpc>
                <a:spcPct val="150000"/>
              </a:lnSpc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ko-KR" altLang="en-US" sz="2000" b="1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</a:rPr>
              <a:t>과잉투자로 재투자 여력이 감소한 상황에서</a:t>
            </a:r>
            <a:r>
              <a:rPr lang="en-US" altLang="ko-KR" sz="2000" b="1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</a:rPr>
              <a:t>,</a:t>
            </a:r>
            <a:br>
              <a:rPr lang="ko-KR" altLang="en-US" sz="2000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</a:rPr>
            </a:br>
            <a:r>
              <a:rPr lang="ko-KR" altLang="en-US" sz="2000" b="1">
                <a:solidFill>
                  <a:srgbClr val="F5576C"/>
                </a:solidFill>
                <a:latin typeface="페이퍼로지 4 Regular" pitchFamily="2" charset="-127"/>
                <a:ea typeface="페이퍼로지 4 Regular" pitchFamily="2" charset="-127"/>
              </a:rPr>
              <a:t>구축효과는 남아있는 자발적 투자 의지마저 꺾어버리는 결정타 역할</a:t>
            </a:r>
            <a:endParaRPr lang="ko-KR" altLang="en-US" sz="2000">
              <a:solidFill>
                <a:srgbClr val="4A5568"/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421319DC-5284-5405-E6DA-613EEA3FC761}"/>
              </a:ext>
            </a:extLst>
          </p:cNvPr>
          <p:cNvSpPr/>
          <p:nvPr/>
        </p:nvSpPr>
        <p:spPr>
          <a:xfrm>
            <a:off x="9647823" y="3718082"/>
            <a:ext cx="7586161" cy="5399393"/>
          </a:xfrm>
          <a:prstGeom prst="rect">
            <a:avLst/>
          </a:prstGeom>
          <a:noFill/>
          <a:ln>
            <a:solidFill>
              <a:srgbClr val="00A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Bef>
                <a:spcPts val="2250"/>
              </a:spcBef>
              <a:spcAft>
                <a:spcPts val="1500"/>
              </a:spcAft>
            </a:pPr>
            <a:r>
              <a:rPr lang="ko-KR" altLang="en-US" sz="2800" b="1">
                <a:solidFill>
                  <a:srgbClr val="2A5298"/>
                </a:solidFill>
                <a:latin typeface="페이퍼로지 6 SemiBold" pitchFamily="2" charset="-127"/>
                <a:ea typeface="페이퍼로지 6 SemiBold" pitchFamily="2" charset="-127"/>
              </a:rPr>
              <a:t>실증 분석 결과</a:t>
            </a:r>
            <a:endParaRPr lang="en-US" altLang="ko-KR" sz="2800" b="1">
              <a:solidFill>
                <a:srgbClr val="2A5298"/>
              </a:solidFill>
              <a:latin typeface="페이퍼로지 6 SemiBold" pitchFamily="2" charset="-127"/>
              <a:ea typeface="페이퍼로지 6 SemiBold" pitchFamily="2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4000" b="1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방송통신발전기금 </a:t>
            </a:r>
            <a:r>
              <a:rPr lang="en-US" altLang="ko-KR" sz="4000" b="1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: 431.5</a:t>
            </a:r>
            <a:r>
              <a:rPr lang="ko-KR" altLang="en-US" sz="4000" b="1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억원</a:t>
            </a:r>
          </a:p>
          <a:p>
            <a:pPr>
              <a:lnSpc>
                <a:spcPct val="200000"/>
              </a:lnSpc>
            </a:pPr>
            <a:r>
              <a:rPr lang="en-US" altLang="ko-KR" sz="160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(2015-2024 </a:t>
            </a:r>
            <a:r>
              <a:rPr lang="ko-KR" altLang="en-US" sz="160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총액</a:t>
            </a:r>
            <a:r>
              <a:rPr lang="en-US" altLang="ko-KR" sz="160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)</a:t>
            </a:r>
          </a:p>
          <a:p>
            <a:pPr>
              <a:lnSpc>
                <a:spcPct val="200000"/>
              </a:lnSpc>
            </a:pPr>
            <a:r>
              <a:rPr lang="ko-KR" altLang="en-US" sz="4000" b="1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투자 감소 규모 </a:t>
            </a:r>
            <a:r>
              <a:rPr lang="en-US" altLang="ko-KR" sz="4000" b="1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: 733~1,640</a:t>
            </a:r>
            <a:r>
              <a:rPr lang="ko-KR" altLang="en-US" sz="4000" b="1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억원</a:t>
            </a:r>
          </a:p>
          <a:p>
            <a:pPr>
              <a:lnSpc>
                <a:spcPct val="200000"/>
              </a:lnSpc>
            </a:pPr>
            <a:r>
              <a:rPr lang="en-US" altLang="ko-KR" sz="160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(</a:t>
            </a:r>
            <a:r>
              <a:rPr lang="ko-KR" altLang="en-US" sz="160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구축효과 </a:t>
            </a:r>
            <a:r>
              <a:rPr lang="en-US" altLang="ko-KR" sz="160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1.7~3.8</a:t>
            </a:r>
            <a:r>
              <a:rPr lang="ko-KR" altLang="en-US" sz="160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배</a:t>
            </a:r>
            <a:r>
              <a:rPr lang="en-US" altLang="ko-KR" sz="160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)</a:t>
            </a:r>
          </a:p>
          <a:p>
            <a:pPr>
              <a:lnSpc>
                <a:spcPct val="200000"/>
              </a:lnSpc>
            </a:pPr>
            <a:endParaRPr lang="en-US" altLang="ko-KR" sz="1600">
              <a:latin typeface="페이퍼로지 4 Regular" pitchFamily="2" charset="-127"/>
              <a:ea typeface="페이퍼로지 4 Regular" pitchFamily="2" charset="-127"/>
            </a:endParaRPr>
          </a:p>
          <a:p>
            <a:pPr>
              <a:spcBef>
                <a:spcPts val="500"/>
              </a:spcBef>
              <a:spcAft>
                <a:spcPts val="500"/>
              </a:spcAft>
            </a:pPr>
            <a:endParaRPr lang="en-US" altLang="ko-KR" sz="300" b="1">
              <a:solidFill>
                <a:srgbClr val="2A5298"/>
              </a:solidFill>
              <a:latin typeface="페이퍼로지 6 SemiBold" pitchFamily="2" charset="-127"/>
              <a:ea typeface="페이퍼로지 6 SemiBold" pitchFamily="2" charset="-127"/>
            </a:endParaRPr>
          </a:p>
          <a:p>
            <a:pPr>
              <a:spcBef>
                <a:spcPts val="500"/>
              </a:spcBef>
              <a:spcAft>
                <a:spcPts val="1500"/>
              </a:spcAft>
            </a:pPr>
            <a:r>
              <a:rPr lang="en-US" altLang="ko-KR" sz="160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*</a:t>
            </a:r>
            <a:r>
              <a:rPr lang="ko-KR" altLang="en-US" sz="160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출처</a:t>
            </a:r>
            <a:r>
              <a:rPr lang="en-US" altLang="ko-KR" sz="160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:</a:t>
            </a:r>
            <a:r>
              <a:rPr lang="ko-KR" altLang="en-US" sz="160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 김용희</a:t>
            </a:r>
            <a:r>
              <a:rPr lang="en-US" altLang="ko-KR" sz="1600">
                <a:solidFill>
                  <a:schemeClr val="tx1"/>
                </a:solidFill>
                <a:latin typeface="페이퍼로지 4 Regular" pitchFamily="2" charset="-127"/>
                <a:ea typeface="페이퍼로지 4 Regular" pitchFamily="2" charset="-127"/>
              </a:rPr>
              <a:t>(2025)</a:t>
            </a:r>
            <a:endParaRPr lang="ko-KR" altLang="en-US" sz="1600">
              <a:solidFill>
                <a:schemeClr val="tx1"/>
              </a:solidFill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34" name="슬라이드 번호 개체 틀 33">
            <a:extLst>
              <a:ext uri="{FF2B5EF4-FFF2-40B4-BE49-F238E27FC236}">
                <a16:creationId xmlns:a16="http://schemas.microsoft.com/office/drawing/2014/main" id="{4DE19CCD-E712-A8D3-D28C-BA041A1CC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9948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82C04C-8372-9CF0-A74A-023DB12F3F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8A8715F2-E0F6-27A7-7023-56364178DAE4}"/>
              </a:ext>
            </a:extLst>
          </p:cNvPr>
          <p:cNvSpPr/>
          <p:nvPr/>
        </p:nvSpPr>
        <p:spPr>
          <a:xfrm flipV="1">
            <a:off x="1028700" y="1169525"/>
            <a:ext cx="16230600" cy="0"/>
          </a:xfrm>
          <a:prstGeom prst="line">
            <a:avLst/>
          </a:prstGeom>
          <a:ln w="19050" cap="flat">
            <a:solidFill>
              <a:srgbClr val="D9D9D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FFE50CA8-3B87-E20F-5C15-C49A460AE38B}"/>
              </a:ext>
            </a:extLst>
          </p:cNvPr>
          <p:cNvSpPr txBox="1"/>
          <p:nvPr/>
        </p:nvSpPr>
        <p:spPr>
          <a:xfrm>
            <a:off x="1028700" y="1399848"/>
            <a:ext cx="1502946" cy="11319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579"/>
              </a:lnSpc>
            </a:pPr>
            <a:r>
              <a:rPr lang="en-US" altLang="ko-KR" sz="7983" spc="-239">
                <a:solidFill>
                  <a:srgbClr val="15A9F1"/>
                </a:solidFill>
                <a:latin typeface="페이퍼로지 5 Medium" pitchFamily="2" charset="-127"/>
                <a:ea typeface="페이퍼로지 5 Medium" pitchFamily="2" charset="-127"/>
                <a:cs typeface="Nanum Square Bold"/>
                <a:sym typeface="Nanum Square Bold"/>
              </a:rPr>
              <a:t>04</a:t>
            </a:r>
            <a:endParaRPr lang="en-US" sz="7983" spc="-239">
              <a:solidFill>
                <a:srgbClr val="15A9F1"/>
              </a:solidFill>
              <a:latin typeface="페이퍼로지 5 Medium" pitchFamily="2" charset="-127"/>
              <a:ea typeface="페이퍼로지 5 Medium" pitchFamily="2" charset="-127"/>
              <a:cs typeface="Nanum Square Bold"/>
              <a:sym typeface="Nanum Square Bold"/>
            </a:endParaRP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5739F7C1-CEC9-B273-68DB-C03A7526F247}"/>
              </a:ext>
            </a:extLst>
          </p:cNvPr>
          <p:cNvSpPr txBox="1"/>
          <p:nvPr/>
        </p:nvSpPr>
        <p:spPr>
          <a:xfrm>
            <a:off x="2531646" y="1626872"/>
            <a:ext cx="14232354" cy="15388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ko-KR" altLang="en-US" sz="5000">
                <a:solidFill>
                  <a:srgbClr val="454444"/>
                </a:solidFill>
                <a:latin typeface="페이퍼로지 5 Medium" pitchFamily="2" charset="-127"/>
                <a:ea typeface="페이퍼로지 5 Medium" pitchFamily="2" charset="-127"/>
                <a:sym typeface="Nanum Square Bold"/>
              </a:rPr>
              <a:t>재승인 제도 평가 </a:t>
            </a:r>
            <a:r>
              <a:rPr lang="en-US" altLang="ko-KR" sz="5000">
                <a:solidFill>
                  <a:srgbClr val="454444"/>
                </a:solidFill>
                <a:latin typeface="페이퍼로지 5 Medium" pitchFamily="2" charset="-127"/>
                <a:ea typeface="페이퍼로지 5 Medium" pitchFamily="2" charset="-127"/>
                <a:sym typeface="Nanum Square Bold"/>
              </a:rPr>
              <a:t>- </a:t>
            </a:r>
            <a:r>
              <a:rPr lang="ko-KR" altLang="en-US" sz="5000">
                <a:solidFill>
                  <a:srgbClr val="454444"/>
                </a:solidFill>
                <a:latin typeface="페이퍼로지 5 Medium" pitchFamily="2" charset="-127"/>
                <a:ea typeface="페이퍼로지 5 Medium" pitchFamily="2" charset="-127"/>
              </a:rPr>
              <a:t>재승인 기간 문제</a:t>
            </a:r>
          </a:p>
          <a:p>
            <a:endParaRPr lang="ko-KR" altLang="en-US" sz="5000">
              <a:solidFill>
                <a:srgbClr val="454444"/>
              </a:solidFill>
              <a:latin typeface="페이퍼로지 5 Medium" pitchFamily="2" charset="-127"/>
              <a:ea typeface="페이퍼로지 5 Medium" pitchFamily="2" charset="-127"/>
              <a:sym typeface="Nanum Square Bold"/>
            </a:endParaRP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29550E9C-6528-008E-CAE2-EC02E36D05E1}"/>
              </a:ext>
            </a:extLst>
          </p:cNvPr>
          <p:cNvSpPr txBox="1"/>
          <p:nvPr/>
        </p:nvSpPr>
        <p:spPr>
          <a:xfrm>
            <a:off x="1123950" y="811675"/>
            <a:ext cx="3295650" cy="2239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888"/>
              </a:lnSpc>
            </a:pPr>
            <a:r>
              <a:rPr lang="ko-KR" altLang="en-US" sz="1574">
                <a:solidFill>
                  <a:srgbClr val="545454"/>
                </a:solidFill>
                <a:latin typeface="페이퍼로지 3 Light" pitchFamily="2" charset="-127"/>
                <a:ea typeface="페이퍼로지 3 Light" pitchFamily="2" charset="-127"/>
                <a:cs typeface="Nanum Square"/>
                <a:sym typeface="Nanum Square"/>
              </a:rPr>
              <a:t>한국언론학회 </a:t>
            </a:r>
            <a:r>
              <a:rPr lang="en-US" altLang="ko-KR" sz="1574">
                <a:solidFill>
                  <a:srgbClr val="545454"/>
                </a:solidFill>
                <a:latin typeface="페이퍼로지 3 Light" pitchFamily="2" charset="-127"/>
                <a:ea typeface="페이퍼로지 3 Light" pitchFamily="2" charset="-127"/>
                <a:cs typeface="Nanum Square"/>
                <a:sym typeface="Nanum Square"/>
              </a:rPr>
              <a:t>2025 </a:t>
            </a:r>
            <a:r>
              <a:rPr lang="ko-KR" altLang="en-US" sz="1574">
                <a:solidFill>
                  <a:srgbClr val="545454"/>
                </a:solidFill>
                <a:latin typeface="페이퍼로지 3 Light" pitchFamily="2" charset="-127"/>
                <a:ea typeface="페이퍼로지 3 Light" pitchFamily="2" charset="-127"/>
                <a:cs typeface="Nanum Square"/>
                <a:sym typeface="Nanum Square"/>
              </a:rPr>
              <a:t>가을철 학술대회</a:t>
            </a:r>
            <a:endParaRPr lang="en-US" altLang="ko-KR" sz="1574">
              <a:solidFill>
                <a:srgbClr val="545454"/>
              </a:solidFill>
              <a:latin typeface="페이퍼로지 3 Light" pitchFamily="2" charset="-127"/>
              <a:ea typeface="페이퍼로지 3 Light" pitchFamily="2" charset="-127"/>
              <a:cs typeface="Nanum Square"/>
              <a:sym typeface="Nanum Square"/>
            </a:endParaRPr>
          </a:p>
        </p:txBody>
      </p:sp>
      <p:sp>
        <p:nvSpPr>
          <p:cNvPr id="20" name="TextBox 12">
            <a:extLst>
              <a:ext uri="{FF2B5EF4-FFF2-40B4-BE49-F238E27FC236}">
                <a16:creationId xmlns:a16="http://schemas.microsoft.com/office/drawing/2014/main" id="{B884FD1D-9238-F9AA-98C3-125A196615E2}"/>
              </a:ext>
            </a:extLst>
          </p:cNvPr>
          <p:cNvSpPr txBox="1"/>
          <p:nvPr/>
        </p:nvSpPr>
        <p:spPr>
          <a:xfrm>
            <a:off x="15135245" y="792625"/>
            <a:ext cx="2124055" cy="2116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768"/>
              </a:lnSpc>
            </a:pPr>
            <a:r>
              <a:rPr lang="ko-KR" altLang="en-US" sz="1474" b="1">
                <a:solidFill>
                  <a:srgbClr val="545454"/>
                </a:solidFill>
                <a:latin typeface="페이퍼로지 6 SemiBold" pitchFamily="2" charset="-127"/>
                <a:ea typeface="페이퍼로지 6 SemiBold" pitchFamily="2" charset="-127"/>
                <a:cs typeface="Nanum Square Bold"/>
                <a:sym typeface="Nanum Square Bold"/>
              </a:rPr>
              <a:t>선문대학교</a:t>
            </a:r>
            <a:endParaRPr lang="en-US" sz="1474" b="1">
              <a:solidFill>
                <a:srgbClr val="545454"/>
              </a:solidFill>
              <a:latin typeface="페이퍼로지 6 SemiBold" pitchFamily="2" charset="-127"/>
              <a:ea typeface="페이퍼로지 6 SemiBold" pitchFamily="2" charset="-127"/>
              <a:cs typeface="Nanum Square Bold"/>
              <a:sym typeface="Nanum Square Bold"/>
            </a:endParaRPr>
          </a:p>
        </p:txBody>
      </p:sp>
      <p:sp>
        <p:nvSpPr>
          <p:cNvPr id="5" name="Freeform 11">
            <a:extLst>
              <a:ext uri="{FF2B5EF4-FFF2-40B4-BE49-F238E27FC236}">
                <a16:creationId xmlns:a16="http://schemas.microsoft.com/office/drawing/2014/main" id="{DB73F505-915B-C322-AC57-A4BD74B61B89}"/>
              </a:ext>
            </a:extLst>
          </p:cNvPr>
          <p:cNvSpPr/>
          <p:nvPr/>
        </p:nvSpPr>
        <p:spPr>
          <a:xfrm>
            <a:off x="1138739" y="2893711"/>
            <a:ext cx="496132" cy="493858"/>
          </a:xfrm>
          <a:custGeom>
            <a:avLst/>
            <a:gdLst/>
            <a:ahLst/>
            <a:cxnLst/>
            <a:rect l="l" t="t" r="r" b="b"/>
            <a:pathLst>
              <a:path w="496132" h="493858">
                <a:moveTo>
                  <a:pt x="0" y="0"/>
                </a:moveTo>
                <a:lnTo>
                  <a:pt x="496132" y="0"/>
                </a:lnTo>
                <a:lnTo>
                  <a:pt x="496132" y="493858"/>
                </a:lnTo>
                <a:lnTo>
                  <a:pt x="0" y="4938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427E35-5FC5-23F1-37F8-2A8C0675B51D}"/>
              </a:ext>
            </a:extLst>
          </p:cNvPr>
          <p:cNvSpPr txBox="1"/>
          <p:nvPr/>
        </p:nvSpPr>
        <p:spPr>
          <a:xfrm>
            <a:off x="1670313" y="2926495"/>
            <a:ext cx="1346493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250"/>
              </a:spcBef>
              <a:spcAft>
                <a:spcPts val="1500"/>
              </a:spcAft>
              <a:buNone/>
            </a:pPr>
            <a:r>
              <a:rPr lang="ko-KR" altLang="en-US" sz="2800" i="0">
                <a:effectLst/>
                <a:latin typeface="페이퍼로지 5 Medium" pitchFamily="2" charset="-127"/>
                <a:ea typeface="페이퍼로지 5 Medium" pitchFamily="2" charset="-127"/>
              </a:rPr>
              <a:t>법정 </a:t>
            </a:r>
            <a:r>
              <a:rPr lang="en-US" altLang="ko-KR" sz="2800" i="0">
                <a:effectLst/>
                <a:latin typeface="페이퍼로지 5 Medium" pitchFamily="2" charset="-127"/>
                <a:ea typeface="페이퍼로지 5 Medium" pitchFamily="2" charset="-127"/>
              </a:rPr>
              <a:t>7</a:t>
            </a:r>
            <a:r>
              <a:rPr lang="ko-KR" altLang="en-US" sz="2800" i="0">
                <a:effectLst/>
                <a:latin typeface="페이퍼로지 5 Medium" pitchFamily="2" charset="-127"/>
                <a:ea typeface="페이퍼로지 5 Medium" pitchFamily="2" charset="-127"/>
              </a:rPr>
              <a:t>년 → 실제 </a:t>
            </a:r>
            <a:r>
              <a:rPr lang="en-US" altLang="ko-KR" sz="2800" i="0">
                <a:effectLst/>
                <a:latin typeface="페이퍼로지 5 Medium" pitchFamily="2" charset="-127"/>
                <a:ea typeface="페이퍼로지 5 Medium" pitchFamily="2" charset="-127"/>
              </a:rPr>
              <a:t>3~4</a:t>
            </a:r>
            <a:r>
              <a:rPr lang="ko-KR" altLang="en-US" sz="2800" i="0">
                <a:effectLst/>
                <a:latin typeface="페이퍼로지 5 Medium" pitchFamily="2" charset="-127"/>
                <a:ea typeface="페이퍼로지 5 Medium" pitchFamily="2" charset="-127"/>
              </a:rPr>
              <a:t>년만 부여</a:t>
            </a:r>
            <a:r>
              <a:rPr lang="en-US" altLang="ko-KR" sz="2800" i="0">
                <a:effectLst/>
                <a:latin typeface="페이퍼로지 5 Medium" pitchFamily="2" charset="-127"/>
                <a:ea typeface="페이퍼로지 5 Medium" pitchFamily="2" charset="-127"/>
              </a:rPr>
              <a:t>, </a:t>
            </a:r>
            <a:r>
              <a:rPr lang="ko-KR" altLang="en-US" sz="2800" i="0">
                <a:effectLst/>
                <a:latin typeface="페이퍼로지 5 Medium" pitchFamily="2" charset="-127"/>
                <a:ea typeface="페이퍼로지 5 Medium" pitchFamily="2" charset="-127"/>
              </a:rPr>
              <a:t>장기 투자 계획 수립 불가</a:t>
            </a:r>
          </a:p>
        </p:txBody>
      </p:sp>
      <p:pic>
        <p:nvPicPr>
          <p:cNvPr id="4" name="그림 3" descr="텍스트, 스크린샷, 도표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C6B846E-DE38-5CE9-5B31-D3B1B763C4A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2167" y="3825399"/>
            <a:ext cx="12523666" cy="6228497"/>
          </a:xfrm>
          <a:prstGeom prst="rect">
            <a:avLst/>
          </a:prstGeom>
        </p:spPr>
      </p:pic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7852A2A4-CF99-D68F-A4D9-343CA97ED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3649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A5FC85-94C7-89BA-B5F3-6BEF08313C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63C2C27E-893A-F4CB-0BCB-147B6D87CA71}"/>
              </a:ext>
            </a:extLst>
          </p:cNvPr>
          <p:cNvSpPr/>
          <p:nvPr/>
        </p:nvSpPr>
        <p:spPr>
          <a:xfrm flipV="1">
            <a:off x="1028700" y="1169525"/>
            <a:ext cx="16230600" cy="0"/>
          </a:xfrm>
          <a:prstGeom prst="line">
            <a:avLst/>
          </a:prstGeom>
          <a:ln w="19050" cap="flat">
            <a:solidFill>
              <a:srgbClr val="D9D9D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E1474719-D76B-EF88-D1A7-2A408DBBE17A}"/>
              </a:ext>
            </a:extLst>
          </p:cNvPr>
          <p:cNvSpPr txBox="1"/>
          <p:nvPr/>
        </p:nvSpPr>
        <p:spPr>
          <a:xfrm>
            <a:off x="1028700" y="1399848"/>
            <a:ext cx="1502946" cy="11319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579"/>
              </a:lnSpc>
            </a:pPr>
            <a:r>
              <a:rPr lang="en-US" altLang="ko-KR" sz="7983" spc="-239">
                <a:solidFill>
                  <a:srgbClr val="15A9F1"/>
                </a:solidFill>
                <a:latin typeface="페이퍼로지 5 Medium" pitchFamily="2" charset="-127"/>
                <a:ea typeface="페이퍼로지 5 Medium" pitchFamily="2" charset="-127"/>
                <a:cs typeface="Nanum Square Bold"/>
                <a:sym typeface="Nanum Square Bold"/>
              </a:rPr>
              <a:t>04</a:t>
            </a:r>
            <a:endParaRPr lang="en-US" sz="7983" spc="-239">
              <a:solidFill>
                <a:srgbClr val="15A9F1"/>
              </a:solidFill>
              <a:latin typeface="페이퍼로지 5 Medium" pitchFamily="2" charset="-127"/>
              <a:ea typeface="페이퍼로지 5 Medium" pitchFamily="2" charset="-127"/>
              <a:cs typeface="Nanum Square Bold"/>
              <a:sym typeface="Nanum Square Bold"/>
            </a:endParaRP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7ADBC90D-08A8-0E92-8491-F5B73B44E438}"/>
              </a:ext>
            </a:extLst>
          </p:cNvPr>
          <p:cNvSpPr txBox="1"/>
          <p:nvPr/>
        </p:nvSpPr>
        <p:spPr>
          <a:xfrm>
            <a:off x="2531646" y="1626872"/>
            <a:ext cx="14232354" cy="7694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ko-KR" altLang="en-US" sz="5000">
                <a:solidFill>
                  <a:srgbClr val="454444"/>
                </a:solidFill>
                <a:latin typeface="페이퍼로지 5 Medium" pitchFamily="2" charset="-127"/>
                <a:ea typeface="페이퍼로지 5 Medium" pitchFamily="2" charset="-127"/>
                <a:sym typeface="Nanum Square Bold"/>
              </a:rPr>
              <a:t>재승인 제도 평가 </a:t>
            </a:r>
            <a:r>
              <a:rPr lang="en-US" altLang="ko-KR" sz="5000">
                <a:solidFill>
                  <a:srgbClr val="454444"/>
                </a:solidFill>
                <a:latin typeface="페이퍼로지 5 Medium" pitchFamily="2" charset="-127"/>
                <a:ea typeface="페이퍼로지 5 Medium" pitchFamily="2" charset="-127"/>
                <a:sym typeface="Nanum Square Bold"/>
              </a:rPr>
              <a:t>– </a:t>
            </a:r>
            <a:r>
              <a:rPr lang="ko-KR" altLang="en-US" sz="5000">
                <a:solidFill>
                  <a:srgbClr val="454444"/>
                </a:solidFill>
                <a:latin typeface="페이퍼로지 5 Medium" pitchFamily="2" charset="-127"/>
                <a:ea typeface="페이퍼로지 5 Medium" pitchFamily="2" charset="-127"/>
              </a:rPr>
              <a:t>구조적 문제점</a:t>
            </a:r>
            <a:endParaRPr lang="ko-KR" altLang="en-US" sz="5000">
              <a:solidFill>
                <a:srgbClr val="454444"/>
              </a:solidFill>
              <a:latin typeface="페이퍼로지 5 Medium" pitchFamily="2" charset="-127"/>
              <a:ea typeface="페이퍼로지 5 Medium" pitchFamily="2" charset="-127"/>
              <a:sym typeface="Nanum Square Bold"/>
            </a:endParaRP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E7A83BFD-77A9-980C-2FC5-829BFA6A90FE}"/>
              </a:ext>
            </a:extLst>
          </p:cNvPr>
          <p:cNvSpPr txBox="1"/>
          <p:nvPr/>
        </p:nvSpPr>
        <p:spPr>
          <a:xfrm>
            <a:off x="1123950" y="811675"/>
            <a:ext cx="3295650" cy="2239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888"/>
              </a:lnSpc>
            </a:pPr>
            <a:r>
              <a:rPr lang="ko-KR" altLang="en-US" sz="1574">
                <a:solidFill>
                  <a:srgbClr val="545454"/>
                </a:solidFill>
                <a:latin typeface="페이퍼로지 3 Light" pitchFamily="2" charset="-127"/>
                <a:ea typeface="페이퍼로지 3 Light" pitchFamily="2" charset="-127"/>
                <a:cs typeface="Nanum Square"/>
                <a:sym typeface="Nanum Square"/>
              </a:rPr>
              <a:t>한국언론학회 </a:t>
            </a:r>
            <a:r>
              <a:rPr lang="en-US" altLang="ko-KR" sz="1574">
                <a:solidFill>
                  <a:srgbClr val="545454"/>
                </a:solidFill>
                <a:latin typeface="페이퍼로지 3 Light" pitchFamily="2" charset="-127"/>
                <a:ea typeface="페이퍼로지 3 Light" pitchFamily="2" charset="-127"/>
                <a:cs typeface="Nanum Square"/>
                <a:sym typeface="Nanum Square"/>
              </a:rPr>
              <a:t>2025 </a:t>
            </a:r>
            <a:r>
              <a:rPr lang="ko-KR" altLang="en-US" sz="1574">
                <a:solidFill>
                  <a:srgbClr val="545454"/>
                </a:solidFill>
                <a:latin typeface="페이퍼로지 3 Light" pitchFamily="2" charset="-127"/>
                <a:ea typeface="페이퍼로지 3 Light" pitchFamily="2" charset="-127"/>
                <a:cs typeface="Nanum Square"/>
                <a:sym typeface="Nanum Square"/>
              </a:rPr>
              <a:t>가을철 학술대회</a:t>
            </a:r>
            <a:endParaRPr lang="en-US" altLang="ko-KR" sz="1574">
              <a:solidFill>
                <a:srgbClr val="545454"/>
              </a:solidFill>
              <a:latin typeface="페이퍼로지 3 Light" pitchFamily="2" charset="-127"/>
              <a:ea typeface="페이퍼로지 3 Light" pitchFamily="2" charset="-127"/>
              <a:cs typeface="Nanum Square"/>
              <a:sym typeface="Nanum Square"/>
            </a:endParaRPr>
          </a:p>
        </p:txBody>
      </p:sp>
      <p:sp>
        <p:nvSpPr>
          <p:cNvPr id="20" name="TextBox 12">
            <a:extLst>
              <a:ext uri="{FF2B5EF4-FFF2-40B4-BE49-F238E27FC236}">
                <a16:creationId xmlns:a16="http://schemas.microsoft.com/office/drawing/2014/main" id="{DFA0BCD3-CEDD-8DBB-F78C-F972A17ABD29}"/>
              </a:ext>
            </a:extLst>
          </p:cNvPr>
          <p:cNvSpPr txBox="1"/>
          <p:nvPr/>
        </p:nvSpPr>
        <p:spPr>
          <a:xfrm>
            <a:off x="15135245" y="792625"/>
            <a:ext cx="2124055" cy="2116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768"/>
              </a:lnSpc>
            </a:pPr>
            <a:r>
              <a:rPr lang="ko-KR" altLang="en-US" sz="1474" b="1">
                <a:solidFill>
                  <a:srgbClr val="545454"/>
                </a:solidFill>
                <a:latin typeface="페이퍼로지 6 SemiBold" pitchFamily="2" charset="-127"/>
                <a:ea typeface="페이퍼로지 6 SemiBold" pitchFamily="2" charset="-127"/>
                <a:cs typeface="Nanum Square Bold"/>
                <a:sym typeface="Nanum Square Bold"/>
              </a:rPr>
              <a:t>선문대학교</a:t>
            </a:r>
            <a:endParaRPr lang="en-US" sz="1474" b="1">
              <a:solidFill>
                <a:srgbClr val="545454"/>
              </a:solidFill>
              <a:latin typeface="페이퍼로지 6 SemiBold" pitchFamily="2" charset="-127"/>
              <a:ea typeface="페이퍼로지 6 SemiBold" pitchFamily="2" charset="-127"/>
              <a:cs typeface="Nanum Square Bold"/>
              <a:sym typeface="Nanum Square Bold"/>
            </a:endParaRPr>
          </a:p>
        </p:txBody>
      </p:sp>
      <p:sp>
        <p:nvSpPr>
          <p:cNvPr id="5" name="Freeform 11">
            <a:extLst>
              <a:ext uri="{FF2B5EF4-FFF2-40B4-BE49-F238E27FC236}">
                <a16:creationId xmlns:a16="http://schemas.microsoft.com/office/drawing/2014/main" id="{C9F1CF1D-CE0C-ED11-85CB-DF59B229C652}"/>
              </a:ext>
            </a:extLst>
          </p:cNvPr>
          <p:cNvSpPr/>
          <p:nvPr/>
        </p:nvSpPr>
        <p:spPr>
          <a:xfrm>
            <a:off x="1138739" y="2893711"/>
            <a:ext cx="496132" cy="493858"/>
          </a:xfrm>
          <a:custGeom>
            <a:avLst/>
            <a:gdLst/>
            <a:ahLst/>
            <a:cxnLst/>
            <a:rect l="l" t="t" r="r" b="b"/>
            <a:pathLst>
              <a:path w="496132" h="493858">
                <a:moveTo>
                  <a:pt x="0" y="0"/>
                </a:moveTo>
                <a:lnTo>
                  <a:pt x="496132" y="0"/>
                </a:lnTo>
                <a:lnTo>
                  <a:pt x="496132" y="493858"/>
                </a:lnTo>
                <a:lnTo>
                  <a:pt x="0" y="4938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9E6C9B-1BB1-3FF8-77B7-D2C60AFB990E}"/>
              </a:ext>
            </a:extLst>
          </p:cNvPr>
          <p:cNvSpPr txBox="1"/>
          <p:nvPr/>
        </p:nvSpPr>
        <p:spPr>
          <a:xfrm>
            <a:off x="1670313" y="2926495"/>
            <a:ext cx="1346493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250"/>
              </a:spcBef>
              <a:spcAft>
                <a:spcPts val="1500"/>
              </a:spcAft>
              <a:buNone/>
            </a:pPr>
            <a:r>
              <a:rPr lang="ko-KR" altLang="en-US" sz="2800" i="0">
                <a:effectLst/>
                <a:latin typeface="페이퍼로지 5 Medium" pitchFamily="2" charset="-127"/>
                <a:ea typeface="페이퍼로지 5 Medium" pitchFamily="2" charset="-127"/>
              </a:rPr>
              <a:t>학계는 </a:t>
            </a:r>
            <a:r>
              <a:rPr lang="en-US" altLang="ko-KR" sz="2800" i="0">
                <a:effectLst/>
                <a:latin typeface="페이퍼로지 5 Medium" pitchFamily="2" charset="-127"/>
                <a:ea typeface="페이퍼로지 5 Medium" pitchFamily="2" charset="-127"/>
              </a:rPr>
              <a:t>10</a:t>
            </a:r>
            <a:r>
              <a:rPr lang="ko-KR" altLang="en-US" sz="2800" i="0">
                <a:effectLst/>
                <a:latin typeface="페이퍼로지 5 Medium" pitchFamily="2" charset="-127"/>
                <a:ea typeface="페이퍼로지 5 Medium" pitchFamily="2" charset="-127"/>
              </a:rPr>
              <a:t>년 이상 일관되게 제도의 근본적 결함을 지적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A6325D-4F9E-1EF6-81F2-EA441ED3809A}"/>
              </a:ext>
            </a:extLst>
          </p:cNvPr>
          <p:cNvSpPr txBox="1"/>
          <p:nvPr/>
        </p:nvSpPr>
        <p:spPr>
          <a:xfrm>
            <a:off x="1943100" y="4610100"/>
            <a:ext cx="14401800" cy="29801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4400" b="0" i="1">
                <a:solidFill>
                  <a:srgbClr val="2D3748"/>
                </a:solidFill>
                <a:effectLst/>
                <a:latin typeface="조선굵은명조" panose="02030504000101010101" pitchFamily="18" charset="-127"/>
                <a:ea typeface="조선굵은명조" panose="02030504000101010101" pitchFamily="18" charset="-127"/>
              </a:rPr>
              <a:t>"</a:t>
            </a:r>
            <a:r>
              <a:rPr lang="ko-KR" altLang="en-US" sz="4400" b="0" i="1">
                <a:solidFill>
                  <a:srgbClr val="2D3748"/>
                </a:solidFill>
                <a:effectLst/>
                <a:latin typeface="조선굵은명조" panose="02030504000101010101" pitchFamily="18" charset="-127"/>
                <a:ea typeface="조선굵은명조" panose="02030504000101010101" pitchFamily="18" charset="-127"/>
              </a:rPr>
              <a:t>재승인 제도는 직접적 제재 없이도 사업자의 자발적 순응을 유도하는</a:t>
            </a:r>
            <a:br>
              <a:rPr lang="ko-KR" altLang="en-US" sz="4400">
                <a:latin typeface="조선굵은명조" panose="02030504000101010101" pitchFamily="18" charset="-127"/>
                <a:ea typeface="조선굵은명조" panose="02030504000101010101" pitchFamily="18" charset="-127"/>
              </a:rPr>
            </a:br>
            <a:r>
              <a:rPr lang="ko-KR" altLang="en-US" sz="4400" b="0" i="1">
                <a:solidFill>
                  <a:srgbClr val="2D3748"/>
                </a:solidFill>
                <a:effectLst/>
                <a:latin typeface="조선굵은명조" panose="02030504000101010101" pitchFamily="18" charset="-127"/>
                <a:ea typeface="조선굵은명조" panose="02030504000101010101" pitchFamily="18" charset="-127"/>
              </a:rPr>
              <a:t>효과적인 통제 메커니즘으로 작동한다</a:t>
            </a:r>
            <a:r>
              <a:rPr lang="en-US" altLang="ko-KR" sz="4400" b="0" i="1">
                <a:solidFill>
                  <a:srgbClr val="2D3748"/>
                </a:solidFill>
                <a:effectLst/>
                <a:latin typeface="조선굵은명조" panose="02030504000101010101" pitchFamily="18" charset="-127"/>
                <a:ea typeface="조선굵은명조" panose="02030504000101010101" pitchFamily="18" charset="-127"/>
              </a:rPr>
              <a:t>" (</a:t>
            </a:r>
            <a:r>
              <a:rPr lang="ko-KR" altLang="en-US" sz="4400" b="0" i="1">
                <a:solidFill>
                  <a:srgbClr val="2D3748"/>
                </a:solidFill>
                <a:effectLst/>
                <a:latin typeface="조선굵은명조" panose="02030504000101010101" pitchFamily="18" charset="-127"/>
                <a:ea typeface="조선굵은명조" panose="02030504000101010101" pitchFamily="18" charset="-127"/>
              </a:rPr>
              <a:t>황근</a:t>
            </a:r>
            <a:r>
              <a:rPr lang="en-US" altLang="ko-KR" sz="4400" b="0" i="1">
                <a:solidFill>
                  <a:srgbClr val="2D3748"/>
                </a:solidFill>
                <a:effectLst/>
                <a:latin typeface="조선굵은명조" panose="02030504000101010101" pitchFamily="18" charset="-127"/>
                <a:ea typeface="조선굵은명조" panose="02030504000101010101" pitchFamily="18" charset="-127"/>
              </a:rPr>
              <a:t>, 2019)</a:t>
            </a:r>
            <a:endParaRPr lang="ko-KR" altLang="en-US" sz="4400">
              <a:latin typeface="조선굵은명조" panose="02030504000101010101" pitchFamily="18" charset="-127"/>
              <a:ea typeface="조선굵은명조" panose="02030504000101010101" pitchFamily="18" charset="-127"/>
            </a:endParaRPr>
          </a:p>
        </p:txBody>
      </p:sp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D69250DE-4F5F-9D44-B53A-984FC4EEB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2340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2911AE-A30B-3427-A0A5-97B22FE8F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EEB4FDA2-5E04-8DA3-42CE-12937F1B2D48}"/>
              </a:ext>
            </a:extLst>
          </p:cNvPr>
          <p:cNvSpPr/>
          <p:nvPr/>
        </p:nvSpPr>
        <p:spPr>
          <a:xfrm flipV="1">
            <a:off x="1028700" y="1169525"/>
            <a:ext cx="16230600" cy="0"/>
          </a:xfrm>
          <a:prstGeom prst="line">
            <a:avLst/>
          </a:prstGeom>
          <a:ln w="19050" cap="flat">
            <a:solidFill>
              <a:srgbClr val="D9D9D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C62A58DE-FFD3-04EE-C54F-4347EF9685B9}"/>
              </a:ext>
            </a:extLst>
          </p:cNvPr>
          <p:cNvSpPr txBox="1"/>
          <p:nvPr/>
        </p:nvSpPr>
        <p:spPr>
          <a:xfrm>
            <a:off x="1028700" y="1399848"/>
            <a:ext cx="1502946" cy="11319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579"/>
              </a:lnSpc>
            </a:pPr>
            <a:r>
              <a:rPr lang="en-US" altLang="ko-KR" sz="7983" spc="-239">
                <a:solidFill>
                  <a:srgbClr val="15A9F1"/>
                </a:solidFill>
                <a:latin typeface="페이퍼로지 5 Medium" pitchFamily="2" charset="-127"/>
                <a:ea typeface="페이퍼로지 5 Medium" pitchFamily="2" charset="-127"/>
                <a:cs typeface="Nanum Square Bold"/>
                <a:sym typeface="Nanum Square Bold"/>
              </a:rPr>
              <a:t>04</a:t>
            </a:r>
            <a:endParaRPr lang="en-US" sz="7983" spc="-239">
              <a:solidFill>
                <a:srgbClr val="15A9F1"/>
              </a:solidFill>
              <a:latin typeface="페이퍼로지 5 Medium" pitchFamily="2" charset="-127"/>
              <a:ea typeface="페이퍼로지 5 Medium" pitchFamily="2" charset="-127"/>
              <a:cs typeface="Nanum Square Bold"/>
              <a:sym typeface="Nanum Square Bold"/>
            </a:endParaRP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F79F1893-3BA3-B985-6193-30FFB90FF4C6}"/>
              </a:ext>
            </a:extLst>
          </p:cNvPr>
          <p:cNvSpPr txBox="1"/>
          <p:nvPr/>
        </p:nvSpPr>
        <p:spPr>
          <a:xfrm>
            <a:off x="2531646" y="1626872"/>
            <a:ext cx="14232354" cy="7694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ko-KR" altLang="en-US" sz="5000">
                <a:solidFill>
                  <a:srgbClr val="454444"/>
                </a:solidFill>
                <a:latin typeface="페이퍼로지 5 Medium" pitchFamily="2" charset="-127"/>
                <a:ea typeface="페이퍼로지 5 Medium" pitchFamily="2" charset="-127"/>
                <a:sym typeface="Nanum Square Bold"/>
              </a:rPr>
              <a:t>재승인 제도 평가 </a:t>
            </a:r>
            <a:r>
              <a:rPr lang="en-US" altLang="ko-KR" sz="5000">
                <a:solidFill>
                  <a:srgbClr val="454444"/>
                </a:solidFill>
                <a:latin typeface="페이퍼로지 5 Medium" pitchFamily="2" charset="-127"/>
                <a:ea typeface="페이퍼로지 5 Medium" pitchFamily="2" charset="-127"/>
                <a:sym typeface="Nanum Square Bold"/>
              </a:rPr>
              <a:t>– </a:t>
            </a:r>
            <a:r>
              <a:rPr lang="ko-KR" altLang="en-US" sz="5000">
                <a:solidFill>
                  <a:srgbClr val="454444"/>
                </a:solidFill>
                <a:latin typeface="페이퍼로지 5 Medium" pitchFamily="2" charset="-127"/>
                <a:ea typeface="페이퍼로지 5 Medium" pitchFamily="2" charset="-127"/>
              </a:rPr>
              <a:t>구조적 문제점</a:t>
            </a:r>
            <a:endParaRPr lang="ko-KR" altLang="en-US" sz="5000">
              <a:solidFill>
                <a:srgbClr val="454444"/>
              </a:solidFill>
              <a:latin typeface="페이퍼로지 5 Medium" pitchFamily="2" charset="-127"/>
              <a:ea typeface="페이퍼로지 5 Medium" pitchFamily="2" charset="-127"/>
              <a:sym typeface="Nanum Square Bold"/>
            </a:endParaRP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B4CF6D28-2638-18F3-87EF-CB7D1D077F53}"/>
              </a:ext>
            </a:extLst>
          </p:cNvPr>
          <p:cNvSpPr txBox="1"/>
          <p:nvPr/>
        </p:nvSpPr>
        <p:spPr>
          <a:xfrm>
            <a:off x="1123950" y="811675"/>
            <a:ext cx="3295650" cy="2239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888"/>
              </a:lnSpc>
            </a:pPr>
            <a:r>
              <a:rPr lang="ko-KR" altLang="en-US" sz="1574">
                <a:solidFill>
                  <a:srgbClr val="545454"/>
                </a:solidFill>
                <a:latin typeface="페이퍼로지 3 Light" pitchFamily="2" charset="-127"/>
                <a:ea typeface="페이퍼로지 3 Light" pitchFamily="2" charset="-127"/>
                <a:cs typeface="Nanum Square"/>
                <a:sym typeface="Nanum Square"/>
              </a:rPr>
              <a:t>한국언론학회 </a:t>
            </a:r>
            <a:r>
              <a:rPr lang="en-US" altLang="ko-KR" sz="1574">
                <a:solidFill>
                  <a:srgbClr val="545454"/>
                </a:solidFill>
                <a:latin typeface="페이퍼로지 3 Light" pitchFamily="2" charset="-127"/>
                <a:ea typeface="페이퍼로지 3 Light" pitchFamily="2" charset="-127"/>
                <a:cs typeface="Nanum Square"/>
                <a:sym typeface="Nanum Square"/>
              </a:rPr>
              <a:t>2025 </a:t>
            </a:r>
            <a:r>
              <a:rPr lang="ko-KR" altLang="en-US" sz="1574">
                <a:solidFill>
                  <a:srgbClr val="545454"/>
                </a:solidFill>
                <a:latin typeface="페이퍼로지 3 Light" pitchFamily="2" charset="-127"/>
                <a:ea typeface="페이퍼로지 3 Light" pitchFamily="2" charset="-127"/>
                <a:cs typeface="Nanum Square"/>
                <a:sym typeface="Nanum Square"/>
              </a:rPr>
              <a:t>가을철 학술대회</a:t>
            </a:r>
            <a:endParaRPr lang="en-US" altLang="ko-KR" sz="1574">
              <a:solidFill>
                <a:srgbClr val="545454"/>
              </a:solidFill>
              <a:latin typeface="페이퍼로지 3 Light" pitchFamily="2" charset="-127"/>
              <a:ea typeface="페이퍼로지 3 Light" pitchFamily="2" charset="-127"/>
              <a:cs typeface="Nanum Square"/>
              <a:sym typeface="Nanum Square"/>
            </a:endParaRPr>
          </a:p>
        </p:txBody>
      </p:sp>
      <p:sp>
        <p:nvSpPr>
          <p:cNvPr id="20" name="TextBox 12">
            <a:extLst>
              <a:ext uri="{FF2B5EF4-FFF2-40B4-BE49-F238E27FC236}">
                <a16:creationId xmlns:a16="http://schemas.microsoft.com/office/drawing/2014/main" id="{A1D65FE3-AB15-EB68-7B4B-682348D07148}"/>
              </a:ext>
            </a:extLst>
          </p:cNvPr>
          <p:cNvSpPr txBox="1"/>
          <p:nvPr/>
        </p:nvSpPr>
        <p:spPr>
          <a:xfrm>
            <a:off x="15135245" y="792625"/>
            <a:ext cx="2124055" cy="2116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768"/>
              </a:lnSpc>
            </a:pPr>
            <a:r>
              <a:rPr lang="ko-KR" altLang="en-US" sz="1474" b="1">
                <a:solidFill>
                  <a:srgbClr val="545454"/>
                </a:solidFill>
                <a:latin typeface="페이퍼로지 6 SemiBold" pitchFamily="2" charset="-127"/>
                <a:ea typeface="페이퍼로지 6 SemiBold" pitchFamily="2" charset="-127"/>
                <a:cs typeface="Nanum Square Bold"/>
                <a:sym typeface="Nanum Square Bold"/>
              </a:rPr>
              <a:t>선문대학교</a:t>
            </a:r>
            <a:endParaRPr lang="en-US" sz="1474" b="1">
              <a:solidFill>
                <a:srgbClr val="545454"/>
              </a:solidFill>
              <a:latin typeface="페이퍼로지 6 SemiBold" pitchFamily="2" charset="-127"/>
              <a:ea typeface="페이퍼로지 6 SemiBold" pitchFamily="2" charset="-127"/>
              <a:cs typeface="Nanum Square Bold"/>
              <a:sym typeface="Nanum Square Bold"/>
            </a:endParaRPr>
          </a:p>
        </p:txBody>
      </p:sp>
      <p:sp>
        <p:nvSpPr>
          <p:cNvPr id="5" name="Freeform 11">
            <a:extLst>
              <a:ext uri="{FF2B5EF4-FFF2-40B4-BE49-F238E27FC236}">
                <a16:creationId xmlns:a16="http://schemas.microsoft.com/office/drawing/2014/main" id="{7FFF9438-E8B6-BFA6-010F-5EE9763A2825}"/>
              </a:ext>
            </a:extLst>
          </p:cNvPr>
          <p:cNvSpPr/>
          <p:nvPr/>
        </p:nvSpPr>
        <p:spPr>
          <a:xfrm>
            <a:off x="1138739" y="2893711"/>
            <a:ext cx="496132" cy="493858"/>
          </a:xfrm>
          <a:custGeom>
            <a:avLst/>
            <a:gdLst/>
            <a:ahLst/>
            <a:cxnLst/>
            <a:rect l="l" t="t" r="r" b="b"/>
            <a:pathLst>
              <a:path w="496132" h="493858">
                <a:moveTo>
                  <a:pt x="0" y="0"/>
                </a:moveTo>
                <a:lnTo>
                  <a:pt x="496132" y="0"/>
                </a:lnTo>
                <a:lnTo>
                  <a:pt x="496132" y="493858"/>
                </a:lnTo>
                <a:lnTo>
                  <a:pt x="0" y="4938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D0CA15-EB81-8AF3-4E02-AF78278CA5A7}"/>
              </a:ext>
            </a:extLst>
          </p:cNvPr>
          <p:cNvSpPr txBox="1"/>
          <p:nvPr/>
        </p:nvSpPr>
        <p:spPr>
          <a:xfrm>
            <a:off x="1670313" y="2926495"/>
            <a:ext cx="1346493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250"/>
              </a:spcBef>
              <a:spcAft>
                <a:spcPts val="1500"/>
              </a:spcAft>
              <a:buNone/>
            </a:pPr>
            <a:r>
              <a:rPr lang="ko-KR" altLang="en-US" sz="2800" i="0">
                <a:effectLst/>
                <a:latin typeface="페이퍼로지 5 Medium" pitchFamily="2" charset="-127"/>
                <a:ea typeface="페이퍼로지 5 Medium" pitchFamily="2" charset="-127"/>
              </a:rPr>
              <a:t>학계는 </a:t>
            </a:r>
            <a:r>
              <a:rPr lang="en-US" altLang="ko-KR" sz="2800" i="0">
                <a:effectLst/>
                <a:latin typeface="페이퍼로지 5 Medium" pitchFamily="2" charset="-127"/>
                <a:ea typeface="페이퍼로지 5 Medium" pitchFamily="2" charset="-127"/>
              </a:rPr>
              <a:t>10</a:t>
            </a:r>
            <a:r>
              <a:rPr lang="ko-KR" altLang="en-US" sz="2800" i="0">
                <a:effectLst/>
                <a:latin typeface="페이퍼로지 5 Medium" pitchFamily="2" charset="-127"/>
                <a:ea typeface="페이퍼로지 5 Medium" pitchFamily="2" charset="-127"/>
              </a:rPr>
              <a:t>년 이상 일관되게 제도의 근본적 결함을 지적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45339D-5B9D-CAE0-90CB-33EFC16DC224}"/>
              </a:ext>
            </a:extLst>
          </p:cNvPr>
          <p:cNvSpPr txBox="1"/>
          <p:nvPr/>
        </p:nvSpPr>
        <p:spPr>
          <a:xfrm>
            <a:off x="1524000" y="3608815"/>
            <a:ext cx="6385595" cy="6565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250"/>
              </a:spcBef>
              <a:spcAft>
                <a:spcPts val="1500"/>
              </a:spcAft>
            </a:pPr>
            <a:r>
              <a:rPr lang="ko-KR" altLang="en-US" b="1" i="0">
                <a:solidFill>
                  <a:srgbClr val="2A5298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선행연구 핵심 비판 </a:t>
            </a:r>
            <a:r>
              <a:rPr lang="en-US" altLang="ko-KR" b="1" i="0">
                <a:solidFill>
                  <a:srgbClr val="2A5298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(</a:t>
            </a:r>
            <a:r>
              <a:rPr lang="ko-KR" altLang="en-US" b="1" i="0">
                <a:solidFill>
                  <a:srgbClr val="2A5298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황근</a:t>
            </a:r>
            <a:r>
              <a:rPr lang="en-US" altLang="ko-KR" b="1" i="0">
                <a:solidFill>
                  <a:srgbClr val="2A5298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, 2019)</a:t>
            </a:r>
          </a:p>
          <a:p>
            <a:pPr marL="285750" indent="-285750" algn="l">
              <a:spcAft>
                <a:spcPts val="1875"/>
              </a:spcAft>
              <a:buFont typeface="Arial" panose="020B0604020202020204" pitchFamily="34" charset="0"/>
              <a:buChar char="•"/>
            </a:pPr>
            <a:r>
              <a:rPr lang="ko-KR" altLang="en-US" b="0" i="0">
                <a:solidFill>
                  <a:srgbClr val="4A5568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정치적 통제 기제로 작동</a:t>
            </a:r>
          </a:p>
          <a:p>
            <a:pPr marL="742950" lvl="1" indent="-285750" algn="l">
              <a:spcAft>
                <a:spcPts val="1875"/>
              </a:spcAft>
              <a:buFont typeface="Arial" panose="020B0604020202020204" pitchFamily="34" charset="0"/>
              <a:buChar char="•"/>
            </a:pPr>
            <a:r>
              <a:rPr lang="ko-KR" altLang="en-US" b="0" i="0">
                <a:solidFill>
                  <a:srgbClr val="4A5568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방송의 공익성 담보가 아닌 정부 정책 순응 도구화</a:t>
            </a:r>
          </a:p>
          <a:p>
            <a:pPr marL="742950" lvl="1" indent="-285750" algn="l">
              <a:spcAft>
                <a:spcPts val="1875"/>
              </a:spcAft>
              <a:buFont typeface="Arial" panose="020B0604020202020204" pitchFamily="34" charset="0"/>
              <a:buChar char="•"/>
            </a:pPr>
            <a:r>
              <a:rPr lang="en-US" altLang="ko-KR" b="0" i="0">
                <a:solidFill>
                  <a:srgbClr val="4A5568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"</a:t>
            </a:r>
            <a:r>
              <a:rPr lang="ko-KR" altLang="en-US" b="0" i="0">
                <a:solidFill>
                  <a:srgbClr val="4A5568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후견적 공존관계</a:t>
            </a:r>
            <a:r>
              <a:rPr lang="en-US" altLang="ko-KR" b="0" i="0">
                <a:solidFill>
                  <a:srgbClr val="4A5568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" </a:t>
            </a:r>
            <a:r>
              <a:rPr lang="ko-KR" altLang="en-US" b="0" i="0">
                <a:solidFill>
                  <a:srgbClr val="4A5568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형성</a:t>
            </a:r>
          </a:p>
          <a:p>
            <a:pPr marL="285750" indent="-285750" algn="l">
              <a:spcAft>
                <a:spcPts val="1875"/>
              </a:spcAft>
              <a:buFont typeface="Arial" panose="020B0604020202020204" pitchFamily="34" charset="0"/>
              <a:buChar char="•"/>
            </a:pPr>
            <a:r>
              <a:rPr lang="ko-KR" altLang="en-US" b="0" i="0">
                <a:solidFill>
                  <a:srgbClr val="4A5568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심사 공정성 결여</a:t>
            </a:r>
          </a:p>
          <a:p>
            <a:pPr marL="742950" lvl="1" indent="-285750" algn="l">
              <a:spcAft>
                <a:spcPts val="1875"/>
              </a:spcAft>
              <a:buFont typeface="Arial" panose="020B0604020202020204" pitchFamily="34" charset="0"/>
              <a:buChar char="•"/>
            </a:pPr>
            <a:r>
              <a:rPr lang="ko-KR" altLang="en-US" b="0" i="0">
                <a:solidFill>
                  <a:srgbClr val="4A5568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추상적이고 비계량적 기준</a:t>
            </a:r>
          </a:p>
          <a:p>
            <a:pPr marL="742950" lvl="1" indent="-285750" algn="l">
              <a:spcAft>
                <a:spcPts val="1875"/>
              </a:spcAft>
              <a:buFont typeface="Arial" panose="020B0604020202020204" pitchFamily="34" charset="0"/>
              <a:buChar char="•"/>
            </a:pPr>
            <a:r>
              <a:rPr lang="ko-KR" altLang="en-US" b="0" i="0">
                <a:solidFill>
                  <a:srgbClr val="4A5568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평가자 주관에 좌우</a:t>
            </a:r>
          </a:p>
          <a:p>
            <a:pPr marL="285750" indent="-285750" algn="l">
              <a:spcAft>
                <a:spcPts val="1875"/>
              </a:spcAft>
              <a:buFont typeface="Arial" panose="020B0604020202020204" pitchFamily="34" charset="0"/>
              <a:buChar char="•"/>
            </a:pPr>
            <a:r>
              <a:rPr lang="ko-KR" altLang="en-US" b="0" i="0">
                <a:solidFill>
                  <a:srgbClr val="4A5568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과도한 행정 재량</a:t>
            </a:r>
          </a:p>
          <a:p>
            <a:pPr marL="742950" lvl="1" indent="-285750" algn="l">
              <a:spcAft>
                <a:spcPts val="1875"/>
              </a:spcAft>
              <a:buFont typeface="Arial" panose="020B0604020202020204" pitchFamily="34" charset="0"/>
              <a:buChar char="•"/>
            </a:pPr>
            <a:r>
              <a:rPr lang="ko-KR" altLang="en-US" b="0" i="0">
                <a:solidFill>
                  <a:srgbClr val="4A5568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법적 근거 불명확</a:t>
            </a:r>
          </a:p>
          <a:p>
            <a:pPr marL="742950" lvl="1" indent="-285750" algn="l">
              <a:spcAft>
                <a:spcPts val="1875"/>
              </a:spcAft>
              <a:buFont typeface="Arial" panose="020B0604020202020204" pitchFamily="34" charset="0"/>
              <a:buChar char="•"/>
            </a:pPr>
            <a:r>
              <a:rPr lang="ko-KR" altLang="en-US" b="0" i="0">
                <a:solidFill>
                  <a:srgbClr val="4A5568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자의적 조건 부과</a:t>
            </a:r>
          </a:p>
          <a:p>
            <a:pPr marL="285750" indent="-285750" algn="l">
              <a:spcAft>
                <a:spcPts val="1875"/>
              </a:spcAft>
              <a:buFont typeface="Arial" panose="020B0604020202020204" pitchFamily="34" charset="0"/>
              <a:buChar char="•"/>
            </a:pPr>
            <a:r>
              <a:rPr lang="ko-KR" altLang="en-US" b="0" i="0">
                <a:solidFill>
                  <a:srgbClr val="4A5568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미디어 환경 변화와 괴리</a:t>
            </a:r>
          </a:p>
          <a:p>
            <a:pPr marL="742950" lvl="1" indent="-285750" algn="l">
              <a:spcAft>
                <a:spcPts val="1875"/>
              </a:spcAft>
              <a:buFont typeface="Arial" panose="020B0604020202020204" pitchFamily="34" charset="0"/>
              <a:buChar char="•"/>
            </a:pPr>
            <a:r>
              <a:rPr lang="en-US" altLang="ko-KR" b="0" i="0">
                <a:solidFill>
                  <a:srgbClr val="4A5568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OTT </a:t>
            </a:r>
            <a:r>
              <a:rPr lang="ko-KR" altLang="en-US" b="0" i="0">
                <a:solidFill>
                  <a:srgbClr val="4A5568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등 신규 매체 규제 부재</a:t>
            </a:r>
          </a:p>
          <a:p>
            <a:pPr marL="742950" lvl="1" indent="-285750" algn="l">
              <a:spcAft>
                <a:spcPts val="1875"/>
              </a:spcAft>
              <a:buFont typeface="Arial" panose="020B0604020202020204" pitchFamily="34" charset="0"/>
              <a:buChar char="•"/>
            </a:pPr>
            <a:r>
              <a:rPr lang="ko-KR" altLang="en-US" b="0" i="0">
                <a:solidFill>
                  <a:srgbClr val="4A5568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전통 매체만 과도한 부담</a:t>
            </a: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55226EE0-17D6-81E2-85F3-18D93AB112A1}"/>
              </a:ext>
            </a:extLst>
          </p:cNvPr>
          <p:cNvGrpSpPr/>
          <p:nvPr/>
        </p:nvGrpSpPr>
        <p:grpSpPr>
          <a:xfrm>
            <a:off x="8001000" y="3646856"/>
            <a:ext cx="9258300" cy="2715844"/>
            <a:chOff x="0" y="0"/>
            <a:chExt cx="3869376" cy="2095205"/>
          </a:xfrm>
        </p:grpSpPr>
        <p:sp>
          <p:nvSpPr>
            <p:cNvPr id="9" name="Freeform 4">
              <a:extLst>
                <a:ext uri="{FF2B5EF4-FFF2-40B4-BE49-F238E27FC236}">
                  <a16:creationId xmlns:a16="http://schemas.microsoft.com/office/drawing/2014/main" id="{DC70DA8C-CFBF-CC22-BD42-246EF999E25A}"/>
                </a:ext>
              </a:extLst>
            </p:cNvPr>
            <p:cNvSpPr/>
            <p:nvPr/>
          </p:nvSpPr>
          <p:spPr>
            <a:xfrm>
              <a:off x="0" y="0"/>
              <a:ext cx="3869376" cy="2095205"/>
            </a:xfrm>
            <a:custGeom>
              <a:avLst/>
              <a:gdLst/>
              <a:ahLst/>
              <a:cxnLst/>
              <a:rect l="l" t="t" r="r" b="b"/>
              <a:pathLst>
                <a:path w="3869376" h="2095205">
                  <a:moveTo>
                    <a:pt x="14611" y="0"/>
                  </a:moveTo>
                  <a:lnTo>
                    <a:pt x="3854765" y="0"/>
                  </a:lnTo>
                  <a:cubicBezTo>
                    <a:pt x="3858640" y="0"/>
                    <a:pt x="3862357" y="1539"/>
                    <a:pt x="3865097" y="4279"/>
                  </a:cubicBezTo>
                  <a:cubicBezTo>
                    <a:pt x="3867837" y="7020"/>
                    <a:pt x="3869376" y="10736"/>
                    <a:pt x="3869376" y="14611"/>
                  </a:cubicBezTo>
                  <a:lnTo>
                    <a:pt x="3869376" y="2080594"/>
                  </a:lnTo>
                  <a:cubicBezTo>
                    <a:pt x="3869376" y="2088664"/>
                    <a:pt x="3862835" y="2095205"/>
                    <a:pt x="3854765" y="2095205"/>
                  </a:cubicBezTo>
                  <a:lnTo>
                    <a:pt x="14611" y="2095205"/>
                  </a:lnTo>
                  <a:cubicBezTo>
                    <a:pt x="10736" y="2095205"/>
                    <a:pt x="7020" y="2093666"/>
                    <a:pt x="4279" y="2090926"/>
                  </a:cubicBezTo>
                  <a:cubicBezTo>
                    <a:pt x="1539" y="2088186"/>
                    <a:pt x="0" y="2084469"/>
                    <a:pt x="0" y="2080594"/>
                  </a:cubicBezTo>
                  <a:lnTo>
                    <a:pt x="0" y="14611"/>
                  </a:lnTo>
                  <a:cubicBezTo>
                    <a:pt x="0" y="6542"/>
                    <a:pt x="6542" y="0"/>
                    <a:pt x="1461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15A9F1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92B9944-636C-453F-984F-20AC949C4789}"/>
                </a:ext>
              </a:extLst>
            </p:cNvPr>
            <p:cNvSpPr txBox="1"/>
            <p:nvPr/>
          </p:nvSpPr>
          <p:spPr>
            <a:xfrm>
              <a:off x="0" y="-9525"/>
              <a:ext cx="3869376" cy="21047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27"/>
                </a:lnSpc>
              </a:pPr>
              <a:endParaRPr/>
            </a:p>
          </p:txBody>
        </p:sp>
      </p:grpSp>
      <p:sp>
        <p:nvSpPr>
          <p:cNvPr id="16" name="AutoShape 10">
            <a:extLst>
              <a:ext uri="{FF2B5EF4-FFF2-40B4-BE49-F238E27FC236}">
                <a16:creationId xmlns:a16="http://schemas.microsoft.com/office/drawing/2014/main" id="{41DFF945-93D1-4659-286B-F5AC5DF177AD}"/>
              </a:ext>
            </a:extLst>
          </p:cNvPr>
          <p:cNvSpPr/>
          <p:nvPr/>
        </p:nvSpPr>
        <p:spPr>
          <a:xfrm>
            <a:off x="8915400" y="4686300"/>
            <a:ext cx="7508233" cy="0"/>
          </a:xfrm>
          <a:prstGeom prst="line">
            <a:avLst/>
          </a:prstGeom>
          <a:ln w="9525" cap="flat">
            <a:solidFill>
              <a:srgbClr val="15A9F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Box 23">
            <a:extLst>
              <a:ext uri="{FF2B5EF4-FFF2-40B4-BE49-F238E27FC236}">
                <a16:creationId xmlns:a16="http://schemas.microsoft.com/office/drawing/2014/main" id="{3B661ACC-D753-D547-2D18-5CDEFEA4126E}"/>
              </a:ext>
            </a:extLst>
          </p:cNvPr>
          <p:cNvSpPr txBox="1"/>
          <p:nvPr/>
        </p:nvSpPr>
        <p:spPr>
          <a:xfrm>
            <a:off x="8936665" y="3990649"/>
            <a:ext cx="6528369" cy="4825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2"/>
              </a:lnSpc>
            </a:pPr>
            <a:r>
              <a:rPr lang="ko-KR" altLang="en-US" sz="3376">
                <a:solidFill>
                  <a:srgbClr val="454444"/>
                </a:solidFill>
                <a:latin typeface="페이퍼로지 4 Regular" pitchFamily="2" charset="-127"/>
                <a:ea typeface="페이퍼로지 4 Regular" pitchFamily="2" charset="-127"/>
                <a:cs typeface="Nanum Square Bold"/>
                <a:sym typeface="Nanum Square Bold"/>
              </a:rPr>
              <a:t>푸코의 팝옵티콘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39B083D-56B3-75DA-55A4-689413A2DB03}"/>
              </a:ext>
            </a:extLst>
          </p:cNvPr>
          <p:cNvSpPr txBox="1"/>
          <p:nvPr/>
        </p:nvSpPr>
        <p:spPr>
          <a:xfrm>
            <a:off x="8915400" y="4816947"/>
            <a:ext cx="7508233" cy="12080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500"/>
              </a:spcAft>
              <a:buNone/>
            </a:pPr>
            <a:r>
              <a:rPr lang="ko-KR" altLang="en-US" sz="2000">
                <a:solidFill>
                  <a:srgbClr val="454444"/>
                </a:solidFill>
                <a:latin typeface="페이퍼로지 2 ExtraLight" pitchFamily="2" charset="-127"/>
                <a:ea typeface="페이퍼로지 2 ExtraLight" pitchFamily="2" charset="-127"/>
              </a:rPr>
              <a:t>원형감옥</a:t>
            </a:r>
            <a:r>
              <a:rPr lang="en-US" altLang="ko-KR" sz="2000">
                <a:solidFill>
                  <a:srgbClr val="454444"/>
                </a:solidFill>
                <a:latin typeface="페이퍼로지 2 ExtraLight" pitchFamily="2" charset="-127"/>
                <a:ea typeface="페이퍼로지 2 ExtraLight" pitchFamily="2" charset="-127"/>
              </a:rPr>
              <a:t>(Panopticon) </a:t>
            </a:r>
            <a:r>
              <a:rPr lang="ko-KR" altLang="en-US" sz="2000">
                <a:solidFill>
                  <a:srgbClr val="454444"/>
                </a:solidFill>
                <a:latin typeface="페이퍼로지 2 ExtraLight" pitchFamily="2" charset="-127"/>
                <a:ea typeface="페이퍼로지 2 ExtraLight" pitchFamily="2" charset="-127"/>
              </a:rPr>
              <a:t>개념</a:t>
            </a:r>
          </a:p>
          <a:p>
            <a:pPr algn="l">
              <a:spcAft>
                <a:spcPts val="1125"/>
              </a:spcAft>
              <a:buNone/>
            </a:pPr>
            <a:r>
              <a:rPr lang="ko-KR" altLang="en-US" sz="2000">
                <a:solidFill>
                  <a:srgbClr val="454444"/>
                </a:solidFill>
                <a:latin typeface="페이퍼로지 2 ExtraLight" pitchFamily="2" charset="-127"/>
                <a:ea typeface="페이퍼로지 2 ExtraLight" pitchFamily="2" charset="-127"/>
              </a:rPr>
              <a:t>중앙 감시탑에서 모든 수감자를 볼 수 있지만</a:t>
            </a:r>
            <a:r>
              <a:rPr lang="en-US" altLang="ko-KR" sz="2000">
                <a:solidFill>
                  <a:srgbClr val="454444"/>
                </a:solidFill>
                <a:latin typeface="페이퍼로지 2 ExtraLight" pitchFamily="2" charset="-127"/>
                <a:ea typeface="페이퍼로지 2 ExtraLight" pitchFamily="2" charset="-127"/>
              </a:rPr>
              <a:t>, </a:t>
            </a:r>
            <a:r>
              <a:rPr lang="ko-KR" altLang="en-US" sz="2000">
                <a:solidFill>
                  <a:srgbClr val="454444"/>
                </a:solidFill>
                <a:latin typeface="페이퍼로지 2 ExtraLight" pitchFamily="2" charset="-127"/>
                <a:ea typeface="페이퍼로지 2 ExtraLight" pitchFamily="2" charset="-127"/>
              </a:rPr>
              <a:t>수감자는 자신이 감시당하는지 알 수 없는 구조 → </a:t>
            </a:r>
            <a:r>
              <a:rPr lang="ko-KR" altLang="en-US" sz="2000">
                <a:solidFill>
                  <a:srgbClr val="454444"/>
                </a:solidFill>
                <a:latin typeface="페이퍼로지 6 SemiBold" pitchFamily="2" charset="-127"/>
                <a:ea typeface="페이퍼로지 6 SemiBold" pitchFamily="2" charset="-127"/>
              </a:rPr>
              <a:t>보이지 않는 통제가 가장 강력한 통제</a:t>
            </a:r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1075FD87-138F-BB39-E712-C51CCD24B15A}"/>
              </a:ext>
            </a:extLst>
          </p:cNvPr>
          <p:cNvGrpSpPr/>
          <p:nvPr/>
        </p:nvGrpSpPr>
        <p:grpSpPr>
          <a:xfrm>
            <a:off x="8001000" y="7302206"/>
            <a:ext cx="9258300" cy="2715844"/>
            <a:chOff x="8040366" y="6589138"/>
            <a:chExt cx="9399296" cy="2715844"/>
          </a:xfrm>
        </p:grpSpPr>
        <p:grpSp>
          <p:nvGrpSpPr>
            <p:cNvPr id="22" name="Group 3">
              <a:extLst>
                <a:ext uri="{FF2B5EF4-FFF2-40B4-BE49-F238E27FC236}">
                  <a16:creationId xmlns:a16="http://schemas.microsoft.com/office/drawing/2014/main" id="{A5CF05B3-7D69-A073-7A16-ED943803835B}"/>
                </a:ext>
              </a:extLst>
            </p:cNvPr>
            <p:cNvGrpSpPr/>
            <p:nvPr/>
          </p:nvGrpSpPr>
          <p:grpSpPr>
            <a:xfrm>
              <a:off x="8040366" y="6589138"/>
              <a:ext cx="4608834" cy="2715844"/>
              <a:chOff x="0" y="0"/>
              <a:chExt cx="3869376" cy="2095205"/>
            </a:xfrm>
          </p:grpSpPr>
          <p:sp>
            <p:nvSpPr>
              <p:cNvPr id="23" name="Freeform 4">
                <a:extLst>
                  <a:ext uri="{FF2B5EF4-FFF2-40B4-BE49-F238E27FC236}">
                    <a16:creationId xmlns:a16="http://schemas.microsoft.com/office/drawing/2014/main" id="{99E74B8F-85DA-7DBC-8953-E20B1FA72DB8}"/>
                  </a:ext>
                </a:extLst>
              </p:cNvPr>
              <p:cNvSpPr/>
              <p:nvPr/>
            </p:nvSpPr>
            <p:spPr>
              <a:xfrm>
                <a:off x="0" y="0"/>
                <a:ext cx="3869376" cy="2095205"/>
              </a:xfrm>
              <a:custGeom>
                <a:avLst/>
                <a:gdLst/>
                <a:ahLst/>
                <a:cxnLst/>
                <a:rect l="l" t="t" r="r" b="b"/>
                <a:pathLst>
                  <a:path w="3869376" h="2095205">
                    <a:moveTo>
                      <a:pt x="14611" y="0"/>
                    </a:moveTo>
                    <a:lnTo>
                      <a:pt x="3854765" y="0"/>
                    </a:lnTo>
                    <a:cubicBezTo>
                      <a:pt x="3858640" y="0"/>
                      <a:pt x="3862357" y="1539"/>
                      <a:pt x="3865097" y="4279"/>
                    </a:cubicBezTo>
                    <a:cubicBezTo>
                      <a:pt x="3867837" y="7020"/>
                      <a:pt x="3869376" y="10736"/>
                      <a:pt x="3869376" y="14611"/>
                    </a:cubicBezTo>
                    <a:lnTo>
                      <a:pt x="3869376" y="2080594"/>
                    </a:lnTo>
                    <a:cubicBezTo>
                      <a:pt x="3869376" y="2088664"/>
                      <a:pt x="3862835" y="2095205"/>
                      <a:pt x="3854765" y="2095205"/>
                    </a:cubicBezTo>
                    <a:lnTo>
                      <a:pt x="14611" y="2095205"/>
                    </a:lnTo>
                    <a:cubicBezTo>
                      <a:pt x="10736" y="2095205"/>
                      <a:pt x="7020" y="2093666"/>
                      <a:pt x="4279" y="2090926"/>
                    </a:cubicBezTo>
                    <a:cubicBezTo>
                      <a:pt x="1539" y="2088186"/>
                      <a:pt x="0" y="2084469"/>
                      <a:pt x="0" y="2080594"/>
                    </a:cubicBezTo>
                    <a:lnTo>
                      <a:pt x="0" y="14611"/>
                    </a:lnTo>
                    <a:cubicBezTo>
                      <a:pt x="0" y="6542"/>
                      <a:pt x="6542" y="0"/>
                      <a:pt x="14611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>
                <a:solidFill>
                  <a:srgbClr val="15A9F1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E3FBD87-F560-DA32-A7E0-A18FD14F2118}"/>
                  </a:ext>
                </a:extLst>
              </p:cNvPr>
              <p:cNvSpPr txBox="1"/>
              <p:nvPr/>
            </p:nvSpPr>
            <p:spPr>
              <a:xfrm>
                <a:off x="0" y="-9525"/>
                <a:ext cx="3869376" cy="2104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427"/>
                  </a:lnSpc>
                </a:pPr>
                <a:endParaRPr/>
              </a:p>
            </p:txBody>
          </p:sp>
        </p:grpSp>
        <p:grpSp>
          <p:nvGrpSpPr>
            <p:cNvPr id="25" name="Group 3">
              <a:extLst>
                <a:ext uri="{FF2B5EF4-FFF2-40B4-BE49-F238E27FC236}">
                  <a16:creationId xmlns:a16="http://schemas.microsoft.com/office/drawing/2014/main" id="{88B1E91E-F407-B58B-FC33-B6F0ACCC2B31}"/>
                </a:ext>
              </a:extLst>
            </p:cNvPr>
            <p:cNvGrpSpPr/>
            <p:nvPr/>
          </p:nvGrpSpPr>
          <p:grpSpPr>
            <a:xfrm>
              <a:off x="12830828" y="6589138"/>
              <a:ext cx="4608834" cy="2715844"/>
              <a:chOff x="0" y="0"/>
              <a:chExt cx="3869376" cy="2095205"/>
            </a:xfrm>
          </p:grpSpPr>
          <p:sp>
            <p:nvSpPr>
              <p:cNvPr id="26" name="Freeform 4">
                <a:extLst>
                  <a:ext uri="{FF2B5EF4-FFF2-40B4-BE49-F238E27FC236}">
                    <a16:creationId xmlns:a16="http://schemas.microsoft.com/office/drawing/2014/main" id="{BD49D84B-6D1B-9962-F26D-2A1F40E90FB9}"/>
                  </a:ext>
                </a:extLst>
              </p:cNvPr>
              <p:cNvSpPr/>
              <p:nvPr/>
            </p:nvSpPr>
            <p:spPr>
              <a:xfrm>
                <a:off x="0" y="0"/>
                <a:ext cx="3869376" cy="2095205"/>
              </a:xfrm>
              <a:custGeom>
                <a:avLst/>
                <a:gdLst/>
                <a:ahLst/>
                <a:cxnLst/>
                <a:rect l="l" t="t" r="r" b="b"/>
                <a:pathLst>
                  <a:path w="3869376" h="2095205">
                    <a:moveTo>
                      <a:pt x="14611" y="0"/>
                    </a:moveTo>
                    <a:lnTo>
                      <a:pt x="3854765" y="0"/>
                    </a:lnTo>
                    <a:cubicBezTo>
                      <a:pt x="3858640" y="0"/>
                      <a:pt x="3862357" y="1539"/>
                      <a:pt x="3865097" y="4279"/>
                    </a:cubicBezTo>
                    <a:cubicBezTo>
                      <a:pt x="3867837" y="7020"/>
                      <a:pt x="3869376" y="10736"/>
                      <a:pt x="3869376" y="14611"/>
                    </a:cubicBezTo>
                    <a:lnTo>
                      <a:pt x="3869376" y="2080594"/>
                    </a:lnTo>
                    <a:cubicBezTo>
                      <a:pt x="3869376" y="2088664"/>
                      <a:pt x="3862835" y="2095205"/>
                      <a:pt x="3854765" y="2095205"/>
                    </a:cubicBezTo>
                    <a:lnTo>
                      <a:pt x="14611" y="2095205"/>
                    </a:lnTo>
                    <a:cubicBezTo>
                      <a:pt x="10736" y="2095205"/>
                      <a:pt x="7020" y="2093666"/>
                      <a:pt x="4279" y="2090926"/>
                    </a:cubicBezTo>
                    <a:cubicBezTo>
                      <a:pt x="1539" y="2088186"/>
                      <a:pt x="0" y="2084469"/>
                      <a:pt x="0" y="2080594"/>
                    </a:cubicBezTo>
                    <a:lnTo>
                      <a:pt x="0" y="14611"/>
                    </a:lnTo>
                    <a:cubicBezTo>
                      <a:pt x="0" y="6542"/>
                      <a:pt x="6542" y="0"/>
                      <a:pt x="14611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>
                <a:solidFill>
                  <a:srgbClr val="15A9F1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E505556C-3CB5-284A-1BF1-FB37454520F2}"/>
                  </a:ext>
                </a:extLst>
              </p:cNvPr>
              <p:cNvSpPr txBox="1"/>
              <p:nvPr/>
            </p:nvSpPr>
            <p:spPr>
              <a:xfrm>
                <a:off x="0" y="-9525"/>
                <a:ext cx="3869376" cy="2104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427"/>
                  </a:lnSpc>
                </a:pPr>
                <a:endParaRPr/>
              </a:p>
            </p:txBody>
          </p:sp>
        </p:grp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A8587F87-1700-5FF1-FE17-26E1AE4D76CB}"/>
              </a:ext>
            </a:extLst>
          </p:cNvPr>
          <p:cNvSpPr txBox="1"/>
          <p:nvPr/>
        </p:nvSpPr>
        <p:spPr>
          <a:xfrm>
            <a:off x="8001000" y="6742035"/>
            <a:ext cx="914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250"/>
              </a:spcBef>
              <a:spcAft>
                <a:spcPts val="1500"/>
              </a:spcAft>
            </a:pPr>
            <a:r>
              <a:rPr lang="ko-KR" altLang="en-US" b="1" i="0">
                <a:solidFill>
                  <a:srgbClr val="2A5298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재승인 제도의 자기검열 메커니즘</a:t>
            </a:r>
            <a:endParaRPr lang="en-US" altLang="ko-KR" b="1" i="0">
              <a:solidFill>
                <a:srgbClr val="2A5298"/>
              </a:solidFill>
              <a:effectLst/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31" name="AutoShape 10">
            <a:extLst>
              <a:ext uri="{FF2B5EF4-FFF2-40B4-BE49-F238E27FC236}">
                <a16:creationId xmlns:a16="http://schemas.microsoft.com/office/drawing/2014/main" id="{0CD4F6E2-A883-E68A-7D37-6599D4DB4CC9}"/>
              </a:ext>
            </a:extLst>
          </p:cNvPr>
          <p:cNvSpPr/>
          <p:nvPr/>
        </p:nvSpPr>
        <p:spPr>
          <a:xfrm>
            <a:off x="8323324" y="8112642"/>
            <a:ext cx="3895049" cy="0"/>
          </a:xfrm>
          <a:prstGeom prst="line">
            <a:avLst/>
          </a:prstGeom>
          <a:ln w="9525" cap="flat">
            <a:solidFill>
              <a:srgbClr val="15A9F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AutoShape 10">
            <a:extLst>
              <a:ext uri="{FF2B5EF4-FFF2-40B4-BE49-F238E27FC236}">
                <a16:creationId xmlns:a16="http://schemas.microsoft.com/office/drawing/2014/main" id="{106CB1EA-9E2B-3DEF-1928-D8689D152074}"/>
              </a:ext>
            </a:extLst>
          </p:cNvPr>
          <p:cNvSpPr/>
          <p:nvPr/>
        </p:nvSpPr>
        <p:spPr>
          <a:xfrm>
            <a:off x="13041926" y="8115300"/>
            <a:ext cx="3895049" cy="0"/>
          </a:xfrm>
          <a:prstGeom prst="line">
            <a:avLst/>
          </a:prstGeom>
          <a:ln w="9525" cap="flat">
            <a:solidFill>
              <a:srgbClr val="15A9F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Box 23">
            <a:extLst>
              <a:ext uri="{FF2B5EF4-FFF2-40B4-BE49-F238E27FC236}">
                <a16:creationId xmlns:a16="http://schemas.microsoft.com/office/drawing/2014/main" id="{4A403847-D682-77BF-3868-2BB9CCECDB50}"/>
              </a:ext>
            </a:extLst>
          </p:cNvPr>
          <p:cNvSpPr txBox="1"/>
          <p:nvPr/>
        </p:nvSpPr>
        <p:spPr>
          <a:xfrm>
            <a:off x="8464625" y="7507537"/>
            <a:ext cx="3651175" cy="4825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052"/>
              </a:lnSpc>
            </a:pPr>
            <a:r>
              <a:rPr lang="ko-KR" altLang="en-US" sz="3376">
                <a:solidFill>
                  <a:srgbClr val="454444"/>
                </a:solidFill>
                <a:latin typeface="페이퍼로지 4 Regular" pitchFamily="2" charset="-127"/>
                <a:ea typeface="페이퍼로지 4 Regular" pitchFamily="2" charset="-127"/>
                <a:cs typeface="Nanum Square Bold"/>
                <a:sym typeface="Nanum Square Bold"/>
              </a:rPr>
              <a:t>팝옵티콘 효과</a:t>
            </a:r>
          </a:p>
        </p:txBody>
      </p:sp>
      <p:sp>
        <p:nvSpPr>
          <p:cNvPr id="34" name="TextBox 23">
            <a:extLst>
              <a:ext uri="{FF2B5EF4-FFF2-40B4-BE49-F238E27FC236}">
                <a16:creationId xmlns:a16="http://schemas.microsoft.com/office/drawing/2014/main" id="{DF7CE1F6-3BBD-D9F4-E2E1-3F0646E0178E}"/>
              </a:ext>
            </a:extLst>
          </p:cNvPr>
          <p:cNvSpPr txBox="1"/>
          <p:nvPr/>
        </p:nvSpPr>
        <p:spPr>
          <a:xfrm>
            <a:off x="13004323" y="7507537"/>
            <a:ext cx="3651175" cy="4825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052"/>
              </a:lnSpc>
            </a:pPr>
            <a:r>
              <a:rPr lang="ko-KR" altLang="en-US" sz="3376">
                <a:solidFill>
                  <a:srgbClr val="454444"/>
                </a:solidFill>
                <a:latin typeface="페이퍼로지 4 Regular" pitchFamily="2" charset="-127"/>
                <a:ea typeface="페이퍼로지 4 Regular" pitchFamily="2" charset="-127"/>
                <a:cs typeface="Nanum Square Bold"/>
                <a:sym typeface="Nanum Square Bold"/>
              </a:rPr>
              <a:t>사업자 반응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E7B31D1-FC82-6C42-32C4-38ACB0EA63CA}"/>
              </a:ext>
            </a:extLst>
          </p:cNvPr>
          <p:cNvSpPr txBox="1"/>
          <p:nvPr/>
        </p:nvSpPr>
        <p:spPr>
          <a:xfrm>
            <a:off x="8305799" y="8300883"/>
            <a:ext cx="3895050" cy="14388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ko-KR" sz="2000">
                <a:solidFill>
                  <a:srgbClr val="454444"/>
                </a:solidFill>
                <a:latin typeface="페이퍼로지 2 ExtraLight" pitchFamily="2" charset="-127"/>
                <a:ea typeface="페이퍼로지 2 ExtraLight" pitchFamily="2" charset="-127"/>
              </a:rPr>
              <a:t>3~4</a:t>
            </a:r>
            <a:r>
              <a:rPr lang="ko-KR" altLang="en-US" sz="2000">
                <a:solidFill>
                  <a:srgbClr val="454444"/>
                </a:solidFill>
                <a:latin typeface="페이퍼로지 2 ExtraLight" pitchFamily="2" charset="-127"/>
                <a:ea typeface="페이퍼로지 2 ExtraLight" pitchFamily="2" charset="-127"/>
              </a:rPr>
              <a:t>년마다 반복되는 심사</a:t>
            </a:r>
          </a:p>
          <a:p>
            <a:pPr marL="342900" indent="-342900" algn="l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ko-KR" altLang="en-US" sz="2000">
                <a:solidFill>
                  <a:srgbClr val="454444"/>
                </a:solidFill>
                <a:latin typeface="페이퍼로지 2 ExtraLight" pitchFamily="2" charset="-127"/>
                <a:ea typeface="페이퍼로지 2 ExtraLight" pitchFamily="2" charset="-127"/>
              </a:rPr>
              <a:t>명확하지 않은 기준</a:t>
            </a:r>
          </a:p>
          <a:p>
            <a:pPr marL="342900" indent="-342900" algn="l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ko-KR" altLang="en-US" sz="2000">
                <a:solidFill>
                  <a:srgbClr val="454444"/>
                </a:solidFill>
                <a:latin typeface="페이퍼로지 2 ExtraLight" pitchFamily="2" charset="-127"/>
                <a:ea typeface="페이퍼로지 2 ExtraLight" pitchFamily="2" charset="-127"/>
              </a:rPr>
              <a:t>재량적 조건 부과</a:t>
            </a:r>
          </a:p>
          <a:p>
            <a:pPr marL="342900" indent="-342900" algn="l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ko-KR" altLang="en-US" sz="2000">
                <a:solidFill>
                  <a:srgbClr val="454444"/>
                </a:solidFill>
                <a:latin typeface="페이퍼로지 2 ExtraLight" pitchFamily="2" charset="-127"/>
                <a:ea typeface="페이퍼로지 2 ExtraLight" pitchFamily="2" charset="-127"/>
              </a:rPr>
              <a:t>사업 존립 위협</a:t>
            </a:r>
            <a:endParaRPr lang="ko-KR" altLang="en-US" sz="2000">
              <a:solidFill>
                <a:srgbClr val="454444"/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5DBF2D9-BCB1-A5E4-0F3A-755E5153F4C7}"/>
              </a:ext>
            </a:extLst>
          </p:cNvPr>
          <p:cNvSpPr txBox="1"/>
          <p:nvPr/>
        </p:nvSpPr>
        <p:spPr>
          <a:xfrm>
            <a:off x="13041926" y="8306769"/>
            <a:ext cx="3895050" cy="14388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ko-KR" altLang="en-US" sz="2000">
                <a:solidFill>
                  <a:srgbClr val="454444"/>
                </a:solidFill>
                <a:latin typeface="페이퍼로지 2 ExtraLight" pitchFamily="2" charset="-127"/>
                <a:ea typeface="페이퍼로지 2 ExtraLight" pitchFamily="2" charset="-127"/>
              </a:rPr>
              <a:t>자기검열 강화</a:t>
            </a:r>
          </a:p>
          <a:p>
            <a:pPr marL="342900" indent="-342900" algn="l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ko-KR" altLang="en-US" sz="2000">
                <a:solidFill>
                  <a:srgbClr val="454444"/>
                </a:solidFill>
                <a:latin typeface="페이퍼로지 2 ExtraLight" pitchFamily="2" charset="-127"/>
                <a:ea typeface="페이퍼로지 2 ExtraLight" pitchFamily="2" charset="-127"/>
              </a:rPr>
              <a:t>정부 정책 순응</a:t>
            </a:r>
          </a:p>
          <a:p>
            <a:pPr marL="342900" indent="-342900" algn="l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ko-KR" altLang="en-US" sz="2000">
                <a:solidFill>
                  <a:srgbClr val="454444"/>
                </a:solidFill>
                <a:latin typeface="페이퍼로지 2 ExtraLight" pitchFamily="2" charset="-127"/>
                <a:ea typeface="페이퍼로지 2 ExtraLight" pitchFamily="2" charset="-127"/>
              </a:rPr>
              <a:t>비판적 보도 위축</a:t>
            </a:r>
          </a:p>
          <a:p>
            <a:pPr marL="342900" indent="-342900" algn="l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ko-KR" altLang="en-US" sz="2000">
                <a:solidFill>
                  <a:srgbClr val="454444"/>
                </a:solidFill>
                <a:latin typeface="페이퍼로지 2 ExtraLight" pitchFamily="2" charset="-127"/>
                <a:ea typeface="페이퍼로지 2 ExtraLight" pitchFamily="2" charset="-127"/>
              </a:rPr>
              <a:t>편성 자율성 훼손</a:t>
            </a:r>
            <a:endParaRPr lang="ko-KR" altLang="en-US" sz="2000">
              <a:solidFill>
                <a:srgbClr val="454444"/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38" name="슬라이드 번호 개체 틀 37">
            <a:extLst>
              <a:ext uri="{FF2B5EF4-FFF2-40B4-BE49-F238E27FC236}">
                <a16:creationId xmlns:a16="http://schemas.microsoft.com/office/drawing/2014/main" id="{1FF11BC5-95B1-B33A-BF70-6F180C35C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901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06284B-31BB-E83D-6E26-4E69E85471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6DCA15A7-50D6-4A3D-E303-660D473A357B}"/>
              </a:ext>
            </a:extLst>
          </p:cNvPr>
          <p:cNvSpPr/>
          <p:nvPr/>
        </p:nvSpPr>
        <p:spPr>
          <a:xfrm flipV="1">
            <a:off x="1028700" y="1169525"/>
            <a:ext cx="16230600" cy="0"/>
          </a:xfrm>
          <a:prstGeom prst="line">
            <a:avLst/>
          </a:prstGeom>
          <a:ln w="19050" cap="flat">
            <a:solidFill>
              <a:srgbClr val="D9D9D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F055C76-B437-DF1B-0ADD-64E5DA0D0C0F}"/>
              </a:ext>
            </a:extLst>
          </p:cNvPr>
          <p:cNvSpPr txBox="1"/>
          <p:nvPr/>
        </p:nvSpPr>
        <p:spPr>
          <a:xfrm>
            <a:off x="1028700" y="1399848"/>
            <a:ext cx="1502946" cy="11319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579"/>
              </a:lnSpc>
            </a:pPr>
            <a:r>
              <a:rPr lang="en-US" altLang="ko-KR" sz="7983" spc="-239">
                <a:solidFill>
                  <a:srgbClr val="15A9F1"/>
                </a:solidFill>
                <a:latin typeface="페이퍼로지 5 Medium" pitchFamily="2" charset="-127"/>
                <a:ea typeface="페이퍼로지 5 Medium" pitchFamily="2" charset="-127"/>
                <a:cs typeface="Nanum Square Bold"/>
                <a:sym typeface="Nanum Square Bold"/>
              </a:rPr>
              <a:t>04</a:t>
            </a:r>
            <a:endParaRPr lang="en-US" sz="7983" spc="-239">
              <a:solidFill>
                <a:srgbClr val="15A9F1"/>
              </a:solidFill>
              <a:latin typeface="페이퍼로지 5 Medium" pitchFamily="2" charset="-127"/>
              <a:ea typeface="페이퍼로지 5 Medium" pitchFamily="2" charset="-127"/>
              <a:cs typeface="Nanum Square Bold"/>
              <a:sym typeface="Nanum Square Bold"/>
            </a:endParaRP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523FB0CB-F9F2-E4AA-A3E8-114FFBB6D4BF}"/>
              </a:ext>
            </a:extLst>
          </p:cNvPr>
          <p:cNvSpPr txBox="1"/>
          <p:nvPr/>
        </p:nvSpPr>
        <p:spPr>
          <a:xfrm>
            <a:off x="2531646" y="1626872"/>
            <a:ext cx="14232354" cy="7694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ko-KR" altLang="en-US" sz="5000">
                <a:solidFill>
                  <a:srgbClr val="454444"/>
                </a:solidFill>
                <a:latin typeface="페이퍼로지 5 Medium" pitchFamily="2" charset="-127"/>
                <a:ea typeface="페이퍼로지 5 Medium" pitchFamily="2" charset="-127"/>
                <a:sym typeface="Nanum Square Bold"/>
              </a:rPr>
              <a:t>재승인 제도 평가 </a:t>
            </a:r>
            <a:r>
              <a:rPr lang="en-US" altLang="ko-KR" sz="5000">
                <a:solidFill>
                  <a:srgbClr val="454444"/>
                </a:solidFill>
                <a:latin typeface="페이퍼로지 5 Medium" pitchFamily="2" charset="-127"/>
                <a:ea typeface="페이퍼로지 5 Medium" pitchFamily="2" charset="-127"/>
                <a:sym typeface="Nanum Square Bold"/>
              </a:rPr>
              <a:t>– </a:t>
            </a:r>
            <a:r>
              <a:rPr lang="ko-KR" altLang="en-US" sz="5000">
                <a:solidFill>
                  <a:srgbClr val="454444"/>
                </a:solidFill>
                <a:latin typeface="페이퍼로지 5 Medium" pitchFamily="2" charset="-127"/>
                <a:ea typeface="페이퍼로지 5 Medium" pitchFamily="2" charset="-127"/>
              </a:rPr>
              <a:t>과도한 조건 부과의 문제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34A5484C-B7B8-0FB4-14CB-EBDA37FCA972}"/>
              </a:ext>
            </a:extLst>
          </p:cNvPr>
          <p:cNvSpPr txBox="1"/>
          <p:nvPr/>
        </p:nvSpPr>
        <p:spPr>
          <a:xfrm>
            <a:off x="1123950" y="811675"/>
            <a:ext cx="3295650" cy="2239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888"/>
              </a:lnSpc>
            </a:pPr>
            <a:r>
              <a:rPr lang="ko-KR" altLang="en-US" sz="1574">
                <a:solidFill>
                  <a:srgbClr val="545454"/>
                </a:solidFill>
                <a:latin typeface="페이퍼로지 3 Light" pitchFamily="2" charset="-127"/>
                <a:ea typeface="페이퍼로지 3 Light" pitchFamily="2" charset="-127"/>
                <a:cs typeface="Nanum Square"/>
                <a:sym typeface="Nanum Square"/>
              </a:rPr>
              <a:t>한국언론학회 </a:t>
            </a:r>
            <a:r>
              <a:rPr lang="en-US" altLang="ko-KR" sz="1574">
                <a:solidFill>
                  <a:srgbClr val="545454"/>
                </a:solidFill>
                <a:latin typeface="페이퍼로지 3 Light" pitchFamily="2" charset="-127"/>
                <a:ea typeface="페이퍼로지 3 Light" pitchFamily="2" charset="-127"/>
                <a:cs typeface="Nanum Square"/>
                <a:sym typeface="Nanum Square"/>
              </a:rPr>
              <a:t>2025 </a:t>
            </a:r>
            <a:r>
              <a:rPr lang="ko-KR" altLang="en-US" sz="1574">
                <a:solidFill>
                  <a:srgbClr val="545454"/>
                </a:solidFill>
                <a:latin typeface="페이퍼로지 3 Light" pitchFamily="2" charset="-127"/>
                <a:ea typeface="페이퍼로지 3 Light" pitchFamily="2" charset="-127"/>
                <a:cs typeface="Nanum Square"/>
                <a:sym typeface="Nanum Square"/>
              </a:rPr>
              <a:t>가을철 학술대회</a:t>
            </a:r>
            <a:endParaRPr lang="en-US" altLang="ko-KR" sz="1574">
              <a:solidFill>
                <a:srgbClr val="545454"/>
              </a:solidFill>
              <a:latin typeface="페이퍼로지 3 Light" pitchFamily="2" charset="-127"/>
              <a:ea typeface="페이퍼로지 3 Light" pitchFamily="2" charset="-127"/>
              <a:cs typeface="Nanum Square"/>
              <a:sym typeface="Nanum Square"/>
            </a:endParaRPr>
          </a:p>
        </p:txBody>
      </p:sp>
      <p:sp>
        <p:nvSpPr>
          <p:cNvPr id="20" name="TextBox 12">
            <a:extLst>
              <a:ext uri="{FF2B5EF4-FFF2-40B4-BE49-F238E27FC236}">
                <a16:creationId xmlns:a16="http://schemas.microsoft.com/office/drawing/2014/main" id="{0A240D0C-2ECB-DF7E-F222-BEB23573D86B}"/>
              </a:ext>
            </a:extLst>
          </p:cNvPr>
          <p:cNvSpPr txBox="1"/>
          <p:nvPr/>
        </p:nvSpPr>
        <p:spPr>
          <a:xfrm>
            <a:off x="15135245" y="792625"/>
            <a:ext cx="2124055" cy="2116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768"/>
              </a:lnSpc>
            </a:pPr>
            <a:r>
              <a:rPr lang="ko-KR" altLang="en-US" sz="1474" b="1">
                <a:solidFill>
                  <a:srgbClr val="545454"/>
                </a:solidFill>
                <a:latin typeface="페이퍼로지 6 SemiBold" pitchFamily="2" charset="-127"/>
                <a:ea typeface="페이퍼로지 6 SemiBold" pitchFamily="2" charset="-127"/>
                <a:cs typeface="Nanum Square Bold"/>
                <a:sym typeface="Nanum Square Bold"/>
              </a:rPr>
              <a:t>선문대학교</a:t>
            </a:r>
            <a:endParaRPr lang="en-US" sz="1474" b="1">
              <a:solidFill>
                <a:srgbClr val="545454"/>
              </a:solidFill>
              <a:latin typeface="페이퍼로지 6 SemiBold" pitchFamily="2" charset="-127"/>
              <a:ea typeface="페이퍼로지 6 SemiBold" pitchFamily="2" charset="-127"/>
              <a:cs typeface="Nanum Square Bold"/>
              <a:sym typeface="Nanum Square Bold"/>
            </a:endParaRPr>
          </a:p>
        </p:txBody>
      </p:sp>
      <p:sp>
        <p:nvSpPr>
          <p:cNvPr id="5" name="Freeform 11">
            <a:extLst>
              <a:ext uri="{FF2B5EF4-FFF2-40B4-BE49-F238E27FC236}">
                <a16:creationId xmlns:a16="http://schemas.microsoft.com/office/drawing/2014/main" id="{3DB6BBF8-6BF2-8119-F50C-69DEE3084022}"/>
              </a:ext>
            </a:extLst>
          </p:cNvPr>
          <p:cNvSpPr/>
          <p:nvPr/>
        </p:nvSpPr>
        <p:spPr>
          <a:xfrm>
            <a:off x="1138739" y="2893711"/>
            <a:ext cx="496132" cy="493858"/>
          </a:xfrm>
          <a:custGeom>
            <a:avLst/>
            <a:gdLst/>
            <a:ahLst/>
            <a:cxnLst/>
            <a:rect l="l" t="t" r="r" b="b"/>
            <a:pathLst>
              <a:path w="496132" h="493858">
                <a:moveTo>
                  <a:pt x="0" y="0"/>
                </a:moveTo>
                <a:lnTo>
                  <a:pt x="496132" y="0"/>
                </a:lnTo>
                <a:lnTo>
                  <a:pt x="496132" y="493858"/>
                </a:lnTo>
                <a:lnTo>
                  <a:pt x="0" y="4938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FB5864-6E14-5E4A-0B6D-39A613ED81B4}"/>
              </a:ext>
            </a:extLst>
          </p:cNvPr>
          <p:cNvSpPr txBox="1"/>
          <p:nvPr/>
        </p:nvSpPr>
        <p:spPr>
          <a:xfrm>
            <a:off x="1670313" y="2926495"/>
            <a:ext cx="1346493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250"/>
              </a:spcBef>
              <a:spcAft>
                <a:spcPts val="1500"/>
              </a:spcAft>
              <a:buNone/>
            </a:pPr>
            <a:r>
              <a:rPr lang="ko-KR" altLang="en-US" sz="2800" i="0">
                <a:effectLst/>
                <a:latin typeface="페이퍼로지 5 Medium" pitchFamily="2" charset="-127"/>
                <a:ea typeface="페이퍼로지 5 Medium" pitchFamily="2" charset="-127"/>
              </a:rPr>
              <a:t>편성 자율성을 침해하는 구체적 수치 강제</a:t>
            </a:r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31D4FF71-2F79-AD4B-AA2B-E06303419307}"/>
              </a:ext>
            </a:extLst>
          </p:cNvPr>
          <p:cNvGrpSpPr/>
          <p:nvPr/>
        </p:nvGrpSpPr>
        <p:grpSpPr>
          <a:xfrm>
            <a:off x="1219200" y="4305300"/>
            <a:ext cx="16230600" cy="2715844"/>
            <a:chOff x="0" y="0"/>
            <a:chExt cx="3869376" cy="2095205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6D5069CF-0EAC-331C-29EB-659617000989}"/>
                </a:ext>
              </a:extLst>
            </p:cNvPr>
            <p:cNvSpPr/>
            <p:nvPr/>
          </p:nvSpPr>
          <p:spPr>
            <a:xfrm>
              <a:off x="0" y="0"/>
              <a:ext cx="3869376" cy="2095205"/>
            </a:xfrm>
            <a:custGeom>
              <a:avLst/>
              <a:gdLst/>
              <a:ahLst/>
              <a:cxnLst/>
              <a:rect l="l" t="t" r="r" b="b"/>
              <a:pathLst>
                <a:path w="3869376" h="2095205">
                  <a:moveTo>
                    <a:pt x="14611" y="0"/>
                  </a:moveTo>
                  <a:lnTo>
                    <a:pt x="3854765" y="0"/>
                  </a:lnTo>
                  <a:cubicBezTo>
                    <a:pt x="3858640" y="0"/>
                    <a:pt x="3862357" y="1539"/>
                    <a:pt x="3865097" y="4279"/>
                  </a:cubicBezTo>
                  <a:cubicBezTo>
                    <a:pt x="3867837" y="7020"/>
                    <a:pt x="3869376" y="10736"/>
                    <a:pt x="3869376" y="14611"/>
                  </a:cubicBezTo>
                  <a:lnTo>
                    <a:pt x="3869376" y="2080594"/>
                  </a:lnTo>
                  <a:cubicBezTo>
                    <a:pt x="3869376" y="2088664"/>
                    <a:pt x="3862835" y="2095205"/>
                    <a:pt x="3854765" y="2095205"/>
                  </a:cubicBezTo>
                  <a:lnTo>
                    <a:pt x="14611" y="2095205"/>
                  </a:lnTo>
                  <a:cubicBezTo>
                    <a:pt x="10736" y="2095205"/>
                    <a:pt x="7020" y="2093666"/>
                    <a:pt x="4279" y="2090926"/>
                  </a:cubicBezTo>
                  <a:cubicBezTo>
                    <a:pt x="1539" y="2088186"/>
                    <a:pt x="0" y="2084469"/>
                    <a:pt x="0" y="2080594"/>
                  </a:cubicBezTo>
                  <a:lnTo>
                    <a:pt x="0" y="14611"/>
                  </a:lnTo>
                  <a:cubicBezTo>
                    <a:pt x="0" y="6542"/>
                    <a:pt x="6542" y="0"/>
                    <a:pt x="1461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15A9F1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09424FA-DE2B-8F1C-ED9C-DE7A061F596A}"/>
                </a:ext>
              </a:extLst>
            </p:cNvPr>
            <p:cNvSpPr txBox="1"/>
            <p:nvPr/>
          </p:nvSpPr>
          <p:spPr>
            <a:xfrm>
              <a:off x="0" y="-9525"/>
              <a:ext cx="3869376" cy="21047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27"/>
                </a:lnSpc>
              </a:pPr>
              <a:endParaRPr/>
            </a:p>
          </p:txBody>
        </p:sp>
      </p:grpSp>
      <p:sp>
        <p:nvSpPr>
          <p:cNvPr id="13" name="TextBox 23">
            <a:extLst>
              <a:ext uri="{FF2B5EF4-FFF2-40B4-BE49-F238E27FC236}">
                <a16:creationId xmlns:a16="http://schemas.microsoft.com/office/drawing/2014/main" id="{43FE0414-082C-8B3E-9270-1C20808183F1}"/>
              </a:ext>
            </a:extLst>
          </p:cNvPr>
          <p:cNvSpPr txBox="1"/>
          <p:nvPr/>
        </p:nvSpPr>
        <p:spPr>
          <a:xfrm>
            <a:off x="2154865" y="4649093"/>
            <a:ext cx="6528369" cy="4825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2"/>
              </a:lnSpc>
            </a:pPr>
            <a:r>
              <a:rPr lang="ko-KR" altLang="en-US" sz="3376">
                <a:solidFill>
                  <a:srgbClr val="454444"/>
                </a:solidFill>
                <a:latin typeface="페이퍼로지 4 Regular" pitchFamily="2" charset="-127"/>
                <a:ea typeface="페이퍼로지 4 Regular" pitchFamily="2" charset="-127"/>
                <a:cs typeface="Nanum Square Bold"/>
                <a:sym typeface="Nanum Square Bold"/>
              </a:rPr>
              <a:t>보도 편성 비율 제한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F71DDAA-37CF-E1E4-C516-AA7A4BF8A30B}"/>
              </a:ext>
            </a:extLst>
          </p:cNvPr>
          <p:cNvSpPr txBox="1"/>
          <p:nvPr/>
        </p:nvSpPr>
        <p:spPr>
          <a:xfrm>
            <a:off x="2133600" y="5475391"/>
            <a:ext cx="7508233" cy="1414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</a:rPr>
              <a:t>"</a:t>
            </a:r>
            <a:r>
              <a:rPr lang="ko-KR" altLang="en-US" sz="2000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</a:rPr>
              <a:t>시사보도 프로그램 비중을 </a:t>
            </a:r>
            <a:r>
              <a:rPr lang="en-US" altLang="ko-KR" sz="2000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</a:rPr>
              <a:t>33.3% </a:t>
            </a:r>
            <a:r>
              <a:rPr lang="ko-KR" altLang="en-US" sz="2000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</a:rPr>
              <a:t>이내로 유지</a:t>
            </a:r>
            <a:r>
              <a:rPr lang="en-US" altLang="ko-KR" sz="2000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</a:rPr>
              <a:t>"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</a:rPr>
              <a:t>매월 실적 보고 의무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</a:rPr>
              <a:t>미이행 시 시정명령 및 과징금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F88D4E0-A6CD-54E4-42C6-FD77A97B2D21}"/>
              </a:ext>
            </a:extLst>
          </p:cNvPr>
          <p:cNvSpPr txBox="1"/>
          <p:nvPr/>
        </p:nvSpPr>
        <p:spPr>
          <a:xfrm>
            <a:off x="1219200" y="3692366"/>
            <a:ext cx="9144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250"/>
              </a:spcBef>
              <a:spcAft>
                <a:spcPts val="1500"/>
              </a:spcAft>
            </a:pPr>
            <a:r>
              <a:rPr lang="ko-KR" altLang="en-US" sz="2800">
                <a:solidFill>
                  <a:srgbClr val="2A5298"/>
                </a:solidFill>
                <a:latin typeface="페이퍼로지 5 Medium" pitchFamily="2" charset="-127"/>
                <a:ea typeface="페이퍼로지 5 Medium" pitchFamily="2" charset="-127"/>
              </a:rPr>
              <a:t>실제 부과된 조건 사례 </a:t>
            </a:r>
            <a:endParaRPr lang="en-US" altLang="ko-KR" sz="2800" i="0">
              <a:solidFill>
                <a:srgbClr val="2A5298"/>
              </a:solidFill>
              <a:effectLst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29" name="AutoShape 10">
            <a:extLst>
              <a:ext uri="{FF2B5EF4-FFF2-40B4-BE49-F238E27FC236}">
                <a16:creationId xmlns:a16="http://schemas.microsoft.com/office/drawing/2014/main" id="{48972BA5-4FCE-A69F-1B45-A248C5DB96A1}"/>
              </a:ext>
            </a:extLst>
          </p:cNvPr>
          <p:cNvSpPr/>
          <p:nvPr/>
        </p:nvSpPr>
        <p:spPr>
          <a:xfrm>
            <a:off x="2154865" y="5295899"/>
            <a:ext cx="14609135" cy="80291"/>
          </a:xfrm>
          <a:prstGeom prst="line">
            <a:avLst/>
          </a:prstGeom>
          <a:ln w="9525" cap="flat">
            <a:solidFill>
              <a:srgbClr val="15A9F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60CDB97-831E-D802-2510-995AEC407593}"/>
              </a:ext>
            </a:extLst>
          </p:cNvPr>
          <p:cNvSpPr txBox="1"/>
          <p:nvPr/>
        </p:nvSpPr>
        <p:spPr>
          <a:xfrm>
            <a:off x="1219200" y="7233355"/>
            <a:ext cx="9144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250"/>
              </a:spcBef>
              <a:spcAft>
                <a:spcPts val="1500"/>
              </a:spcAft>
            </a:pPr>
            <a:r>
              <a:rPr lang="ko-KR" altLang="en-US" sz="2800">
                <a:solidFill>
                  <a:srgbClr val="2A5298"/>
                </a:solidFill>
                <a:latin typeface="페이퍼로지 5 Medium" pitchFamily="2" charset="-127"/>
                <a:ea typeface="페이퍼로지 5 Medium" pitchFamily="2" charset="-127"/>
              </a:rPr>
              <a:t>법적 쟁점 </a:t>
            </a:r>
            <a:endParaRPr lang="en-US" altLang="ko-KR" sz="2800" i="0">
              <a:solidFill>
                <a:srgbClr val="2A5298"/>
              </a:solidFill>
              <a:effectLst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734E6E6-BDAD-3754-D1B8-51DC5105A83F}"/>
              </a:ext>
            </a:extLst>
          </p:cNvPr>
          <p:cNvSpPr txBox="1"/>
          <p:nvPr/>
        </p:nvSpPr>
        <p:spPr>
          <a:xfrm>
            <a:off x="1219200" y="7952136"/>
            <a:ext cx="5181600" cy="1502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spcAft>
                <a:spcPts val="1875"/>
              </a:spcAft>
              <a:buFont typeface="Arial" panose="020B0604020202020204" pitchFamily="34" charset="0"/>
              <a:buChar char="•"/>
            </a:pPr>
            <a:r>
              <a:rPr lang="ko-KR" altLang="en-US" sz="2000" b="0" i="0">
                <a:solidFill>
                  <a:srgbClr val="4A5568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헌법상 편성 자율성 침해 소지</a:t>
            </a:r>
          </a:p>
          <a:p>
            <a:pPr marL="742950" lvl="1" indent="-285750" algn="l">
              <a:spcAft>
                <a:spcPts val="1875"/>
              </a:spcAft>
              <a:buFont typeface="Arial" panose="020B0604020202020204" pitchFamily="34" charset="0"/>
              <a:buChar char="•"/>
            </a:pPr>
            <a:r>
              <a:rPr lang="ko-KR" altLang="en-US" sz="2000" b="0" i="0">
                <a:solidFill>
                  <a:srgbClr val="4A5568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방송사의 편성권은 헌법상 보장되는 권리</a:t>
            </a:r>
          </a:p>
          <a:p>
            <a:pPr marL="742950" lvl="1" indent="-285750" algn="l">
              <a:spcAft>
                <a:spcPts val="1875"/>
              </a:spcAft>
              <a:buFont typeface="Arial" panose="020B0604020202020204" pitchFamily="34" charset="0"/>
              <a:buChar char="•"/>
            </a:pPr>
            <a:r>
              <a:rPr lang="ko-KR" altLang="en-US" sz="2000" b="0" i="0">
                <a:solidFill>
                  <a:srgbClr val="4A5568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구체적 수치로 편성 강제는 과도한 개입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2EEF499-27F2-C4F1-0C34-877576DE1C18}"/>
              </a:ext>
            </a:extLst>
          </p:cNvPr>
          <p:cNvSpPr txBox="1"/>
          <p:nvPr/>
        </p:nvSpPr>
        <p:spPr>
          <a:xfrm>
            <a:off x="7081625" y="7952136"/>
            <a:ext cx="6329575" cy="20544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spcAft>
                <a:spcPts val="1875"/>
              </a:spcAft>
              <a:buFont typeface="Arial" panose="020B0604020202020204" pitchFamily="34" charset="0"/>
              <a:buChar char="•"/>
            </a:pPr>
            <a:r>
              <a:rPr lang="ko-KR" altLang="en-US" sz="2000" b="0" i="0">
                <a:solidFill>
                  <a:srgbClr val="4A5568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법적 근거 불명확</a:t>
            </a:r>
          </a:p>
          <a:p>
            <a:pPr marL="742950" lvl="1" indent="-285750" algn="l">
              <a:spcAft>
                <a:spcPts val="1875"/>
              </a:spcAft>
              <a:buFont typeface="Arial" panose="020B0604020202020204" pitchFamily="34" charset="0"/>
              <a:buChar char="•"/>
            </a:pPr>
            <a:r>
              <a:rPr lang="ko-KR" altLang="en-US" sz="2000" b="0" i="0">
                <a:solidFill>
                  <a:srgbClr val="4A5568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방송법에 편성 비율 제한 조항 없음</a:t>
            </a:r>
          </a:p>
          <a:p>
            <a:pPr marL="742950" lvl="1" indent="-285750" algn="l">
              <a:spcAft>
                <a:spcPts val="1875"/>
              </a:spcAft>
              <a:buFont typeface="Arial" panose="020B0604020202020204" pitchFamily="34" charset="0"/>
              <a:buChar char="•"/>
            </a:pPr>
            <a:r>
              <a:rPr lang="ko-KR" altLang="en-US" sz="2000" b="0" i="0">
                <a:solidFill>
                  <a:srgbClr val="4A5568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시행령에도 구체적 기준 부재</a:t>
            </a:r>
          </a:p>
          <a:p>
            <a:pPr marL="742950" lvl="1" indent="-285750" algn="l">
              <a:spcAft>
                <a:spcPts val="1875"/>
              </a:spcAft>
              <a:buFont typeface="Arial" panose="020B0604020202020204" pitchFamily="34" charset="0"/>
              <a:buChar char="•"/>
            </a:pPr>
            <a:r>
              <a:rPr lang="ko-KR" altLang="en-US" sz="2000" b="0" i="0">
                <a:solidFill>
                  <a:srgbClr val="4A5568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재량권 일탈 소지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492F8AC-5FCA-AD06-8F5D-90088D937C4A}"/>
              </a:ext>
            </a:extLst>
          </p:cNvPr>
          <p:cNvSpPr txBox="1"/>
          <p:nvPr/>
        </p:nvSpPr>
        <p:spPr>
          <a:xfrm>
            <a:off x="12344400" y="7952136"/>
            <a:ext cx="5562600" cy="20544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spcAft>
                <a:spcPts val="1875"/>
              </a:spcAft>
              <a:buFont typeface="Arial" panose="020B0604020202020204" pitchFamily="34" charset="0"/>
              <a:buChar char="•"/>
            </a:pPr>
            <a:r>
              <a:rPr lang="ko-KR" altLang="en-US" sz="2000" b="0" i="0">
                <a:solidFill>
                  <a:srgbClr val="4A5568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짧은 유효기간</a:t>
            </a:r>
            <a:r>
              <a:rPr lang="en-US" altLang="ko-KR" sz="2000" b="0" i="0">
                <a:solidFill>
                  <a:srgbClr val="4A5568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(3</a:t>
            </a:r>
            <a:r>
              <a:rPr lang="ko-KR" altLang="en-US" sz="2000" b="0" i="0">
                <a:solidFill>
                  <a:srgbClr val="4A5568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년</a:t>
            </a:r>
            <a:r>
              <a:rPr lang="en-US" altLang="ko-KR" sz="2000" b="0" i="0">
                <a:solidFill>
                  <a:srgbClr val="4A5568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)</a:t>
            </a:r>
            <a:r>
              <a:rPr lang="ko-KR" altLang="en-US" sz="2000" b="0" i="0">
                <a:solidFill>
                  <a:srgbClr val="4A5568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의 위축 효과</a:t>
            </a:r>
          </a:p>
          <a:p>
            <a:pPr marL="742950" lvl="1" indent="-285750" algn="l">
              <a:spcAft>
                <a:spcPts val="1875"/>
              </a:spcAft>
              <a:buFont typeface="Arial" panose="020B0604020202020204" pitchFamily="34" charset="0"/>
              <a:buChar char="•"/>
            </a:pPr>
            <a:r>
              <a:rPr lang="en-US" altLang="ko-KR" sz="2000" b="0" i="0">
                <a:solidFill>
                  <a:srgbClr val="4A5568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3</a:t>
            </a:r>
            <a:r>
              <a:rPr lang="ko-KR" altLang="en-US" sz="2000" b="0" i="0">
                <a:solidFill>
                  <a:srgbClr val="4A5568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년마다 새로운 조건 우려</a:t>
            </a:r>
          </a:p>
          <a:p>
            <a:pPr marL="742950" lvl="1" indent="-285750" algn="l">
              <a:spcAft>
                <a:spcPts val="1875"/>
              </a:spcAft>
              <a:buFont typeface="Arial" panose="020B0604020202020204" pitchFamily="34" charset="0"/>
              <a:buChar char="•"/>
            </a:pPr>
            <a:r>
              <a:rPr lang="ko-KR" altLang="en-US" sz="2000" b="0" i="0">
                <a:solidFill>
                  <a:srgbClr val="4A5568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장기 편성 전략 수립 불가</a:t>
            </a:r>
          </a:p>
          <a:p>
            <a:pPr marL="742950" lvl="1" indent="-285750" algn="l">
              <a:spcAft>
                <a:spcPts val="1875"/>
              </a:spcAft>
              <a:buFont typeface="Arial" panose="020B0604020202020204" pitchFamily="34" charset="0"/>
              <a:buChar char="•"/>
            </a:pPr>
            <a:r>
              <a:rPr lang="ko-KR" altLang="en-US" sz="2000" b="0" i="0">
                <a:solidFill>
                  <a:srgbClr val="4A5568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자기검열 강화</a:t>
            </a:r>
            <a:endParaRPr lang="ko-KR" altLang="en-US" sz="200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47" name="슬라이드 번호 개체 틀 46">
            <a:extLst>
              <a:ext uri="{FF2B5EF4-FFF2-40B4-BE49-F238E27FC236}">
                <a16:creationId xmlns:a16="http://schemas.microsoft.com/office/drawing/2014/main" id="{86BDC267-DE84-77FC-CAC6-1B6383F8A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98088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9EE67B-FA2F-ED75-EA1B-1F09CC3B2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DF138262-E0ED-DE02-1A51-4DE2BF7D48D5}"/>
              </a:ext>
            </a:extLst>
          </p:cNvPr>
          <p:cNvSpPr/>
          <p:nvPr/>
        </p:nvSpPr>
        <p:spPr>
          <a:xfrm flipV="1">
            <a:off x="1028700" y="1169525"/>
            <a:ext cx="16230600" cy="0"/>
          </a:xfrm>
          <a:prstGeom prst="line">
            <a:avLst/>
          </a:prstGeom>
          <a:ln w="19050" cap="flat">
            <a:solidFill>
              <a:srgbClr val="D9D9D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6A601CFB-260B-28F2-8CE2-81DB09235483}"/>
              </a:ext>
            </a:extLst>
          </p:cNvPr>
          <p:cNvSpPr txBox="1"/>
          <p:nvPr/>
        </p:nvSpPr>
        <p:spPr>
          <a:xfrm>
            <a:off x="1028700" y="1399848"/>
            <a:ext cx="1502946" cy="11319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579"/>
              </a:lnSpc>
            </a:pPr>
            <a:r>
              <a:rPr lang="en-US" altLang="ko-KR" sz="7983" spc="-239">
                <a:solidFill>
                  <a:srgbClr val="15A9F1"/>
                </a:solidFill>
                <a:latin typeface="페이퍼로지 5 Medium" pitchFamily="2" charset="-127"/>
                <a:ea typeface="페이퍼로지 5 Medium" pitchFamily="2" charset="-127"/>
                <a:cs typeface="Nanum Square Bold"/>
                <a:sym typeface="Nanum Square Bold"/>
              </a:rPr>
              <a:t>04</a:t>
            </a:r>
            <a:endParaRPr lang="en-US" sz="7983" spc="-239">
              <a:solidFill>
                <a:srgbClr val="15A9F1"/>
              </a:solidFill>
              <a:latin typeface="페이퍼로지 5 Medium" pitchFamily="2" charset="-127"/>
              <a:ea typeface="페이퍼로지 5 Medium" pitchFamily="2" charset="-127"/>
              <a:cs typeface="Nanum Square Bold"/>
              <a:sym typeface="Nanum Square Bold"/>
            </a:endParaRP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AD40B00F-03EE-FB50-0463-1E9E8339DED3}"/>
              </a:ext>
            </a:extLst>
          </p:cNvPr>
          <p:cNvSpPr txBox="1"/>
          <p:nvPr/>
        </p:nvSpPr>
        <p:spPr>
          <a:xfrm>
            <a:off x="2531646" y="1626872"/>
            <a:ext cx="14727654" cy="7694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ko-KR" altLang="en-US" sz="5000">
                <a:solidFill>
                  <a:srgbClr val="454444"/>
                </a:solidFill>
                <a:latin typeface="페이퍼로지 5 Medium" pitchFamily="2" charset="-127"/>
                <a:ea typeface="페이퍼로지 5 Medium" pitchFamily="2" charset="-127"/>
                <a:sym typeface="Nanum Square Bold"/>
              </a:rPr>
              <a:t>재승인 제도 평가 </a:t>
            </a:r>
            <a:r>
              <a:rPr lang="en-US" altLang="ko-KR" sz="5000">
                <a:solidFill>
                  <a:srgbClr val="454444"/>
                </a:solidFill>
                <a:latin typeface="페이퍼로지 5 Medium" pitchFamily="2" charset="-127"/>
                <a:ea typeface="페이퍼로지 5 Medium" pitchFamily="2" charset="-127"/>
                <a:sym typeface="Nanum Square Bold"/>
              </a:rPr>
              <a:t>– </a:t>
            </a:r>
            <a:r>
              <a:rPr lang="ko-KR" altLang="en-US" sz="5000">
                <a:solidFill>
                  <a:srgbClr val="454444"/>
                </a:solidFill>
                <a:latin typeface="페이퍼로지 5 Medium" pitchFamily="2" charset="-127"/>
                <a:ea typeface="페이퍼로지 5 Medium" pitchFamily="2" charset="-127"/>
              </a:rPr>
              <a:t>콘텐츠 투자 조건의 행정적 유효성 한계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0F0F1773-F07E-C38A-BCDA-3D2C6E890692}"/>
              </a:ext>
            </a:extLst>
          </p:cNvPr>
          <p:cNvSpPr txBox="1"/>
          <p:nvPr/>
        </p:nvSpPr>
        <p:spPr>
          <a:xfrm>
            <a:off x="1123950" y="811675"/>
            <a:ext cx="3295650" cy="2239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888"/>
              </a:lnSpc>
            </a:pPr>
            <a:r>
              <a:rPr lang="ko-KR" altLang="en-US" sz="1574">
                <a:solidFill>
                  <a:srgbClr val="545454"/>
                </a:solidFill>
                <a:latin typeface="페이퍼로지 3 Light" pitchFamily="2" charset="-127"/>
                <a:ea typeface="페이퍼로지 3 Light" pitchFamily="2" charset="-127"/>
                <a:cs typeface="Nanum Square"/>
                <a:sym typeface="Nanum Square"/>
              </a:rPr>
              <a:t>한국언론학회 </a:t>
            </a:r>
            <a:r>
              <a:rPr lang="en-US" altLang="ko-KR" sz="1574">
                <a:solidFill>
                  <a:srgbClr val="545454"/>
                </a:solidFill>
                <a:latin typeface="페이퍼로지 3 Light" pitchFamily="2" charset="-127"/>
                <a:ea typeface="페이퍼로지 3 Light" pitchFamily="2" charset="-127"/>
                <a:cs typeface="Nanum Square"/>
                <a:sym typeface="Nanum Square"/>
              </a:rPr>
              <a:t>2025 </a:t>
            </a:r>
            <a:r>
              <a:rPr lang="ko-KR" altLang="en-US" sz="1574">
                <a:solidFill>
                  <a:srgbClr val="545454"/>
                </a:solidFill>
                <a:latin typeface="페이퍼로지 3 Light" pitchFamily="2" charset="-127"/>
                <a:ea typeface="페이퍼로지 3 Light" pitchFamily="2" charset="-127"/>
                <a:cs typeface="Nanum Square"/>
                <a:sym typeface="Nanum Square"/>
              </a:rPr>
              <a:t>가을철 학술대회</a:t>
            </a:r>
            <a:endParaRPr lang="en-US" altLang="ko-KR" sz="1574">
              <a:solidFill>
                <a:srgbClr val="545454"/>
              </a:solidFill>
              <a:latin typeface="페이퍼로지 3 Light" pitchFamily="2" charset="-127"/>
              <a:ea typeface="페이퍼로지 3 Light" pitchFamily="2" charset="-127"/>
              <a:cs typeface="Nanum Square"/>
              <a:sym typeface="Nanum Square"/>
            </a:endParaRPr>
          </a:p>
        </p:txBody>
      </p:sp>
      <p:sp>
        <p:nvSpPr>
          <p:cNvPr id="20" name="TextBox 12">
            <a:extLst>
              <a:ext uri="{FF2B5EF4-FFF2-40B4-BE49-F238E27FC236}">
                <a16:creationId xmlns:a16="http://schemas.microsoft.com/office/drawing/2014/main" id="{83BF3EFC-8E79-D698-05F8-E7A69B0DB865}"/>
              </a:ext>
            </a:extLst>
          </p:cNvPr>
          <p:cNvSpPr txBox="1"/>
          <p:nvPr/>
        </p:nvSpPr>
        <p:spPr>
          <a:xfrm>
            <a:off x="15135245" y="792625"/>
            <a:ext cx="2124055" cy="2116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768"/>
              </a:lnSpc>
            </a:pPr>
            <a:r>
              <a:rPr lang="ko-KR" altLang="en-US" sz="1474" b="1">
                <a:solidFill>
                  <a:srgbClr val="545454"/>
                </a:solidFill>
                <a:latin typeface="페이퍼로지 6 SemiBold" pitchFamily="2" charset="-127"/>
                <a:ea typeface="페이퍼로지 6 SemiBold" pitchFamily="2" charset="-127"/>
                <a:cs typeface="Nanum Square Bold"/>
                <a:sym typeface="Nanum Square Bold"/>
              </a:rPr>
              <a:t>선문대학교</a:t>
            </a:r>
            <a:endParaRPr lang="en-US" sz="1474" b="1">
              <a:solidFill>
                <a:srgbClr val="545454"/>
              </a:solidFill>
              <a:latin typeface="페이퍼로지 6 SemiBold" pitchFamily="2" charset="-127"/>
              <a:ea typeface="페이퍼로지 6 SemiBold" pitchFamily="2" charset="-127"/>
              <a:cs typeface="Nanum Square Bold"/>
              <a:sym typeface="Nanum Square Bold"/>
            </a:endParaRPr>
          </a:p>
        </p:txBody>
      </p:sp>
      <p:sp>
        <p:nvSpPr>
          <p:cNvPr id="5" name="Freeform 11">
            <a:extLst>
              <a:ext uri="{FF2B5EF4-FFF2-40B4-BE49-F238E27FC236}">
                <a16:creationId xmlns:a16="http://schemas.microsoft.com/office/drawing/2014/main" id="{E08525CD-5D62-11AC-7314-5B16ECACFFB7}"/>
              </a:ext>
            </a:extLst>
          </p:cNvPr>
          <p:cNvSpPr/>
          <p:nvPr/>
        </p:nvSpPr>
        <p:spPr>
          <a:xfrm>
            <a:off x="1138739" y="2893711"/>
            <a:ext cx="496132" cy="493858"/>
          </a:xfrm>
          <a:custGeom>
            <a:avLst/>
            <a:gdLst/>
            <a:ahLst/>
            <a:cxnLst/>
            <a:rect l="l" t="t" r="r" b="b"/>
            <a:pathLst>
              <a:path w="496132" h="493858">
                <a:moveTo>
                  <a:pt x="0" y="0"/>
                </a:moveTo>
                <a:lnTo>
                  <a:pt x="496132" y="0"/>
                </a:lnTo>
                <a:lnTo>
                  <a:pt x="496132" y="493858"/>
                </a:lnTo>
                <a:lnTo>
                  <a:pt x="0" y="4938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83B1FC-B37F-3944-D8AE-7B46DDA3329D}"/>
              </a:ext>
            </a:extLst>
          </p:cNvPr>
          <p:cNvSpPr txBox="1"/>
          <p:nvPr/>
        </p:nvSpPr>
        <p:spPr>
          <a:xfrm>
            <a:off x="1670313" y="2926495"/>
            <a:ext cx="1346493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250"/>
              </a:spcBef>
              <a:spcAft>
                <a:spcPts val="1500"/>
              </a:spcAft>
              <a:buNone/>
            </a:pPr>
            <a:r>
              <a:rPr lang="ko-KR" altLang="en-US" sz="2800" i="0">
                <a:effectLst/>
                <a:latin typeface="페이퍼로지 5 Medium" pitchFamily="2" charset="-127"/>
                <a:ea typeface="페이퍼로지 5 Medium" pitchFamily="2" charset="-127"/>
              </a:rPr>
              <a:t>법적으로 가능하나</a:t>
            </a:r>
            <a:r>
              <a:rPr lang="en-US" altLang="ko-KR" sz="2800" i="0">
                <a:effectLst/>
                <a:latin typeface="페이퍼로지 5 Medium" pitchFamily="2" charset="-127"/>
                <a:ea typeface="페이퍼로지 5 Medium" pitchFamily="2" charset="-127"/>
              </a:rPr>
              <a:t>, </a:t>
            </a:r>
            <a:r>
              <a:rPr lang="ko-KR" altLang="en-US" sz="2800" i="0">
                <a:effectLst/>
                <a:latin typeface="페이퍼로지 5 Medium" pitchFamily="2" charset="-127"/>
                <a:ea typeface="페이퍼로지 5 Medium" pitchFamily="2" charset="-127"/>
              </a:rPr>
              <a:t>실효성은 부족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6FD6EFB-CAA6-ED0F-33AF-3EA74013DF28}"/>
              </a:ext>
            </a:extLst>
          </p:cNvPr>
          <p:cNvSpPr txBox="1"/>
          <p:nvPr/>
        </p:nvSpPr>
        <p:spPr>
          <a:xfrm>
            <a:off x="1219200" y="3692366"/>
            <a:ext cx="9144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250"/>
              </a:spcBef>
              <a:spcAft>
                <a:spcPts val="1500"/>
              </a:spcAft>
            </a:pPr>
            <a:r>
              <a:rPr lang="en-US" altLang="ko-KR" sz="2800">
                <a:solidFill>
                  <a:srgbClr val="2A5298"/>
                </a:solidFill>
                <a:latin typeface="페이퍼로지 5 Medium" pitchFamily="2" charset="-127"/>
                <a:ea typeface="페이퍼로지 5 Medium" pitchFamily="2" charset="-127"/>
              </a:rPr>
              <a:t>3</a:t>
            </a:r>
            <a:r>
              <a:rPr lang="ko-KR" altLang="en-US" sz="2800">
                <a:solidFill>
                  <a:srgbClr val="2A5298"/>
                </a:solidFill>
                <a:latin typeface="페이퍼로지 5 Medium" pitchFamily="2" charset="-127"/>
                <a:ea typeface="페이퍼로지 5 Medium" pitchFamily="2" charset="-127"/>
              </a:rPr>
              <a:t>대 구조적 한계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8215CC49-D9CF-BA58-7D89-1CE8C8EB79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5996" y="4458237"/>
            <a:ext cx="10402752" cy="3086531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04B7C591-A414-9DE7-7AC2-5F762F1A308D}"/>
              </a:ext>
            </a:extLst>
          </p:cNvPr>
          <p:cNvSpPr txBox="1"/>
          <p:nvPr/>
        </p:nvSpPr>
        <p:spPr>
          <a:xfrm>
            <a:off x="1219200" y="8030070"/>
            <a:ext cx="9144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250"/>
              </a:spcBef>
              <a:spcAft>
                <a:spcPts val="1500"/>
              </a:spcAft>
            </a:pPr>
            <a:r>
              <a:rPr lang="ko-KR" altLang="en-US" sz="2800">
                <a:solidFill>
                  <a:srgbClr val="2A5298"/>
                </a:solidFill>
                <a:latin typeface="페이퍼로지 5 Medium" pitchFamily="2" charset="-127"/>
                <a:ea typeface="페이퍼로지 5 Medium" pitchFamily="2" charset="-127"/>
              </a:rPr>
              <a:t>악순환의 구조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D77C59E-9922-02E4-E8D4-BB5AD7926BA0}"/>
              </a:ext>
            </a:extLst>
          </p:cNvPr>
          <p:cNvSpPr txBox="1"/>
          <p:nvPr/>
        </p:nvSpPr>
        <p:spPr>
          <a:xfrm>
            <a:off x="1277256" y="8887152"/>
            <a:ext cx="1556294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200" b="0" i="0">
                <a:solidFill>
                  <a:srgbClr val="4A5568"/>
                </a:solidFill>
                <a:effectLst/>
                <a:latin typeface="페이퍼로지 5 Medium" pitchFamily="2" charset="-127"/>
                <a:ea typeface="페이퍼로지 5 Medium" pitchFamily="2" charset="-127"/>
              </a:rPr>
              <a:t>추상적 기준 → 낮은 점수에도 재승인 → 조건 부과 → 약한 제재 → 미이행 반복 → 제도의 형식화</a:t>
            </a:r>
            <a:endParaRPr lang="ko-KR" altLang="en-US" sz="320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24" name="슬라이드 번호 개체 틀 23">
            <a:extLst>
              <a:ext uri="{FF2B5EF4-FFF2-40B4-BE49-F238E27FC236}">
                <a16:creationId xmlns:a16="http://schemas.microsoft.com/office/drawing/2014/main" id="{3F0E7075-00DD-92D0-C2B6-E239DC149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1725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AC865B-5523-238D-E12C-E60D4288C9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71EF22CA-00F9-8FC4-A5FA-C94EA2B76EE9}"/>
              </a:ext>
            </a:extLst>
          </p:cNvPr>
          <p:cNvSpPr/>
          <p:nvPr/>
        </p:nvSpPr>
        <p:spPr>
          <a:xfrm flipV="1">
            <a:off x="1028700" y="1169525"/>
            <a:ext cx="16230600" cy="0"/>
          </a:xfrm>
          <a:prstGeom prst="line">
            <a:avLst/>
          </a:prstGeom>
          <a:ln w="19050" cap="flat">
            <a:solidFill>
              <a:srgbClr val="D9D9D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7E39813-3C36-521F-2165-5E33A934EAEF}"/>
              </a:ext>
            </a:extLst>
          </p:cNvPr>
          <p:cNvSpPr txBox="1"/>
          <p:nvPr/>
        </p:nvSpPr>
        <p:spPr>
          <a:xfrm>
            <a:off x="1028700" y="1399848"/>
            <a:ext cx="1502946" cy="11319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579"/>
              </a:lnSpc>
            </a:pPr>
            <a:r>
              <a:rPr lang="en-US" altLang="ko-KR" sz="7983" spc="-239">
                <a:solidFill>
                  <a:srgbClr val="15A9F1"/>
                </a:solidFill>
                <a:latin typeface="페이퍼로지 5 Medium" pitchFamily="2" charset="-127"/>
                <a:ea typeface="페이퍼로지 5 Medium" pitchFamily="2" charset="-127"/>
                <a:cs typeface="Nanum Square Bold"/>
                <a:sym typeface="Nanum Square Bold"/>
              </a:rPr>
              <a:t>04</a:t>
            </a:r>
            <a:endParaRPr lang="en-US" sz="7983" spc="-239">
              <a:solidFill>
                <a:srgbClr val="15A9F1"/>
              </a:solidFill>
              <a:latin typeface="페이퍼로지 5 Medium" pitchFamily="2" charset="-127"/>
              <a:ea typeface="페이퍼로지 5 Medium" pitchFamily="2" charset="-127"/>
              <a:cs typeface="Nanum Square Bold"/>
              <a:sym typeface="Nanum Square Bold"/>
            </a:endParaRP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66F0567B-EF59-9E93-89BF-68E89B59F1A5}"/>
              </a:ext>
            </a:extLst>
          </p:cNvPr>
          <p:cNvSpPr txBox="1"/>
          <p:nvPr/>
        </p:nvSpPr>
        <p:spPr>
          <a:xfrm>
            <a:off x="2531646" y="1626872"/>
            <a:ext cx="14727654" cy="7694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ko-KR" altLang="en-US" sz="5000">
                <a:solidFill>
                  <a:srgbClr val="454444"/>
                </a:solidFill>
                <a:latin typeface="페이퍼로지 5 Medium" pitchFamily="2" charset="-127"/>
                <a:ea typeface="페이퍼로지 5 Medium" pitchFamily="2" charset="-127"/>
                <a:sym typeface="Nanum Square Bold"/>
              </a:rPr>
              <a:t>재승인 제도 평가</a:t>
            </a:r>
            <a:endParaRPr lang="ko-KR" altLang="en-US" sz="5000">
              <a:solidFill>
                <a:srgbClr val="454444"/>
              </a:solidFill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1E6C262C-C314-5EB1-4E3F-69074FC429D6}"/>
              </a:ext>
            </a:extLst>
          </p:cNvPr>
          <p:cNvSpPr txBox="1"/>
          <p:nvPr/>
        </p:nvSpPr>
        <p:spPr>
          <a:xfrm>
            <a:off x="1123950" y="811675"/>
            <a:ext cx="3295650" cy="2239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888"/>
              </a:lnSpc>
            </a:pPr>
            <a:r>
              <a:rPr lang="ko-KR" altLang="en-US" sz="1574">
                <a:solidFill>
                  <a:srgbClr val="545454"/>
                </a:solidFill>
                <a:latin typeface="페이퍼로지 3 Light" pitchFamily="2" charset="-127"/>
                <a:ea typeface="페이퍼로지 3 Light" pitchFamily="2" charset="-127"/>
                <a:cs typeface="Nanum Square"/>
                <a:sym typeface="Nanum Square"/>
              </a:rPr>
              <a:t>한국언론학회 </a:t>
            </a:r>
            <a:r>
              <a:rPr lang="en-US" altLang="ko-KR" sz="1574">
                <a:solidFill>
                  <a:srgbClr val="545454"/>
                </a:solidFill>
                <a:latin typeface="페이퍼로지 3 Light" pitchFamily="2" charset="-127"/>
                <a:ea typeface="페이퍼로지 3 Light" pitchFamily="2" charset="-127"/>
                <a:cs typeface="Nanum Square"/>
                <a:sym typeface="Nanum Square"/>
              </a:rPr>
              <a:t>2025 </a:t>
            </a:r>
            <a:r>
              <a:rPr lang="ko-KR" altLang="en-US" sz="1574">
                <a:solidFill>
                  <a:srgbClr val="545454"/>
                </a:solidFill>
                <a:latin typeface="페이퍼로지 3 Light" pitchFamily="2" charset="-127"/>
                <a:ea typeface="페이퍼로지 3 Light" pitchFamily="2" charset="-127"/>
                <a:cs typeface="Nanum Square"/>
                <a:sym typeface="Nanum Square"/>
              </a:rPr>
              <a:t>가을철 학술대회</a:t>
            </a:r>
            <a:endParaRPr lang="en-US" altLang="ko-KR" sz="1574">
              <a:solidFill>
                <a:srgbClr val="545454"/>
              </a:solidFill>
              <a:latin typeface="페이퍼로지 3 Light" pitchFamily="2" charset="-127"/>
              <a:ea typeface="페이퍼로지 3 Light" pitchFamily="2" charset="-127"/>
              <a:cs typeface="Nanum Square"/>
              <a:sym typeface="Nanum Square"/>
            </a:endParaRPr>
          </a:p>
        </p:txBody>
      </p:sp>
      <p:sp>
        <p:nvSpPr>
          <p:cNvPr id="20" name="TextBox 12">
            <a:extLst>
              <a:ext uri="{FF2B5EF4-FFF2-40B4-BE49-F238E27FC236}">
                <a16:creationId xmlns:a16="http://schemas.microsoft.com/office/drawing/2014/main" id="{DDE985D7-9EC5-5A9E-CCF4-1F0FFDB6728E}"/>
              </a:ext>
            </a:extLst>
          </p:cNvPr>
          <p:cNvSpPr txBox="1"/>
          <p:nvPr/>
        </p:nvSpPr>
        <p:spPr>
          <a:xfrm>
            <a:off x="15135245" y="792625"/>
            <a:ext cx="2124055" cy="2116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768"/>
              </a:lnSpc>
            </a:pPr>
            <a:r>
              <a:rPr lang="ko-KR" altLang="en-US" sz="1474" b="1">
                <a:solidFill>
                  <a:srgbClr val="545454"/>
                </a:solidFill>
                <a:latin typeface="페이퍼로지 6 SemiBold" pitchFamily="2" charset="-127"/>
                <a:ea typeface="페이퍼로지 6 SemiBold" pitchFamily="2" charset="-127"/>
                <a:cs typeface="Nanum Square Bold"/>
                <a:sym typeface="Nanum Square Bold"/>
              </a:rPr>
              <a:t>선문대학교</a:t>
            </a:r>
            <a:endParaRPr lang="en-US" sz="1474" b="1">
              <a:solidFill>
                <a:srgbClr val="545454"/>
              </a:solidFill>
              <a:latin typeface="페이퍼로지 6 SemiBold" pitchFamily="2" charset="-127"/>
              <a:ea typeface="페이퍼로지 6 SemiBold" pitchFamily="2" charset="-127"/>
              <a:cs typeface="Nanum Square Bold"/>
              <a:sym typeface="Nanum Square Bold"/>
            </a:endParaRPr>
          </a:p>
        </p:txBody>
      </p:sp>
      <p:sp>
        <p:nvSpPr>
          <p:cNvPr id="5" name="Freeform 11">
            <a:extLst>
              <a:ext uri="{FF2B5EF4-FFF2-40B4-BE49-F238E27FC236}">
                <a16:creationId xmlns:a16="http://schemas.microsoft.com/office/drawing/2014/main" id="{246AB2E7-6FBD-6CCB-6EB5-745E919FBB2C}"/>
              </a:ext>
            </a:extLst>
          </p:cNvPr>
          <p:cNvSpPr/>
          <p:nvPr/>
        </p:nvSpPr>
        <p:spPr>
          <a:xfrm>
            <a:off x="1138739" y="2694713"/>
            <a:ext cx="496132" cy="493858"/>
          </a:xfrm>
          <a:custGeom>
            <a:avLst/>
            <a:gdLst/>
            <a:ahLst/>
            <a:cxnLst/>
            <a:rect l="l" t="t" r="r" b="b"/>
            <a:pathLst>
              <a:path w="496132" h="493858">
                <a:moveTo>
                  <a:pt x="0" y="0"/>
                </a:moveTo>
                <a:lnTo>
                  <a:pt x="496132" y="0"/>
                </a:lnTo>
                <a:lnTo>
                  <a:pt x="496132" y="493858"/>
                </a:lnTo>
                <a:lnTo>
                  <a:pt x="0" y="4938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C21B18-23CC-FB20-E17A-FB2D79A06F46}"/>
              </a:ext>
            </a:extLst>
          </p:cNvPr>
          <p:cNvSpPr txBox="1"/>
          <p:nvPr/>
        </p:nvSpPr>
        <p:spPr>
          <a:xfrm>
            <a:off x="1670313" y="2727497"/>
            <a:ext cx="1346493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250"/>
              </a:spcBef>
              <a:spcAft>
                <a:spcPts val="1500"/>
              </a:spcAft>
              <a:buNone/>
            </a:pPr>
            <a:r>
              <a:rPr lang="ko-KR" altLang="en-US" sz="2800" i="0">
                <a:effectLst/>
                <a:latin typeface="페이퍼로지 5 Medium" pitchFamily="2" charset="-127"/>
                <a:ea typeface="페이퍼로지 5 Medium" pitchFamily="2" charset="-127"/>
              </a:rPr>
              <a:t>근본적 개선 필요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ACE2BE5-6027-A212-EF8D-859E676A5BB5}"/>
              </a:ext>
            </a:extLst>
          </p:cNvPr>
          <p:cNvSpPr txBox="1"/>
          <p:nvPr/>
        </p:nvSpPr>
        <p:spPr>
          <a:xfrm>
            <a:off x="1295400" y="3543341"/>
            <a:ext cx="9144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250"/>
              </a:spcBef>
              <a:spcAft>
                <a:spcPts val="1500"/>
              </a:spcAft>
            </a:pPr>
            <a:r>
              <a:rPr lang="ko-KR" altLang="en-US" sz="2800">
                <a:solidFill>
                  <a:srgbClr val="2A5298"/>
                </a:solidFill>
                <a:latin typeface="페이퍼로지 5 Medium" pitchFamily="2" charset="-127"/>
                <a:ea typeface="페이퍼로지 5 Medium" pitchFamily="2" charset="-127"/>
              </a:rPr>
              <a:t>핵심 문제점 정리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8ECE2F83-B2CB-5E33-5E14-AB6ABD05E4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043" y="4200151"/>
            <a:ext cx="10412278" cy="362000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967E830-5DE1-CE7F-FBD8-18AD7B2A650B}"/>
              </a:ext>
            </a:extLst>
          </p:cNvPr>
          <p:cNvSpPr txBox="1"/>
          <p:nvPr/>
        </p:nvSpPr>
        <p:spPr>
          <a:xfrm>
            <a:off x="1295400" y="8039100"/>
            <a:ext cx="6248400" cy="20338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250"/>
              </a:spcBef>
              <a:spcAft>
                <a:spcPts val="1500"/>
              </a:spcAft>
              <a:buNone/>
            </a:pPr>
            <a:r>
              <a:rPr lang="ko-KR" altLang="en-US" sz="2800" b="1" i="0">
                <a:solidFill>
                  <a:srgbClr val="2A5298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학계 논의</a:t>
            </a:r>
          </a:p>
          <a:p>
            <a:pPr marL="285750" indent="-285750" algn="l">
              <a:spcAft>
                <a:spcPts val="1875"/>
              </a:spcAft>
              <a:buFont typeface="Arial" panose="020B0604020202020204" pitchFamily="34" charset="0"/>
              <a:buChar char="•"/>
            </a:pPr>
            <a:r>
              <a:rPr lang="ko-KR" altLang="en-US" b="1" i="0">
                <a:solidFill>
                  <a:srgbClr val="4A5568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단기</a:t>
            </a:r>
            <a:r>
              <a:rPr lang="en-US" altLang="ko-KR" b="1" i="0">
                <a:solidFill>
                  <a:srgbClr val="4A5568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:</a:t>
            </a:r>
            <a:r>
              <a:rPr lang="ko-KR" altLang="en-US" b="0" i="0">
                <a:solidFill>
                  <a:srgbClr val="4A5568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 심사 기준 구체화</a:t>
            </a:r>
            <a:r>
              <a:rPr lang="en-US" altLang="ko-KR" b="0" i="0">
                <a:solidFill>
                  <a:srgbClr val="4A5568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b="0" i="0">
                <a:solidFill>
                  <a:srgbClr val="4A5568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절차 공정성 강화</a:t>
            </a:r>
          </a:p>
          <a:p>
            <a:pPr marL="285750" indent="-285750" algn="l">
              <a:spcAft>
                <a:spcPts val="1875"/>
              </a:spcAft>
              <a:buFont typeface="Arial" panose="020B0604020202020204" pitchFamily="34" charset="0"/>
              <a:buChar char="•"/>
            </a:pPr>
            <a:r>
              <a:rPr lang="ko-KR" altLang="en-US" b="1" i="0">
                <a:solidFill>
                  <a:srgbClr val="4A5568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중기</a:t>
            </a:r>
            <a:r>
              <a:rPr lang="en-US" altLang="ko-KR" b="1" i="0">
                <a:solidFill>
                  <a:srgbClr val="4A5568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:</a:t>
            </a:r>
            <a:r>
              <a:rPr lang="ko-KR" altLang="en-US" b="0" i="0">
                <a:solidFill>
                  <a:srgbClr val="4A5568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 재승인 기간 확대 </a:t>
            </a:r>
            <a:r>
              <a:rPr lang="en-US" altLang="ko-KR" b="0" i="0">
                <a:solidFill>
                  <a:srgbClr val="4A5568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(3~4</a:t>
            </a:r>
            <a:r>
              <a:rPr lang="ko-KR" altLang="en-US" b="0" i="0">
                <a:solidFill>
                  <a:srgbClr val="4A5568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년 → </a:t>
            </a:r>
            <a:r>
              <a:rPr lang="en-US" altLang="ko-KR" b="0" i="0">
                <a:solidFill>
                  <a:srgbClr val="4A5568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7</a:t>
            </a:r>
            <a:r>
              <a:rPr lang="ko-KR" altLang="en-US" b="0" i="0">
                <a:solidFill>
                  <a:srgbClr val="4A5568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년</a:t>
            </a:r>
            <a:r>
              <a:rPr lang="en-US" altLang="ko-KR" b="0" i="0">
                <a:solidFill>
                  <a:srgbClr val="4A5568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)</a:t>
            </a:r>
          </a:p>
          <a:p>
            <a:pPr marL="285750" indent="-285750" algn="l">
              <a:spcAft>
                <a:spcPts val="1875"/>
              </a:spcAft>
              <a:buFont typeface="Arial" panose="020B0604020202020204" pitchFamily="34" charset="0"/>
              <a:buChar char="•"/>
            </a:pPr>
            <a:r>
              <a:rPr lang="ko-KR" altLang="en-US" b="1" i="0">
                <a:solidFill>
                  <a:srgbClr val="4A5568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장기</a:t>
            </a:r>
            <a:r>
              <a:rPr lang="en-US" altLang="ko-KR" b="1" i="0">
                <a:solidFill>
                  <a:srgbClr val="4A5568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:</a:t>
            </a:r>
            <a:r>
              <a:rPr lang="ko-KR" altLang="en-US" b="0" i="0">
                <a:solidFill>
                  <a:srgbClr val="4A5568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 네거티브 규제</a:t>
            </a:r>
            <a:r>
              <a:rPr lang="en-US" altLang="ko-KR" b="0" i="0">
                <a:solidFill>
                  <a:srgbClr val="4A5568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b="0" i="0">
                <a:solidFill>
                  <a:srgbClr val="4A5568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수평적 규제체계 전환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0513729-3D8C-D212-F66D-C98238375706}"/>
              </a:ext>
            </a:extLst>
          </p:cNvPr>
          <p:cNvSpPr txBox="1"/>
          <p:nvPr/>
        </p:nvSpPr>
        <p:spPr>
          <a:xfrm>
            <a:off x="10744200" y="8026400"/>
            <a:ext cx="6248400" cy="20338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250"/>
              </a:spcBef>
              <a:spcAft>
                <a:spcPts val="1500"/>
              </a:spcAft>
              <a:buNone/>
            </a:pPr>
            <a:r>
              <a:rPr lang="ko-KR" altLang="en-US" sz="2800" b="1" i="0">
                <a:solidFill>
                  <a:srgbClr val="2A5298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정책적 함의</a:t>
            </a:r>
          </a:p>
          <a:p>
            <a:pPr marL="285750" indent="-285750" algn="l">
              <a:spcAft>
                <a:spcPts val="1875"/>
              </a:spcAft>
              <a:buFont typeface="Arial" panose="020B0604020202020204" pitchFamily="34" charset="0"/>
              <a:buChar char="•"/>
            </a:pPr>
            <a:r>
              <a:rPr lang="ko-KR" altLang="en-US" i="0">
                <a:solidFill>
                  <a:srgbClr val="4A5568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콘텐츠 투자는 생존 전략 → 강제 불필요</a:t>
            </a:r>
          </a:p>
          <a:p>
            <a:pPr marL="285750" indent="-285750" algn="l">
              <a:spcAft>
                <a:spcPts val="1875"/>
              </a:spcAft>
              <a:buFont typeface="Arial" panose="020B0604020202020204" pitchFamily="34" charset="0"/>
              <a:buChar char="•"/>
            </a:pPr>
            <a:r>
              <a:rPr lang="ko-KR" altLang="en-US" i="0">
                <a:solidFill>
                  <a:srgbClr val="4A5568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구축효과 해소로 오히려 투자 증가</a:t>
            </a:r>
          </a:p>
          <a:p>
            <a:pPr marL="285750" indent="-285750" algn="l">
              <a:spcAft>
                <a:spcPts val="1875"/>
              </a:spcAft>
              <a:buFont typeface="Arial" panose="020B0604020202020204" pitchFamily="34" charset="0"/>
              <a:buChar char="•"/>
            </a:pPr>
            <a:r>
              <a:rPr lang="ko-KR" altLang="en-US" i="0">
                <a:solidFill>
                  <a:srgbClr val="4A5568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글로벌 경쟁력 강화 위해 규제 혁신 시급</a:t>
            </a:r>
          </a:p>
        </p:txBody>
      </p:sp>
      <p:sp>
        <p:nvSpPr>
          <p:cNvPr id="15" name="슬라이드 번호 개체 틀 14">
            <a:extLst>
              <a:ext uri="{FF2B5EF4-FFF2-40B4-BE49-F238E27FC236}">
                <a16:creationId xmlns:a16="http://schemas.microsoft.com/office/drawing/2014/main" id="{81B3EA2C-405A-FB8F-0E3F-49C7B934A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7594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0C032B-9EC9-ABE8-A48E-CB7E65EA05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BD8E7D3-7474-FB3A-AFA1-B36A5444794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/>
              <a:t>개선방향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B93C432-77F4-F260-9CC2-D04CD9E513C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5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0830734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50C4DC-4D52-DBB4-47DA-ECADFC3C74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A6BDC23F-8C10-E7D5-CDF5-9BF84F344C06}"/>
              </a:ext>
            </a:extLst>
          </p:cNvPr>
          <p:cNvSpPr/>
          <p:nvPr/>
        </p:nvSpPr>
        <p:spPr>
          <a:xfrm flipV="1">
            <a:off x="1028700" y="1169525"/>
            <a:ext cx="16230600" cy="0"/>
          </a:xfrm>
          <a:prstGeom prst="line">
            <a:avLst/>
          </a:prstGeom>
          <a:ln w="19050" cap="flat">
            <a:solidFill>
              <a:srgbClr val="D9D9D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9C46085E-6646-981E-38F3-EA1BE4A5D36D}"/>
              </a:ext>
            </a:extLst>
          </p:cNvPr>
          <p:cNvSpPr txBox="1"/>
          <p:nvPr/>
        </p:nvSpPr>
        <p:spPr>
          <a:xfrm>
            <a:off x="1028700" y="1399848"/>
            <a:ext cx="1502946" cy="11319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579"/>
              </a:lnSpc>
            </a:pPr>
            <a:r>
              <a:rPr lang="en-US" altLang="ko-KR" sz="7983" spc="-239">
                <a:solidFill>
                  <a:srgbClr val="15A9F1"/>
                </a:solidFill>
                <a:latin typeface="페이퍼로지 5 Medium" pitchFamily="2" charset="-127"/>
                <a:ea typeface="페이퍼로지 5 Medium" pitchFamily="2" charset="-127"/>
                <a:cs typeface="Nanum Square Bold"/>
                <a:sym typeface="Nanum Square Bold"/>
              </a:rPr>
              <a:t>05</a:t>
            </a:r>
            <a:endParaRPr lang="en-US" sz="7983" spc="-239">
              <a:solidFill>
                <a:srgbClr val="15A9F1"/>
              </a:solidFill>
              <a:latin typeface="페이퍼로지 5 Medium" pitchFamily="2" charset="-127"/>
              <a:ea typeface="페이퍼로지 5 Medium" pitchFamily="2" charset="-127"/>
              <a:cs typeface="Nanum Square Bold"/>
              <a:sym typeface="Nanum Square Bold"/>
            </a:endParaRP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8E19B846-3A73-8885-ADDB-ED62EB41CE86}"/>
              </a:ext>
            </a:extLst>
          </p:cNvPr>
          <p:cNvSpPr txBox="1"/>
          <p:nvPr/>
        </p:nvSpPr>
        <p:spPr>
          <a:xfrm>
            <a:off x="2531646" y="1626872"/>
            <a:ext cx="14232354" cy="7694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ko-KR" altLang="en-US" sz="5000">
                <a:solidFill>
                  <a:srgbClr val="454444"/>
                </a:solidFill>
                <a:latin typeface="페이퍼로지 5 Medium" pitchFamily="2" charset="-127"/>
                <a:ea typeface="페이퍼로지 5 Medium" pitchFamily="2" charset="-127"/>
                <a:sym typeface="Nanum Square Bold"/>
              </a:rPr>
              <a:t>개선 방향 </a:t>
            </a:r>
            <a:r>
              <a:rPr lang="en-US" altLang="ko-KR" sz="5000">
                <a:solidFill>
                  <a:srgbClr val="454444"/>
                </a:solidFill>
                <a:latin typeface="페이퍼로지 5 Medium" pitchFamily="2" charset="-127"/>
                <a:ea typeface="페이퍼로지 5 Medium" pitchFamily="2" charset="-127"/>
                <a:sym typeface="Nanum Square Bold"/>
              </a:rPr>
              <a:t>- </a:t>
            </a:r>
            <a:r>
              <a:rPr lang="ko-KR" altLang="en-US" sz="5000">
                <a:solidFill>
                  <a:srgbClr val="454444"/>
                </a:solidFill>
                <a:highlight>
                  <a:srgbClr val="FFFF00"/>
                </a:highlight>
                <a:latin typeface="페이퍼로지 5 Medium" pitchFamily="2" charset="-127"/>
                <a:ea typeface="페이퍼로지 5 Medium" pitchFamily="2" charset="-127"/>
              </a:rPr>
              <a:t>최우선 방안</a:t>
            </a:r>
            <a:r>
              <a:rPr lang="en-US" altLang="ko-KR" sz="5000">
                <a:solidFill>
                  <a:srgbClr val="454444"/>
                </a:solidFill>
                <a:highlight>
                  <a:srgbClr val="FFFF00"/>
                </a:highlight>
                <a:latin typeface="페이퍼로지 5 Medium" pitchFamily="2" charset="-127"/>
                <a:ea typeface="페이퍼로지 5 Medium" pitchFamily="2" charset="-127"/>
              </a:rPr>
              <a:t>: </a:t>
            </a:r>
            <a:r>
              <a:rPr lang="ko-KR" altLang="en-US" sz="5000">
                <a:solidFill>
                  <a:srgbClr val="454444"/>
                </a:solidFill>
                <a:highlight>
                  <a:srgbClr val="FFFF00"/>
                </a:highlight>
                <a:latin typeface="페이퍼로지 5 Medium" pitchFamily="2" charset="-127"/>
                <a:ea typeface="페이퍼로지 5 Medium" pitchFamily="2" charset="-127"/>
              </a:rPr>
              <a:t>콘투비 의무 </a:t>
            </a:r>
            <a:r>
              <a:rPr lang="en-US" altLang="ko-KR" sz="5000">
                <a:solidFill>
                  <a:srgbClr val="454444"/>
                </a:solidFill>
                <a:highlight>
                  <a:srgbClr val="FFFF00"/>
                </a:highlight>
                <a:latin typeface="페이퍼로지 5 Medium" pitchFamily="2" charset="-127"/>
                <a:ea typeface="페이퍼로지 5 Medium" pitchFamily="2" charset="-127"/>
              </a:rPr>
              <a:t>+ </a:t>
            </a:r>
            <a:r>
              <a:rPr lang="ko-KR" altLang="en-US" sz="5000">
                <a:solidFill>
                  <a:srgbClr val="454444"/>
                </a:solidFill>
                <a:highlight>
                  <a:srgbClr val="FFFF00"/>
                </a:highlight>
                <a:latin typeface="페이퍼로지 5 Medium" pitchFamily="2" charset="-127"/>
                <a:ea typeface="페이퍼로지 5 Medium" pitchFamily="2" charset="-127"/>
              </a:rPr>
              <a:t>기금 전면 폐지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4D54A7F4-3571-FDB4-6AF3-B31CF5CB66BE}"/>
              </a:ext>
            </a:extLst>
          </p:cNvPr>
          <p:cNvSpPr txBox="1"/>
          <p:nvPr/>
        </p:nvSpPr>
        <p:spPr>
          <a:xfrm>
            <a:off x="1123950" y="811675"/>
            <a:ext cx="3295650" cy="2239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888"/>
              </a:lnSpc>
            </a:pPr>
            <a:r>
              <a:rPr lang="ko-KR" altLang="en-US" sz="1574">
                <a:solidFill>
                  <a:srgbClr val="545454"/>
                </a:solidFill>
                <a:latin typeface="페이퍼로지 3 Light" pitchFamily="2" charset="-127"/>
                <a:ea typeface="페이퍼로지 3 Light" pitchFamily="2" charset="-127"/>
                <a:cs typeface="Nanum Square"/>
                <a:sym typeface="Nanum Square"/>
              </a:rPr>
              <a:t>한국언론학회 </a:t>
            </a:r>
            <a:r>
              <a:rPr lang="en-US" altLang="ko-KR" sz="1574">
                <a:solidFill>
                  <a:srgbClr val="545454"/>
                </a:solidFill>
                <a:latin typeface="페이퍼로지 3 Light" pitchFamily="2" charset="-127"/>
                <a:ea typeface="페이퍼로지 3 Light" pitchFamily="2" charset="-127"/>
                <a:cs typeface="Nanum Square"/>
                <a:sym typeface="Nanum Square"/>
              </a:rPr>
              <a:t>2025 </a:t>
            </a:r>
            <a:r>
              <a:rPr lang="ko-KR" altLang="en-US" sz="1574">
                <a:solidFill>
                  <a:srgbClr val="545454"/>
                </a:solidFill>
                <a:latin typeface="페이퍼로지 3 Light" pitchFamily="2" charset="-127"/>
                <a:ea typeface="페이퍼로지 3 Light" pitchFamily="2" charset="-127"/>
                <a:cs typeface="Nanum Square"/>
                <a:sym typeface="Nanum Square"/>
              </a:rPr>
              <a:t>가을철 학술대회</a:t>
            </a:r>
            <a:endParaRPr lang="en-US" altLang="ko-KR" sz="1574">
              <a:solidFill>
                <a:srgbClr val="545454"/>
              </a:solidFill>
              <a:latin typeface="페이퍼로지 3 Light" pitchFamily="2" charset="-127"/>
              <a:ea typeface="페이퍼로지 3 Light" pitchFamily="2" charset="-127"/>
              <a:cs typeface="Nanum Square"/>
              <a:sym typeface="Nanum Square"/>
            </a:endParaRPr>
          </a:p>
        </p:txBody>
      </p:sp>
      <p:sp>
        <p:nvSpPr>
          <p:cNvPr id="20" name="TextBox 12">
            <a:extLst>
              <a:ext uri="{FF2B5EF4-FFF2-40B4-BE49-F238E27FC236}">
                <a16:creationId xmlns:a16="http://schemas.microsoft.com/office/drawing/2014/main" id="{C7C4EF5E-5BC9-0B96-5DE9-EFBE6C1A8E55}"/>
              </a:ext>
            </a:extLst>
          </p:cNvPr>
          <p:cNvSpPr txBox="1"/>
          <p:nvPr/>
        </p:nvSpPr>
        <p:spPr>
          <a:xfrm>
            <a:off x="15135245" y="792625"/>
            <a:ext cx="2124055" cy="2116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768"/>
              </a:lnSpc>
            </a:pPr>
            <a:r>
              <a:rPr lang="ko-KR" altLang="en-US" sz="1474" b="1">
                <a:solidFill>
                  <a:srgbClr val="545454"/>
                </a:solidFill>
                <a:latin typeface="페이퍼로지 6 SemiBold" pitchFamily="2" charset="-127"/>
                <a:ea typeface="페이퍼로지 6 SemiBold" pitchFamily="2" charset="-127"/>
                <a:cs typeface="Nanum Square Bold"/>
                <a:sym typeface="Nanum Square Bold"/>
              </a:rPr>
              <a:t>선문대학교</a:t>
            </a:r>
            <a:endParaRPr lang="en-US" sz="1474" b="1">
              <a:solidFill>
                <a:srgbClr val="545454"/>
              </a:solidFill>
              <a:latin typeface="페이퍼로지 6 SemiBold" pitchFamily="2" charset="-127"/>
              <a:ea typeface="페이퍼로지 6 SemiBold" pitchFamily="2" charset="-127"/>
              <a:cs typeface="Nanum Square Bold"/>
              <a:sym typeface="Nanum Square Bold"/>
            </a:endParaRPr>
          </a:p>
        </p:txBody>
      </p:sp>
      <p:sp>
        <p:nvSpPr>
          <p:cNvPr id="5" name="Freeform 11">
            <a:extLst>
              <a:ext uri="{FF2B5EF4-FFF2-40B4-BE49-F238E27FC236}">
                <a16:creationId xmlns:a16="http://schemas.microsoft.com/office/drawing/2014/main" id="{1EA69443-696E-BDAB-08F6-3CEB7088E478}"/>
              </a:ext>
            </a:extLst>
          </p:cNvPr>
          <p:cNvSpPr/>
          <p:nvPr/>
        </p:nvSpPr>
        <p:spPr>
          <a:xfrm>
            <a:off x="1138739" y="2893711"/>
            <a:ext cx="496132" cy="493858"/>
          </a:xfrm>
          <a:custGeom>
            <a:avLst/>
            <a:gdLst/>
            <a:ahLst/>
            <a:cxnLst/>
            <a:rect l="l" t="t" r="r" b="b"/>
            <a:pathLst>
              <a:path w="496132" h="493858">
                <a:moveTo>
                  <a:pt x="0" y="0"/>
                </a:moveTo>
                <a:lnTo>
                  <a:pt x="496132" y="0"/>
                </a:lnTo>
                <a:lnTo>
                  <a:pt x="496132" y="493858"/>
                </a:lnTo>
                <a:lnTo>
                  <a:pt x="0" y="4938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1EE952-4435-B656-E080-D2E6FE885DB8}"/>
              </a:ext>
            </a:extLst>
          </p:cNvPr>
          <p:cNvSpPr txBox="1"/>
          <p:nvPr/>
        </p:nvSpPr>
        <p:spPr>
          <a:xfrm>
            <a:off x="1670313" y="2926495"/>
            <a:ext cx="1346493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250"/>
              </a:spcBef>
              <a:spcAft>
                <a:spcPts val="1500"/>
              </a:spcAft>
              <a:buNone/>
            </a:pPr>
            <a:r>
              <a:rPr lang="ko-KR" altLang="en-US" sz="2800" i="0">
                <a:effectLst/>
                <a:latin typeface="페이퍼로지 5 Medium" pitchFamily="2" charset="-127"/>
                <a:ea typeface="페이퍼로지 5 Medium" pitchFamily="2" charset="-127"/>
              </a:rPr>
              <a:t>투자의 역설 해소 </a:t>
            </a:r>
            <a:r>
              <a:rPr lang="en-US" altLang="ko-KR" sz="2800" i="0">
                <a:effectLst/>
                <a:latin typeface="페이퍼로지 5 Medium" pitchFamily="2" charset="-127"/>
                <a:ea typeface="페이퍼로지 5 Medium" pitchFamily="2" charset="-127"/>
              </a:rPr>
              <a:t>= </a:t>
            </a:r>
            <a:r>
              <a:rPr lang="ko-KR" altLang="en-US" sz="2800" i="0">
                <a:effectLst/>
                <a:latin typeface="페이퍼로지 5 Medium" pitchFamily="2" charset="-127"/>
                <a:ea typeface="페이퍼로지 5 Medium" pitchFamily="2" charset="-127"/>
              </a:rPr>
              <a:t>규제 폐지</a:t>
            </a:r>
            <a:r>
              <a:rPr lang="en-US" altLang="ko-KR" sz="2800" i="0">
                <a:effectLst/>
                <a:latin typeface="페이퍼로지 5 Medium" pitchFamily="2" charset="-127"/>
                <a:ea typeface="페이퍼로지 5 Medium" pitchFamily="2" charset="-127"/>
              </a:rPr>
              <a:t>, </a:t>
            </a:r>
            <a:r>
              <a:rPr lang="ko-KR" altLang="en-US" sz="2800" i="0">
                <a:effectLst/>
                <a:latin typeface="페이퍼로지 5 Medium" pitchFamily="2" charset="-127"/>
                <a:ea typeface="페이퍼로지 5 Medium" pitchFamily="2" charset="-127"/>
              </a:rPr>
              <a:t>시장 최적 투자로 회귀 → </a:t>
            </a:r>
            <a:r>
              <a:rPr lang="ko-KR" altLang="en-US" sz="2800" i="0">
                <a:solidFill>
                  <a:srgbClr val="FF0000"/>
                </a:solidFill>
                <a:effectLst/>
                <a:latin typeface="페이퍼로지 5 Medium" pitchFamily="2" charset="-127"/>
                <a:ea typeface="페이퍼로지 5 Medium" pitchFamily="2" charset="-127"/>
              </a:rPr>
              <a:t>재투자 여력 확보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552442F-1BD8-CDB2-EEE7-95630C5A94B3}"/>
              </a:ext>
            </a:extLst>
          </p:cNvPr>
          <p:cNvSpPr txBox="1"/>
          <p:nvPr/>
        </p:nvSpPr>
        <p:spPr>
          <a:xfrm>
            <a:off x="1634871" y="3768569"/>
            <a:ext cx="9144000" cy="1585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250"/>
              </a:spcBef>
              <a:spcAft>
                <a:spcPts val="1500"/>
              </a:spcAft>
              <a:buNone/>
            </a:pPr>
            <a:r>
              <a:rPr lang="ko-KR" altLang="en-US" sz="2400" b="1" i="0">
                <a:solidFill>
                  <a:srgbClr val="2A5298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제안</a:t>
            </a:r>
          </a:p>
          <a:p>
            <a:pPr marL="342900" indent="-342900" algn="l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altLang="ko-KR" sz="2400" b="0" i="0">
                <a:solidFill>
                  <a:srgbClr val="4A5568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2025</a:t>
            </a:r>
            <a:r>
              <a:rPr lang="ko-KR" altLang="en-US" sz="2400" b="0" i="0">
                <a:solidFill>
                  <a:srgbClr val="4A5568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년 </a:t>
            </a:r>
            <a:r>
              <a:rPr lang="en-US" altLang="ko-KR" sz="2400" b="0" i="0">
                <a:solidFill>
                  <a:srgbClr val="4A5568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11</a:t>
            </a:r>
            <a:r>
              <a:rPr lang="ko-KR" altLang="en-US" sz="2400" b="0" i="0">
                <a:solidFill>
                  <a:srgbClr val="4A5568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월 </a:t>
            </a:r>
            <a:r>
              <a:rPr lang="en-US" altLang="ko-KR" sz="2400" b="0" i="0">
                <a:solidFill>
                  <a:srgbClr val="4A5568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JTBC </a:t>
            </a:r>
            <a:r>
              <a:rPr lang="ko-KR" altLang="en-US" sz="2400" b="0" i="0">
                <a:solidFill>
                  <a:srgbClr val="4A5568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재승인 계기로 조건 폐지</a:t>
            </a:r>
          </a:p>
          <a:p>
            <a:pPr marL="342900" indent="-342900" algn="l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ko-KR" altLang="en-US" sz="2400" b="0" i="0">
                <a:solidFill>
                  <a:srgbClr val="4A5568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종편 </a:t>
            </a:r>
            <a:r>
              <a:rPr lang="en-US" altLang="ko-KR" sz="2400" b="0" i="0">
                <a:solidFill>
                  <a:srgbClr val="4A5568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4</a:t>
            </a:r>
            <a:r>
              <a:rPr lang="ko-KR" altLang="en-US" sz="2400" b="0" i="0">
                <a:solidFill>
                  <a:srgbClr val="4A5568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사 전체 일괄 적용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3713C24-5A03-DF47-FC01-6153A6AB983B}"/>
              </a:ext>
            </a:extLst>
          </p:cNvPr>
          <p:cNvSpPr txBox="1"/>
          <p:nvPr/>
        </p:nvSpPr>
        <p:spPr>
          <a:xfrm>
            <a:off x="1670313" y="5734618"/>
            <a:ext cx="9144000" cy="4054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250"/>
              </a:spcBef>
              <a:spcAft>
                <a:spcPts val="1500"/>
              </a:spcAft>
              <a:buNone/>
            </a:pPr>
            <a:r>
              <a:rPr lang="ko-KR" altLang="en-US" sz="2400" b="1">
                <a:solidFill>
                  <a:srgbClr val="2A529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근거</a:t>
            </a:r>
          </a:p>
          <a:p>
            <a:pPr marL="285750" indent="-285750" algn="l">
              <a:spcAft>
                <a:spcPts val="1875"/>
              </a:spcAft>
              <a:buFont typeface="Arial" panose="020B0604020202020204" pitchFamily="34" charset="0"/>
              <a:buChar char="•"/>
            </a:pPr>
            <a:r>
              <a:rPr lang="ko-KR" altLang="en-US" b="1" i="0">
                <a:solidFill>
                  <a:srgbClr val="4A5568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정책 목표 이미 달성</a:t>
            </a:r>
            <a:endParaRPr lang="ko-KR" altLang="en-US" b="0" i="0">
              <a:solidFill>
                <a:srgbClr val="4A5568"/>
              </a:solidFill>
              <a:effectLst/>
              <a:latin typeface="페이퍼로지 4 Regular" pitchFamily="2" charset="-127"/>
              <a:ea typeface="페이퍼로지 4 Regular" pitchFamily="2" charset="-127"/>
            </a:endParaRPr>
          </a:p>
          <a:p>
            <a:pPr marL="742950" lvl="1" indent="-285750" algn="l">
              <a:spcAft>
                <a:spcPts val="1875"/>
              </a:spcAft>
              <a:buFont typeface="Arial" panose="020B0604020202020204" pitchFamily="34" charset="0"/>
              <a:buChar char="•"/>
            </a:pPr>
            <a:r>
              <a:rPr lang="en-US" altLang="ko-KR" b="0" i="0">
                <a:solidFill>
                  <a:srgbClr val="4A5568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15</a:t>
            </a:r>
            <a:r>
              <a:rPr lang="ko-KR" altLang="en-US" b="0" i="0">
                <a:solidFill>
                  <a:srgbClr val="4A5568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년간 투자 정착 </a:t>
            </a:r>
            <a:r>
              <a:rPr lang="en-US" altLang="ko-KR" b="0" i="0">
                <a:solidFill>
                  <a:srgbClr val="4A5568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(</a:t>
            </a:r>
            <a:r>
              <a:rPr lang="ko-KR" altLang="en-US" b="0" i="0">
                <a:solidFill>
                  <a:srgbClr val="4A5568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연 </a:t>
            </a:r>
            <a:r>
              <a:rPr lang="en-US" altLang="ko-KR" b="0" i="0">
                <a:solidFill>
                  <a:srgbClr val="4A5568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2,000</a:t>
            </a:r>
            <a:r>
              <a:rPr lang="ko-KR" altLang="en-US" b="0" i="0">
                <a:solidFill>
                  <a:srgbClr val="4A5568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억 규모</a:t>
            </a:r>
            <a:r>
              <a:rPr lang="en-US" altLang="ko-KR" b="0" i="0">
                <a:solidFill>
                  <a:srgbClr val="4A5568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)</a:t>
            </a:r>
          </a:p>
          <a:p>
            <a:pPr marL="742950" lvl="1" indent="-285750" algn="l">
              <a:spcAft>
                <a:spcPts val="1875"/>
              </a:spcAft>
              <a:buFont typeface="Arial" panose="020B0604020202020204" pitchFamily="34" charset="0"/>
              <a:buChar char="•"/>
            </a:pPr>
            <a:r>
              <a:rPr lang="ko-KR" altLang="en-US" b="0" i="0">
                <a:solidFill>
                  <a:srgbClr val="4A5568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목표 달성 후에도 규제 지속 → 불필요</a:t>
            </a:r>
          </a:p>
          <a:p>
            <a:pPr marL="742950" lvl="1" indent="-285750" algn="l">
              <a:spcAft>
                <a:spcPts val="1875"/>
              </a:spcAft>
              <a:buFont typeface="Arial" panose="020B0604020202020204" pitchFamily="34" charset="0"/>
              <a:buChar char="•"/>
            </a:pPr>
            <a:r>
              <a:rPr lang="ko-KR" altLang="en-US" b="1" i="0">
                <a:solidFill>
                  <a:srgbClr val="4A5568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불필요한 규제가 투자의 역설 초래</a:t>
            </a:r>
            <a:endParaRPr lang="ko-KR" altLang="en-US" b="0" i="0">
              <a:solidFill>
                <a:srgbClr val="4A5568"/>
              </a:solidFill>
              <a:effectLst/>
              <a:latin typeface="페이퍼로지 4 Regular" pitchFamily="2" charset="-127"/>
              <a:ea typeface="페이퍼로지 4 Regular" pitchFamily="2" charset="-127"/>
            </a:endParaRPr>
          </a:p>
          <a:p>
            <a:pPr marL="285750" indent="-285750" algn="l">
              <a:spcAft>
                <a:spcPts val="1875"/>
              </a:spcAft>
              <a:buFont typeface="Arial" panose="020B0604020202020204" pitchFamily="34" charset="0"/>
              <a:buChar char="•"/>
            </a:pPr>
            <a:r>
              <a:rPr lang="ko-KR" altLang="en-US" b="1" i="0">
                <a:solidFill>
                  <a:srgbClr val="4A5568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과잉투자 해소</a:t>
            </a:r>
            <a:endParaRPr lang="ko-KR" altLang="en-US" b="0" i="0">
              <a:solidFill>
                <a:srgbClr val="4A5568"/>
              </a:solidFill>
              <a:effectLst/>
              <a:latin typeface="페이퍼로지 4 Regular" pitchFamily="2" charset="-127"/>
              <a:ea typeface="페이퍼로지 4 Regular" pitchFamily="2" charset="-127"/>
            </a:endParaRPr>
          </a:p>
          <a:p>
            <a:pPr marL="742950" lvl="1" indent="-285750" algn="l">
              <a:spcAft>
                <a:spcPts val="1875"/>
              </a:spcAft>
              <a:buFont typeface="Arial" panose="020B0604020202020204" pitchFamily="34" charset="0"/>
              <a:buChar char="•"/>
            </a:pPr>
            <a:r>
              <a:rPr lang="ko-KR" altLang="en-US" b="0" i="0">
                <a:solidFill>
                  <a:srgbClr val="4A5568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시장 최적 수준으로 조정</a:t>
            </a:r>
          </a:p>
          <a:p>
            <a:pPr marL="742950" lvl="1" indent="-285750" algn="l">
              <a:spcAft>
                <a:spcPts val="1875"/>
              </a:spcAft>
              <a:buFont typeface="Arial" panose="020B0604020202020204" pitchFamily="34" charset="0"/>
              <a:buChar char="•"/>
            </a:pPr>
            <a:r>
              <a:rPr lang="ko-KR" altLang="en-US" b="0" i="0">
                <a:solidFill>
                  <a:srgbClr val="4A5568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매출 여건에 맞는 탄력적 투자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13FD2C0-C916-8A88-4428-50B38EBFC829}"/>
              </a:ext>
            </a:extLst>
          </p:cNvPr>
          <p:cNvSpPr txBox="1"/>
          <p:nvPr/>
        </p:nvSpPr>
        <p:spPr>
          <a:xfrm>
            <a:off x="9144000" y="5775655"/>
            <a:ext cx="9144000" cy="4013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spcAft>
                <a:spcPts val="1875"/>
              </a:spcAft>
              <a:buFont typeface="Arial" panose="020B0604020202020204" pitchFamily="34" charset="0"/>
              <a:buChar char="•"/>
            </a:pPr>
            <a:r>
              <a:rPr lang="ko-KR" altLang="en-US" b="1" i="0">
                <a:solidFill>
                  <a:srgbClr val="4A5568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수익성 개선</a:t>
            </a:r>
            <a:endParaRPr lang="ko-KR" altLang="en-US" b="0" i="0">
              <a:solidFill>
                <a:srgbClr val="4A5568"/>
              </a:solidFill>
              <a:effectLst/>
              <a:latin typeface="페이퍼로지 4 Regular" pitchFamily="2" charset="-127"/>
              <a:ea typeface="페이퍼로지 4 Regular" pitchFamily="2" charset="-127"/>
            </a:endParaRPr>
          </a:p>
          <a:p>
            <a:pPr marL="742950" lvl="1" indent="-285750" algn="l">
              <a:spcAft>
                <a:spcPts val="1875"/>
              </a:spcAft>
              <a:buFont typeface="Arial" panose="020B0604020202020204" pitchFamily="34" charset="0"/>
              <a:buChar char="•"/>
            </a:pPr>
            <a:r>
              <a:rPr lang="ko-KR" altLang="en-US" b="0" i="0">
                <a:solidFill>
                  <a:srgbClr val="4A5568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적정 투자 → 영업이익률 회복</a:t>
            </a:r>
          </a:p>
          <a:p>
            <a:pPr marL="285750" indent="-285750" algn="l">
              <a:spcAft>
                <a:spcPts val="1875"/>
              </a:spcAft>
              <a:buFont typeface="Arial" panose="020B0604020202020204" pitchFamily="34" charset="0"/>
              <a:buChar char="•"/>
            </a:pPr>
            <a:r>
              <a:rPr lang="ko-KR" altLang="en-US" b="1" i="0">
                <a:solidFill>
                  <a:srgbClr val="4A5568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재투자 여력 확보</a:t>
            </a:r>
            <a:endParaRPr lang="ko-KR" altLang="en-US" b="0" i="0">
              <a:solidFill>
                <a:srgbClr val="4A5568"/>
              </a:solidFill>
              <a:effectLst/>
              <a:latin typeface="페이퍼로지 4 Regular" pitchFamily="2" charset="-127"/>
              <a:ea typeface="페이퍼로지 4 Regular" pitchFamily="2" charset="-127"/>
            </a:endParaRPr>
          </a:p>
          <a:p>
            <a:pPr marL="742950" lvl="1" indent="-285750" algn="l">
              <a:spcAft>
                <a:spcPts val="1875"/>
              </a:spcAft>
              <a:buFont typeface="Arial" panose="020B0604020202020204" pitchFamily="34" charset="0"/>
              <a:buChar char="•"/>
            </a:pPr>
            <a:r>
              <a:rPr lang="ko-KR" altLang="en-US" b="0" i="0">
                <a:solidFill>
                  <a:srgbClr val="4A5568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높은 수익 → 내부 유보 증가</a:t>
            </a:r>
          </a:p>
          <a:p>
            <a:pPr marL="742950" lvl="1" indent="-285750" algn="l">
              <a:spcAft>
                <a:spcPts val="1875"/>
              </a:spcAft>
              <a:buFont typeface="Arial" panose="020B0604020202020204" pitchFamily="34" charset="0"/>
              <a:buChar char="•"/>
            </a:pPr>
            <a:r>
              <a:rPr lang="ko-KR" altLang="en-US" b="0" i="0">
                <a:solidFill>
                  <a:srgbClr val="4A5568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미래 혁신 투자 재원 확보</a:t>
            </a:r>
          </a:p>
          <a:p>
            <a:pPr marL="285750" indent="-285750" algn="l">
              <a:spcAft>
                <a:spcPts val="1875"/>
              </a:spcAft>
              <a:buFont typeface="Arial" panose="020B0604020202020204" pitchFamily="34" charset="0"/>
              <a:buChar char="•"/>
            </a:pPr>
            <a:r>
              <a:rPr lang="ko-KR" altLang="en-US" b="1" i="0">
                <a:solidFill>
                  <a:srgbClr val="4A5568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구축효과 해소</a:t>
            </a:r>
            <a:endParaRPr lang="ko-KR" altLang="en-US" b="0" i="0">
              <a:solidFill>
                <a:srgbClr val="4A5568"/>
              </a:solidFill>
              <a:effectLst/>
              <a:latin typeface="페이퍼로지 4 Regular" pitchFamily="2" charset="-127"/>
              <a:ea typeface="페이퍼로지 4 Regular" pitchFamily="2" charset="-127"/>
            </a:endParaRPr>
          </a:p>
          <a:p>
            <a:pPr marL="742950" lvl="1" indent="-285750" algn="l">
              <a:spcAft>
                <a:spcPts val="1875"/>
              </a:spcAft>
              <a:buFont typeface="Arial" panose="020B0604020202020204" pitchFamily="34" charset="0"/>
              <a:buChar char="•"/>
            </a:pPr>
            <a:r>
              <a:rPr lang="ko-KR" altLang="en-US" b="0" i="0">
                <a:solidFill>
                  <a:srgbClr val="4A5568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기금 </a:t>
            </a:r>
            <a:r>
              <a:rPr lang="en-US" altLang="ko-KR" b="0" i="0">
                <a:solidFill>
                  <a:srgbClr val="4A5568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431.5</a:t>
            </a:r>
            <a:r>
              <a:rPr lang="ko-KR" altLang="en-US" b="0" i="0">
                <a:solidFill>
                  <a:srgbClr val="4A5568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억 부담 완화</a:t>
            </a:r>
          </a:p>
          <a:p>
            <a:pPr marL="742950" lvl="1" indent="-285750" algn="l">
              <a:spcAft>
                <a:spcPts val="1875"/>
              </a:spcAft>
              <a:buFont typeface="Arial" panose="020B0604020202020204" pitchFamily="34" charset="0"/>
              <a:buChar char="•"/>
            </a:pPr>
            <a:r>
              <a:rPr lang="ko-KR" altLang="en-US" b="0" i="0">
                <a:solidFill>
                  <a:srgbClr val="4A5568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자발적 투자 </a:t>
            </a:r>
            <a:r>
              <a:rPr lang="en-US" altLang="ko-KR" b="0" i="0">
                <a:solidFill>
                  <a:srgbClr val="4A5568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733~1,640</a:t>
            </a:r>
            <a:r>
              <a:rPr lang="ko-KR" altLang="en-US" b="0" i="0">
                <a:solidFill>
                  <a:srgbClr val="4A5568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억 증가</a:t>
            </a:r>
          </a:p>
        </p:txBody>
      </p:sp>
      <p:sp>
        <p:nvSpPr>
          <p:cNvPr id="16" name="슬라이드 번호 개체 틀 15">
            <a:extLst>
              <a:ext uri="{FF2B5EF4-FFF2-40B4-BE49-F238E27FC236}">
                <a16:creationId xmlns:a16="http://schemas.microsoft.com/office/drawing/2014/main" id="{17038E74-5D49-2228-86F8-F895E3D52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1651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07A448-0476-F7AE-1067-5085432A17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0">
            <a:extLst>
              <a:ext uri="{FF2B5EF4-FFF2-40B4-BE49-F238E27FC236}">
                <a16:creationId xmlns:a16="http://schemas.microsoft.com/office/drawing/2014/main" id="{40F10502-38AB-FD6A-247A-6FC3F5FE6A43}"/>
              </a:ext>
            </a:extLst>
          </p:cNvPr>
          <p:cNvSpPr/>
          <p:nvPr/>
        </p:nvSpPr>
        <p:spPr>
          <a:xfrm>
            <a:off x="11855828" y="4687396"/>
            <a:ext cx="6443058" cy="5599604"/>
          </a:xfrm>
          <a:custGeom>
            <a:avLst/>
            <a:gdLst/>
            <a:ahLst/>
            <a:cxnLst/>
            <a:rect l="l" t="t" r="r" b="b"/>
            <a:pathLst>
              <a:path w="6443058" h="5599604">
                <a:moveTo>
                  <a:pt x="0" y="0"/>
                </a:moveTo>
                <a:lnTo>
                  <a:pt x="6443058" y="0"/>
                </a:lnTo>
                <a:lnTo>
                  <a:pt x="6443058" y="5599603"/>
                </a:lnTo>
                <a:lnTo>
                  <a:pt x="0" y="55996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3D9B5009-FD17-6195-DF7A-523E14232C37}"/>
              </a:ext>
            </a:extLst>
          </p:cNvPr>
          <p:cNvSpPr/>
          <p:nvPr/>
        </p:nvSpPr>
        <p:spPr>
          <a:xfrm flipV="1">
            <a:off x="1028700" y="1169525"/>
            <a:ext cx="16230600" cy="0"/>
          </a:xfrm>
          <a:prstGeom prst="line">
            <a:avLst/>
          </a:prstGeom>
          <a:ln w="19050" cap="flat">
            <a:solidFill>
              <a:srgbClr val="D9D9D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EB500167-A7E9-EED7-3E84-83D901D809A3}"/>
              </a:ext>
            </a:extLst>
          </p:cNvPr>
          <p:cNvSpPr txBox="1"/>
          <p:nvPr/>
        </p:nvSpPr>
        <p:spPr>
          <a:xfrm>
            <a:off x="1028700" y="1399848"/>
            <a:ext cx="1502946" cy="11319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579"/>
              </a:lnSpc>
            </a:pPr>
            <a:r>
              <a:rPr lang="en-US" altLang="ko-KR" sz="7983" spc="-239">
                <a:solidFill>
                  <a:srgbClr val="15A9F1"/>
                </a:solidFill>
                <a:latin typeface="페이퍼로지 5 Medium" pitchFamily="2" charset="-127"/>
                <a:ea typeface="페이퍼로지 5 Medium" pitchFamily="2" charset="-127"/>
                <a:cs typeface="Nanum Square Bold"/>
                <a:sym typeface="Nanum Square Bold"/>
              </a:rPr>
              <a:t>05</a:t>
            </a:r>
            <a:endParaRPr lang="en-US" sz="7983" spc="-239">
              <a:solidFill>
                <a:srgbClr val="15A9F1"/>
              </a:solidFill>
              <a:latin typeface="페이퍼로지 5 Medium" pitchFamily="2" charset="-127"/>
              <a:ea typeface="페이퍼로지 5 Medium" pitchFamily="2" charset="-127"/>
              <a:cs typeface="Nanum Square Bold"/>
              <a:sym typeface="Nanum Square Bold"/>
            </a:endParaRP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59F941DF-549F-7E18-7677-8DEE484A223C}"/>
              </a:ext>
            </a:extLst>
          </p:cNvPr>
          <p:cNvSpPr txBox="1"/>
          <p:nvPr/>
        </p:nvSpPr>
        <p:spPr>
          <a:xfrm>
            <a:off x="2531646" y="1626872"/>
            <a:ext cx="14232354" cy="7694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ko-KR" altLang="en-US" sz="5000">
                <a:solidFill>
                  <a:srgbClr val="454444"/>
                </a:solidFill>
                <a:latin typeface="페이퍼로지 5 Medium" pitchFamily="2" charset="-127"/>
                <a:ea typeface="페이퍼로지 5 Medium" pitchFamily="2" charset="-127"/>
                <a:sym typeface="Nanum Square Bold"/>
              </a:rPr>
              <a:t>개선 방향 </a:t>
            </a:r>
            <a:r>
              <a:rPr lang="en-US" altLang="ko-KR" sz="5000">
                <a:solidFill>
                  <a:srgbClr val="454444"/>
                </a:solidFill>
                <a:latin typeface="페이퍼로지 5 Medium" pitchFamily="2" charset="-127"/>
                <a:ea typeface="페이퍼로지 5 Medium" pitchFamily="2" charset="-127"/>
                <a:sym typeface="Nanum Square Bold"/>
              </a:rPr>
              <a:t>– </a:t>
            </a:r>
            <a:r>
              <a:rPr lang="ko-KR" altLang="en-US" sz="5000">
                <a:solidFill>
                  <a:srgbClr val="454444"/>
                </a:solidFill>
                <a:highlight>
                  <a:srgbClr val="FFFF00"/>
                </a:highlight>
                <a:latin typeface="페이퍼로지 5 Medium" pitchFamily="2" charset="-127"/>
                <a:ea typeface="페이퍼로지 5 Medium" pitchFamily="2" charset="-127"/>
              </a:rPr>
              <a:t>매출액 연동형 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F0D16AC5-15EF-914C-3034-EB8E554C2DF2}"/>
              </a:ext>
            </a:extLst>
          </p:cNvPr>
          <p:cNvSpPr txBox="1"/>
          <p:nvPr/>
        </p:nvSpPr>
        <p:spPr>
          <a:xfrm>
            <a:off x="1123950" y="811675"/>
            <a:ext cx="3295650" cy="2239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888"/>
              </a:lnSpc>
            </a:pPr>
            <a:r>
              <a:rPr lang="ko-KR" altLang="en-US" sz="1574">
                <a:solidFill>
                  <a:srgbClr val="545454"/>
                </a:solidFill>
                <a:latin typeface="페이퍼로지 3 Light" pitchFamily="2" charset="-127"/>
                <a:ea typeface="페이퍼로지 3 Light" pitchFamily="2" charset="-127"/>
                <a:cs typeface="Nanum Square"/>
                <a:sym typeface="Nanum Square"/>
              </a:rPr>
              <a:t>한국언론학회 </a:t>
            </a:r>
            <a:r>
              <a:rPr lang="en-US" altLang="ko-KR" sz="1574">
                <a:solidFill>
                  <a:srgbClr val="545454"/>
                </a:solidFill>
                <a:latin typeface="페이퍼로지 3 Light" pitchFamily="2" charset="-127"/>
                <a:ea typeface="페이퍼로지 3 Light" pitchFamily="2" charset="-127"/>
                <a:cs typeface="Nanum Square"/>
                <a:sym typeface="Nanum Square"/>
              </a:rPr>
              <a:t>2025 </a:t>
            </a:r>
            <a:r>
              <a:rPr lang="ko-KR" altLang="en-US" sz="1574">
                <a:solidFill>
                  <a:srgbClr val="545454"/>
                </a:solidFill>
                <a:latin typeface="페이퍼로지 3 Light" pitchFamily="2" charset="-127"/>
                <a:ea typeface="페이퍼로지 3 Light" pitchFamily="2" charset="-127"/>
                <a:cs typeface="Nanum Square"/>
                <a:sym typeface="Nanum Square"/>
              </a:rPr>
              <a:t>가을철 학술대회</a:t>
            </a:r>
            <a:endParaRPr lang="en-US" altLang="ko-KR" sz="1574">
              <a:solidFill>
                <a:srgbClr val="545454"/>
              </a:solidFill>
              <a:latin typeface="페이퍼로지 3 Light" pitchFamily="2" charset="-127"/>
              <a:ea typeface="페이퍼로지 3 Light" pitchFamily="2" charset="-127"/>
              <a:cs typeface="Nanum Square"/>
              <a:sym typeface="Nanum Square"/>
            </a:endParaRPr>
          </a:p>
        </p:txBody>
      </p:sp>
      <p:sp>
        <p:nvSpPr>
          <p:cNvPr id="20" name="TextBox 12">
            <a:extLst>
              <a:ext uri="{FF2B5EF4-FFF2-40B4-BE49-F238E27FC236}">
                <a16:creationId xmlns:a16="http://schemas.microsoft.com/office/drawing/2014/main" id="{F296B7AD-EABD-53C2-4A5E-BCD27FFFDA44}"/>
              </a:ext>
            </a:extLst>
          </p:cNvPr>
          <p:cNvSpPr txBox="1"/>
          <p:nvPr/>
        </p:nvSpPr>
        <p:spPr>
          <a:xfrm>
            <a:off x="15135245" y="792625"/>
            <a:ext cx="2124055" cy="2116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768"/>
              </a:lnSpc>
            </a:pPr>
            <a:r>
              <a:rPr lang="ko-KR" altLang="en-US" sz="1474" b="1">
                <a:solidFill>
                  <a:srgbClr val="545454"/>
                </a:solidFill>
                <a:latin typeface="페이퍼로지 6 SemiBold" pitchFamily="2" charset="-127"/>
                <a:ea typeface="페이퍼로지 6 SemiBold" pitchFamily="2" charset="-127"/>
                <a:cs typeface="Nanum Square Bold"/>
                <a:sym typeface="Nanum Square Bold"/>
              </a:rPr>
              <a:t>선문대학교</a:t>
            </a:r>
            <a:endParaRPr lang="en-US" sz="1474" b="1">
              <a:solidFill>
                <a:srgbClr val="545454"/>
              </a:solidFill>
              <a:latin typeface="페이퍼로지 6 SemiBold" pitchFamily="2" charset="-127"/>
              <a:ea typeface="페이퍼로지 6 SemiBold" pitchFamily="2" charset="-127"/>
              <a:cs typeface="Nanum Square Bold"/>
              <a:sym typeface="Nanum Square Bold"/>
            </a:endParaRPr>
          </a:p>
        </p:txBody>
      </p:sp>
      <p:sp>
        <p:nvSpPr>
          <p:cNvPr id="5" name="Freeform 11">
            <a:extLst>
              <a:ext uri="{FF2B5EF4-FFF2-40B4-BE49-F238E27FC236}">
                <a16:creationId xmlns:a16="http://schemas.microsoft.com/office/drawing/2014/main" id="{F78325CE-EF84-3EDC-232D-FE7065411D35}"/>
              </a:ext>
            </a:extLst>
          </p:cNvPr>
          <p:cNvSpPr/>
          <p:nvPr/>
        </p:nvSpPr>
        <p:spPr>
          <a:xfrm>
            <a:off x="1138739" y="2893711"/>
            <a:ext cx="496132" cy="493858"/>
          </a:xfrm>
          <a:custGeom>
            <a:avLst/>
            <a:gdLst/>
            <a:ahLst/>
            <a:cxnLst/>
            <a:rect l="l" t="t" r="r" b="b"/>
            <a:pathLst>
              <a:path w="496132" h="493858">
                <a:moveTo>
                  <a:pt x="0" y="0"/>
                </a:moveTo>
                <a:lnTo>
                  <a:pt x="496132" y="0"/>
                </a:lnTo>
                <a:lnTo>
                  <a:pt x="496132" y="493858"/>
                </a:lnTo>
                <a:lnTo>
                  <a:pt x="0" y="49385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D02265-01E8-8F5A-4F20-5E30B8535AAE}"/>
              </a:ext>
            </a:extLst>
          </p:cNvPr>
          <p:cNvSpPr txBox="1"/>
          <p:nvPr/>
        </p:nvSpPr>
        <p:spPr>
          <a:xfrm>
            <a:off x="1670313" y="2926495"/>
            <a:ext cx="1346493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250"/>
              </a:spcBef>
              <a:spcAft>
                <a:spcPts val="1500"/>
              </a:spcAft>
              <a:buNone/>
            </a:pPr>
            <a:r>
              <a:rPr lang="ko-KR" altLang="en-US" sz="2800" i="0">
                <a:effectLst/>
                <a:latin typeface="페이퍼로지 5 Medium" pitchFamily="2" charset="-127"/>
                <a:ea typeface="페이퍼로지 5 Medium" pitchFamily="2" charset="-127"/>
              </a:rPr>
              <a:t>매출에 연동하여 자동 조정 </a:t>
            </a:r>
            <a:r>
              <a:rPr lang="en-US" altLang="ko-KR" sz="2800" i="0">
                <a:effectLst/>
                <a:latin typeface="페이퍼로지 5 Medium" pitchFamily="2" charset="-127"/>
                <a:ea typeface="페이퍼로지 5 Medium" pitchFamily="2" charset="-127"/>
                <a:sym typeface="Wingdings" panose="05000000000000000000" pitchFamily="2" charset="2"/>
              </a:rPr>
              <a:t> </a:t>
            </a:r>
            <a:r>
              <a:rPr lang="ko-KR" altLang="en-US" sz="2800" i="0">
                <a:effectLst/>
                <a:latin typeface="페이퍼로지 5 Medium" pitchFamily="2" charset="-127"/>
                <a:ea typeface="페이퍼로지 5 Medium" pitchFamily="2" charset="-127"/>
              </a:rPr>
              <a:t>과잉투자 방지 </a:t>
            </a:r>
            <a:r>
              <a:rPr lang="en-US" altLang="ko-KR" sz="2800" i="0">
                <a:effectLst/>
                <a:latin typeface="페이퍼로지 5 Medium" pitchFamily="2" charset="-127"/>
                <a:ea typeface="페이퍼로지 5 Medium" pitchFamily="2" charset="-127"/>
              </a:rPr>
              <a:t>+ </a:t>
            </a:r>
            <a:r>
              <a:rPr lang="ko-KR" altLang="en-US" sz="2800" i="0">
                <a:effectLst/>
                <a:latin typeface="페이퍼로지 5 Medium" pitchFamily="2" charset="-127"/>
                <a:ea typeface="페이퍼로지 5 Medium" pitchFamily="2" charset="-127"/>
              </a:rPr>
              <a:t>재투자 여력 보존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F1E40F-709B-AA5A-8BC7-749422AC59B3}"/>
              </a:ext>
            </a:extLst>
          </p:cNvPr>
          <p:cNvSpPr txBox="1"/>
          <p:nvPr/>
        </p:nvSpPr>
        <p:spPr>
          <a:xfrm>
            <a:off x="1634870" y="3768569"/>
            <a:ext cx="11395329" cy="32701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250"/>
              </a:spcBef>
              <a:spcAft>
                <a:spcPts val="1500"/>
              </a:spcAft>
              <a:buNone/>
            </a:pPr>
            <a:r>
              <a:rPr lang="ko-KR" altLang="en-US" sz="2400" b="1" i="0">
                <a:solidFill>
                  <a:srgbClr val="2A5298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제안</a:t>
            </a:r>
          </a:p>
          <a:p>
            <a:pPr marL="342900" indent="-342900" algn="l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ko-KR" altLang="en-US" sz="2400" b="0" i="0">
                <a:solidFill>
                  <a:srgbClr val="4A5568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방송사업매출액의 일정 비율 이상 투자 </a:t>
            </a:r>
            <a:r>
              <a:rPr lang="en-US" altLang="ko-KR" sz="2400" b="0" i="0">
                <a:solidFill>
                  <a:srgbClr val="4A5568"/>
                </a:solidFill>
                <a:effectLst/>
                <a:latin typeface="페이퍼로지 4 Regular" pitchFamily="2" charset="-127"/>
                <a:ea typeface="페이퍼로지 4 Regular" pitchFamily="2" charset="-127"/>
                <a:sym typeface="Wingdings" panose="05000000000000000000" pitchFamily="2" charset="2"/>
              </a:rPr>
              <a:t> </a:t>
            </a:r>
            <a:r>
              <a:rPr lang="ko-KR" altLang="en-US" sz="2400" b="0" i="0">
                <a:solidFill>
                  <a:srgbClr val="4A5568"/>
                </a:solidFill>
                <a:effectLst/>
                <a:latin typeface="페이퍼로지 4 Regular" pitchFamily="2" charset="-127"/>
                <a:ea typeface="페이퍼로지 4 Regular" pitchFamily="2" charset="-127"/>
                <a:sym typeface="Wingdings" panose="05000000000000000000" pitchFamily="2" charset="2"/>
              </a:rPr>
              <a:t>콘텐츠 투자비 ≥ 방송사업매출액 </a:t>
            </a:r>
            <a:r>
              <a:rPr lang="en-US" altLang="ko-KR" sz="2400" b="0" i="0">
                <a:solidFill>
                  <a:srgbClr val="4A5568"/>
                </a:solidFill>
                <a:effectLst/>
                <a:latin typeface="페이퍼로지 4 Regular" pitchFamily="2" charset="-127"/>
                <a:ea typeface="페이퍼로지 4 Regular" pitchFamily="2" charset="-127"/>
                <a:sym typeface="Wingdings" panose="05000000000000000000" pitchFamily="2" charset="2"/>
              </a:rPr>
              <a:t>× 60%</a:t>
            </a:r>
            <a:endParaRPr lang="ko-KR" altLang="en-US" sz="2400" b="0" i="0">
              <a:solidFill>
                <a:srgbClr val="4A5568"/>
              </a:solidFill>
              <a:effectLst/>
              <a:latin typeface="페이퍼로지 4 Regular" pitchFamily="2" charset="-127"/>
              <a:ea typeface="페이퍼로지 4 Regular" pitchFamily="2" charset="-127"/>
            </a:endParaRPr>
          </a:p>
          <a:p>
            <a:pPr marL="342900" indent="-342900" algn="l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altLang="ko-KR" sz="2400" b="0" i="0">
                <a:solidFill>
                  <a:srgbClr val="4A5568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5</a:t>
            </a:r>
            <a:r>
              <a:rPr lang="ko-KR" altLang="en-US" sz="2400" b="0" i="0">
                <a:solidFill>
                  <a:srgbClr val="4A5568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가지 통계기법 수렴</a:t>
            </a:r>
            <a:r>
              <a:rPr lang="en-US" altLang="ko-KR" sz="2400" b="0" i="0">
                <a:solidFill>
                  <a:srgbClr val="4A5568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: </a:t>
            </a:r>
            <a:r>
              <a:rPr lang="ko-KR" altLang="en-US" sz="2400" b="0" i="0">
                <a:solidFill>
                  <a:srgbClr val="4A5568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신뢰구간</a:t>
            </a:r>
            <a:r>
              <a:rPr lang="en-US" altLang="ko-KR" sz="2400" b="0" i="0">
                <a:solidFill>
                  <a:srgbClr val="4A5568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2400" b="0" i="0">
                <a:solidFill>
                  <a:srgbClr val="4A5568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위험조정</a:t>
            </a:r>
            <a:r>
              <a:rPr lang="en-US" altLang="ko-KR" sz="2400" b="0" i="0">
                <a:solidFill>
                  <a:srgbClr val="4A5568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2400" b="0" i="0">
                <a:solidFill>
                  <a:srgbClr val="4A5568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백분위</a:t>
            </a:r>
            <a:r>
              <a:rPr lang="en-US" altLang="ko-KR" sz="2400" b="0" i="0">
                <a:solidFill>
                  <a:srgbClr val="4A5568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2400" b="0" i="0">
                <a:solidFill>
                  <a:srgbClr val="4A5568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추세분석</a:t>
            </a:r>
            <a:r>
              <a:rPr lang="en-US" altLang="ko-KR" sz="2400" b="0" i="0">
                <a:solidFill>
                  <a:srgbClr val="4A5568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2400" b="0" i="0">
                <a:solidFill>
                  <a:srgbClr val="4A5568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절사평균 등</a:t>
            </a:r>
          </a:p>
          <a:p>
            <a:pPr marL="342900" indent="-342900" algn="l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ko-KR" altLang="en-US" sz="2400" b="0" i="0">
                <a:solidFill>
                  <a:srgbClr val="4A5568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위험조정법</a:t>
            </a:r>
            <a:r>
              <a:rPr lang="en-US" altLang="ko-KR" sz="2400" b="0" i="0">
                <a:solidFill>
                  <a:srgbClr val="4A5568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: μ - 1.25σ = 60% (</a:t>
            </a:r>
            <a:r>
              <a:rPr lang="ko-KR" altLang="en-US" sz="2400" b="0" i="0">
                <a:solidFill>
                  <a:srgbClr val="4A5568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시장 변동성 수용</a:t>
            </a:r>
            <a:r>
              <a:rPr lang="en-US" altLang="ko-KR" sz="2400" b="0" i="0">
                <a:solidFill>
                  <a:srgbClr val="4A5568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)</a:t>
            </a:r>
          </a:p>
          <a:p>
            <a:pPr marL="342900" indent="-342900" algn="l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ko-KR" altLang="en-US" sz="2400" b="0" i="0">
                <a:solidFill>
                  <a:srgbClr val="4A5568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백분위 근거</a:t>
            </a:r>
            <a:r>
              <a:rPr lang="en-US" altLang="ko-KR" sz="2400" b="0" i="0">
                <a:solidFill>
                  <a:srgbClr val="4A5568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: 5% </a:t>
            </a:r>
            <a:r>
              <a:rPr lang="ko-KR" altLang="en-US" sz="2400" b="0" i="0">
                <a:solidFill>
                  <a:srgbClr val="4A5568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백분위</a:t>
            </a:r>
            <a:r>
              <a:rPr lang="en-US" altLang="ko-KR" sz="2400" b="0" i="0">
                <a:solidFill>
                  <a:srgbClr val="4A5568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(61.36%) </a:t>
            </a:r>
            <a:r>
              <a:rPr lang="ko-KR" altLang="en-US" sz="2400" b="0" i="0">
                <a:solidFill>
                  <a:srgbClr val="4A5568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근접 → 상위 </a:t>
            </a:r>
            <a:r>
              <a:rPr lang="en-US" altLang="ko-KR" sz="2400" b="0" i="0">
                <a:solidFill>
                  <a:srgbClr val="4A5568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95% </a:t>
            </a:r>
            <a:r>
              <a:rPr lang="ko-KR" altLang="en-US" sz="2400" b="0" i="0">
                <a:solidFill>
                  <a:srgbClr val="4A5568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성과 유지</a:t>
            </a:r>
          </a:p>
          <a:p>
            <a:pPr marL="342900" indent="-342900" algn="l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ko-KR" altLang="en-US" sz="2400" b="0" i="0">
                <a:solidFill>
                  <a:srgbClr val="4A5568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현실 반영</a:t>
            </a:r>
            <a:r>
              <a:rPr lang="en-US" altLang="ko-KR" sz="2400" b="0" i="0">
                <a:solidFill>
                  <a:srgbClr val="4A5568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: </a:t>
            </a:r>
            <a:r>
              <a:rPr lang="ko-KR" altLang="en-US" sz="2400" b="0" i="0">
                <a:solidFill>
                  <a:srgbClr val="4A5568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최근 </a:t>
            </a:r>
            <a:r>
              <a:rPr lang="en-US" altLang="ko-KR" sz="2400" b="0" i="0">
                <a:solidFill>
                  <a:srgbClr val="4A5568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5</a:t>
            </a:r>
            <a:r>
              <a:rPr lang="ko-KR" altLang="en-US" sz="2400" b="0" i="0">
                <a:solidFill>
                  <a:srgbClr val="4A5568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년 평균</a:t>
            </a:r>
            <a:r>
              <a:rPr lang="en-US" altLang="ko-KR" sz="2400" b="0" i="0">
                <a:solidFill>
                  <a:srgbClr val="4A5568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(76.41%) </a:t>
            </a:r>
            <a:r>
              <a:rPr lang="ko-KR" altLang="en-US" sz="2400" b="0" i="0">
                <a:solidFill>
                  <a:srgbClr val="4A5568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대비 적정 버퍼</a:t>
            </a:r>
            <a:r>
              <a:rPr lang="en-US" altLang="ko-KR" sz="2400" b="0" i="0">
                <a:solidFill>
                  <a:srgbClr val="4A5568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(16%p)</a:t>
            </a:r>
            <a:endParaRPr lang="ko-KR" altLang="en-US" sz="2400" b="0" i="0">
              <a:solidFill>
                <a:srgbClr val="4A5568"/>
              </a:solidFill>
              <a:effectLst/>
              <a:latin typeface="페이퍼로지 4 Regular" pitchFamily="2" charset="-127"/>
              <a:ea typeface="페이퍼로지 4 Regular" pitchFamily="2" charset="-127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AA4680A5-749F-B019-0873-638D197A2D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9469918"/>
              </p:ext>
            </p:extLst>
          </p:nvPr>
        </p:nvGraphicFramePr>
        <p:xfrm>
          <a:off x="1905000" y="7479190"/>
          <a:ext cx="15354300" cy="2016999"/>
        </p:xfrm>
        <a:graphic>
          <a:graphicData uri="http://schemas.openxmlformats.org/drawingml/2006/table">
            <a:tbl>
              <a:tblPr/>
              <a:tblGrid>
                <a:gridCol w="3838575">
                  <a:extLst>
                    <a:ext uri="{9D8B030D-6E8A-4147-A177-3AD203B41FA5}">
                      <a16:colId xmlns:a16="http://schemas.microsoft.com/office/drawing/2014/main" val="2158710545"/>
                    </a:ext>
                  </a:extLst>
                </a:gridCol>
                <a:gridCol w="3838575">
                  <a:extLst>
                    <a:ext uri="{9D8B030D-6E8A-4147-A177-3AD203B41FA5}">
                      <a16:colId xmlns:a16="http://schemas.microsoft.com/office/drawing/2014/main" val="3036030432"/>
                    </a:ext>
                  </a:extLst>
                </a:gridCol>
                <a:gridCol w="3838575">
                  <a:extLst>
                    <a:ext uri="{9D8B030D-6E8A-4147-A177-3AD203B41FA5}">
                      <a16:colId xmlns:a16="http://schemas.microsoft.com/office/drawing/2014/main" val="1678101559"/>
                    </a:ext>
                  </a:extLst>
                </a:gridCol>
                <a:gridCol w="3838575">
                  <a:extLst>
                    <a:ext uri="{9D8B030D-6E8A-4147-A177-3AD203B41FA5}">
                      <a16:colId xmlns:a16="http://schemas.microsoft.com/office/drawing/2014/main" val="1999933775"/>
                    </a:ext>
                  </a:extLst>
                </a:gridCol>
              </a:tblGrid>
              <a:tr h="43991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800" b="0">
                          <a:solidFill>
                            <a:srgbClr val="FFFFFF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상황</a:t>
                      </a:r>
                    </a:p>
                  </a:txBody>
                  <a:tcPr marL="112222" marR="112222" marT="112222" marB="1122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A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800" b="0">
                          <a:solidFill>
                            <a:srgbClr val="FFFFFF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매출액</a:t>
                      </a:r>
                    </a:p>
                  </a:txBody>
                  <a:tcPr marL="112222" marR="112222" marT="112222" marB="1122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A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800" b="0">
                          <a:solidFill>
                            <a:srgbClr val="FFFFFF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투자 </a:t>
                      </a:r>
                      <a:r>
                        <a:rPr lang="en-US" altLang="ko-KR" sz="1800" b="0">
                          <a:solidFill>
                            <a:srgbClr val="FFFFFF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(60%)</a:t>
                      </a:r>
                    </a:p>
                  </a:txBody>
                  <a:tcPr marL="112222" marR="112222" marT="112222" marB="1122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A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800" b="0">
                          <a:solidFill>
                            <a:srgbClr val="FFFFFF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효과</a:t>
                      </a:r>
                    </a:p>
                  </a:txBody>
                  <a:tcPr marL="112222" marR="112222" marT="112222" marB="11222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A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6283446"/>
                  </a:ext>
                </a:extLst>
              </a:tr>
              <a:tr h="39502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800" b="0"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정상</a:t>
                      </a:r>
                    </a:p>
                  </a:txBody>
                  <a:tcPr marL="89777" marR="89777" marT="89777" marB="897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800" b="0"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3,500</a:t>
                      </a:r>
                      <a:r>
                        <a:rPr lang="ko-KR" altLang="en-US" sz="1800" b="0"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억</a:t>
                      </a:r>
                    </a:p>
                  </a:txBody>
                  <a:tcPr marL="89777" marR="89777" marT="89777" marB="897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800" b="0"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2,100</a:t>
                      </a:r>
                      <a:r>
                        <a:rPr lang="ko-KR" altLang="en-US" sz="1800" b="0"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억</a:t>
                      </a:r>
                    </a:p>
                  </a:txBody>
                  <a:tcPr marL="89777" marR="89777" marT="89777" marB="897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800" b="0"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적정 수준 유지</a:t>
                      </a:r>
                    </a:p>
                  </a:txBody>
                  <a:tcPr marL="89777" marR="89777" marT="89777" marB="897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1366846"/>
                  </a:ext>
                </a:extLst>
              </a:tr>
              <a:tr h="61048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800" b="0"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매출 감소</a:t>
                      </a:r>
                    </a:p>
                  </a:txBody>
                  <a:tcPr marL="89777" marR="89777" marT="89777" marB="8977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800" b="0"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2,800</a:t>
                      </a:r>
                      <a:r>
                        <a:rPr lang="ko-KR" altLang="en-US" sz="1800" b="0"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억</a:t>
                      </a:r>
                    </a:p>
                  </a:txBody>
                  <a:tcPr marL="89777" marR="89777" marT="89777" marB="8977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800" b="0"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1,680</a:t>
                      </a:r>
                      <a:r>
                        <a:rPr lang="ko-KR" altLang="en-US" sz="1800" b="0"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억 </a:t>
                      </a:r>
                      <a:r>
                        <a:rPr lang="en-US" altLang="ko-KR" sz="1800" b="0"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(</a:t>
                      </a:r>
                      <a:r>
                        <a:rPr lang="ko-KR" altLang="en-US" sz="1800" b="0"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자동 감소</a:t>
                      </a:r>
                      <a:r>
                        <a:rPr lang="en-US" altLang="ko-KR" sz="1800" b="0"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)</a:t>
                      </a:r>
                    </a:p>
                  </a:txBody>
                  <a:tcPr marL="89777" marR="89777" marT="89777" marB="8977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800" b="0"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과잉투자 방지 </a:t>
                      </a:r>
                      <a:r>
                        <a:rPr lang="en-US" altLang="ko-KR" sz="1800" b="0"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+ </a:t>
                      </a:r>
                      <a:r>
                        <a:rPr lang="ko-KR" altLang="en-US" sz="1800" b="0"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재무 안정</a:t>
                      </a:r>
                    </a:p>
                  </a:txBody>
                  <a:tcPr marL="89777" marR="89777" marT="89777" marB="8977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9823653"/>
                  </a:ext>
                </a:extLst>
              </a:tr>
              <a:tr h="39502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800" b="0"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매출 증가</a:t>
                      </a:r>
                    </a:p>
                  </a:txBody>
                  <a:tcPr marL="89777" marR="89777" marT="89777" marB="8977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800" b="0"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4,000</a:t>
                      </a:r>
                      <a:r>
                        <a:rPr lang="ko-KR" altLang="en-US" sz="1800" b="0"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억</a:t>
                      </a:r>
                    </a:p>
                  </a:txBody>
                  <a:tcPr marL="89777" marR="89777" marT="89777" marB="8977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800" b="0"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2,400</a:t>
                      </a:r>
                      <a:r>
                        <a:rPr lang="ko-KR" altLang="en-US" sz="1800" b="0"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억 </a:t>
                      </a:r>
                      <a:r>
                        <a:rPr lang="en-US" altLang="ko-KR" sz="1800" b="0"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(</a:t>
                      </a:r>
                      <a:r>
                        <a:rPr lang="ko-KR" altLang="en-US" sz="1800" b="0"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자동 증가</a:t>
                      </a:r>
                      <a:r>
                        <a:rPr lang="en-US" altLang="ko-KR" sz="1800" b="0"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)</a:t>
                      </a:r>
                    </a:p>
                  </a:txBody>
                  <a:tcPr marL="89777" marR="89777" marT="89777" marB="8977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800" b="0"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투자 확대 </a:t>
                      </a:r>
                      <a:r>
                        <a:rPr lang="en-US" altLang="ko-KR" sz="1800" b="0"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+ </a:t>
                      </a:r>
                      <a:r>
                        <a:rPr lang="ko-KR" altLang="en-US" sz="1800" b="0"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품질 향상</a:t>
                      </a:r>
                    </a:p>
                  </a:txBody>
                  <a:tcPr marL="89777" marR="89777" marT="89777" marB="8977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465170"/>
                  </a:ext>
                </a:extLst>
              </a:tr>
            </a:tbl>
          </a:graphicData>
        </a:graphic>
      </p:graphicFrame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4BA54EDE-0EC7-C0EA-B00E-55FA7BD8D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80345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4E9247-8619-DC2F-62FC-FFBC332C9A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147BA779-7592-26D6-8E90-21F6F051450D}"/>
              </a:ext>
            </a:extLst>
          </p:cNvPr>
          <p:cNvSpPr/>
          <p:nvPr/>
        </p:nvSpPr>
        <p:spPr>
          <a:xfrm flipV="1">
            <a:off x="1028700" y="1169525"/>
            <a:ext cx="16230600" cy="0"/>
          </a:xfrm>
          <a:prstGeom prst="line">
            <a:avLst/>
          </a:prstGeom>
          <a:ln w="19050" cap="flat">
            <a:solidFill>
              <a:srgbClr val="D9D9D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EB379BC5-6888-650C-36F5-2371877DC24C}"/>
              </a:ext>
            </a:extLst>
          </p:cNvPr>
          <p:cNvSpPr txBox="1"/>
          <p:nvPr/>
        </p:nvSpPr>
        <p:spPr>
          <a:xfrm>
            <a:off x="1028700" y="1399848"/>
            <a:ext cx="1502946" cy="11319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579"/>
              </a:lnSpc>
            </a:pPr>
            <a:r>
              <a:rPr lang="en-US" altLang="ko-KR" sz="7983" spc="-239">
                <a:solidFill>
                  <a:srgbClr val="15A9F1"/>
                </a:solidFill>
                <a:latin typeface="페이퍼로지 5 Medium" pitchFamily="2" charset="-127"/>
                <a:ea typeface="페이퍼로지 5 Medium" pitchFamily="2" charset="-127"/>
                <a:cs typeface="Nanum Square Bold"/>
                <a:sym typeface="Nanum Square Bold"/>
              </a:rPr>
              <a:t>05</a:t>
            </a:r>
            <a:endParaRPr lang="en-US" sz="7983" spc="-239">
              <a:solidFill>
                <a:srgbClr val="15A9F1"/>
              </a:solidFill>
              <a:latin typeface="페이퍼로지 5 Medium" pitchFamily="2" charset="-127"/>
              <a:ea typeface="페이퍼로지 5 Medium" pitchFamily="2" charset="-127"/>
              <a:cs typeface="Nanum Square Bold"/>
              <a:sym typeface="Nanum Square Bold"/>
            </a:endParaRP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A17AAF92-CBDE-D996-E52A-000071FF854D}"/>
              </a:ext>
            </a:extLst>
          </p:cNvPr>
          <p:cNvSpPr txBox="1"/>
          <p:nvPr/>
        </p:nvSpPr>
        <p:spPr>
          <a:xfrm>
            <a:off x="2531646" y="1626872"/>
            <a:ext cx="14232354" cy="7694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ko-KR" altLang="en-US" sz="5000">
                <a:solidFill>
                  <a:srgbClr val="454444"/>
                </a:solidFill>
                <a:latin typeface="페이퍼로지 5 Medium" pitchFamily="2" charset="-127"/>
                <a:ea typeface="페이퍼로지 5 Medium" pitchFamily="2" charset="-127"/>
                <a:sym typeface="Nanum Square Bold"/>
              </a:rPr>
              <a:t>개선 방향 </a:t>
            </a:r>
            <a:r>
              <a:rPr lang="en-US" altLang="ko-KR" sz="5000">
                <a:solidFill>
                  <a:srgbClr val="454444"/>
                </a:solidFill>
                <a:latin typeface="페이퍼로지 5 Medium" pitchFamily="2" charset="-127"/>
                <a:ea typeface="페이퍼로지 5 Medium" pitchFamily="2" charset="-127"/>
                <a:sym typeface="Nanum Square Bold"/>
              </a:rPr>
              <a:t>– </a:t>
            </a:r>
            <a:r>
              <a:rPr lang="ko-KR" altLang="en-US" sz="5000">
                <a:solidFill>
                  <a:srgbClr val="454444"/>
                </a:solidFill>
                <a:highlight>
                  <a:srgbClr val="FFFF00"/>
                </a:highlight>
                <a:latin typeface="페이퍼로지 5 Medium" pitchFamily="2" charset="-127"/>
                <a:ea typeface="페이퍼로지 5 Medium" pitchFamily="2" charset="-127"/>
              </a:rPr>
              <a:t>재승인 기간 확대 </a:t>
            </a:r>
            <a:r>
              <a:rPr lang="en-US" altLang="ko-KR" sz="5000">
                <a:solidFill>
                  <a:srgbClr val="454444"/>
                </a:solidFill>
                <a:highlight>
                  <a:srgbClr val="FFFF00"/>
                </a:highlight>
                <a:latin typeface="페이퍼로지 5 Medium" pitchFamily="2" charset="-127"/>
                <a:ea typeface="페이퍼로지 5 Medium" pitchFamily="2" charset="-127"/>
              </a:rPr>
              <a:t>+ </a:t>
            </a:r>
            <a:r>
              <a:rPr lang="ko-KR" altLang="en-US" sz="5000">
                <a:solidFill>
                  <a:srgbClr val="454444"/>
                </a:solidFill>
                <a:highlight>
                  <a:srgbClr val="FFFF00"/>
                </a:highlight>
                <a:latin typeface="페이퍼로지 5 Medium" pitchFamily="2" charset="-127"/>
                <a:ea typeface="페이퍼로지 5 Medium" pitchFamily="2" charset="-127"/>
              </a:rPr>
              <a:t>총량 평가 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7456B686-562B-9F9F-2390-7FAB791DD14E}"/>
              </a:ext>
            </a:extLst>
          </p:cNvPr>
          <p:cNvSpPr txBox="1"/>
          <p:nvPr/>
        </p:nvSpPr>
        <p:spPr>
          <a:xfrm>
            <a:off x="1123950" y="811675"/>
            <a:ext cx="3295650" cy="2239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888"/>
              </a:lnSpc>
            </a:pPr>
            <a:r>
              <a:rPr lang="ko-KR" altLang="en-US" sz="1574">
                <a:solidFill>
                  <a:srgbClr val="545454"/>
                </a:solidFill>
                <a:latin typeface="페이퍼로지 3 Light" pitchFamily="2" charset="-127"/>
                <a:ea typeface="페이퍼로지 3 Light" pitchFamily="2" charset="-127"/>
                <a:cs typeface="Nanum Square"/>
                <a:sym typeface="Nanum Square"/>
              </a:rPr>
              <a:t>한국언론학회 </a:t>
            </a:r>
            <a:r>
              <a:rPr lang="en-US" altLang="ko-KR" sz="1574">
                <a:solidFill>
                  <a:srgbClr val="545454"/>
                </a:solidFill>
                <a:latin typeface="페이퍼로지 3 Light" pitchFamily="2" charset="-127"/>
                <a:ea typeface="페이퍼로지 3 Light" pitchFamily="2" charset="-127"/>
                <a:cs typeface="Nanum Square"/>
                <a:sym typeface="Nanum Square"/>
              </a:rPr>
              <a:t>2025 </a:t>
            </a:r>
            <a:r>
              <a:rPr lang="ko-KR" altLang="en-US" sz="1574">
                <a:solidFill>
                  <a:srgbClr val="545454"/>
                </a:solidFill>
                <a:latin typeface="페이퍼로지 3 Light" pitchFamily="2" charset="-127"/>
                <a:ea typeface="페이퍼로지 3 Light" pitchFamily="2" charset="-127"/>
                <a:cs typeface="Nanum Square"/>
                <a:sym typeface="Nanum Square"/>
              </a:rPr>
              <a:t>가을철 학술대회</a:t>
            </a:r>
            <a:endParaRPr lang="en-US" altLang="ko-KR" sz="1574">
              <a:solidFill>
                <a:srgbClr val="545454"/>
              </a:solidFill>
              <a:latin typeface="페이퍼로지 3 Light" pitchFamily="2" charset="-127"/>
              <a:ea typeface="페이퍼로지 3 Light" pitchFamily="2" charset="-127"/>
              <a:cs typeface="Nanum Square"/>
              <a:sym typeface="Nanum Square"/>
            </a:endParaRPr>
          </a:p>
        </p:txBody>
      </p:sp>
      <p:sp>
        <p:nvSpPr>
          <p:cNvPr id="20" name="TextBox 12">
            <a:extLst>
              <a:ext uri="{FF2B5EF4-FFF2-40B4-BE49-F238E27FC236}">
                <a16:creationId xmlns:a16="http://schemas.microsoft.com/office/drawing/2014/main" id="{4BBC665F-57A4-976F-5A2B-4B15A74974BC}"/>
              </a:ext>
            </a:extLst>
          </p:cNvPr>
          <p:cNvSpPr txBox="1"/>
          <p:nvPr/>
        </p:nvSpPr>
        <p:spPr>
          <a:xfrm>
            <a:off x="15135245" y="792625"/>
            <a:ext cx="2124055" cy="2116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768"/>
              </a:lnSpc>
            </a:pPr>
            <a:r>
              <a:rPr lang="ko-KR" altLang="en-US" sz="1474" b="1">
                <a:solidFill>
                  <a:srgbClr val="545454"/>
                </a:solidFill>
                <a:latin typeface="페이퍼로지 6 SemiBold" pitchFamily="2" charset="-127"/>
                <a:ea typeface="페이퍼로지 6 SemiBold" pitchFamily="2" charset="-127"/>
                <a:cs typeface="Nanum Square Bold"/>
                <a:sym typeface="Nanum Square Bold"/>
              </a:rPr>
              <a:t>선문대학교</a:t>
            </a:r>
            <a:endParaRPr lang="en-US" sz="1474" b="1">
              <a:solidFill>
                <a:srgbClr val="545454"/>
              </a:solidFill>
              <a:latin typeface="페이퍼로지 6 SemiBold" pitchFamily="2" charset="-127"/>
              <a:ea typeface="페이퍼로지 6 SemiBold" pitchFamily="2" charset="-127"/>
              <a:cs typeface="Nanum Square Bold"/>
              <a:sym typeface="Nanum Square Bold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99ED06E6-5AB0-3243-8DDE-4A93EB7676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2637797"/>
            <a:ext cx="14318073" cy="169568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B460C78-91B6-3C10-333C-E5CAA4EEF2C8}"/>
              </a:ext>
            </a:extLst>
          </p:cNvPr>
          <p:cNvSpPr txBox="1"/>
          <p:nvPr/>
        </p:nvSpPr>
        <p:spPr>
          <a:xfrm>
            <a:off x="1712686" y="4330346"/>
            <a:ext cx="1139532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250"/>
              </a:spcBef>
              <a:spcAft>
                <a:spcPts val="1500"/>
              </a:spcAft>
              <a:buNone/>
            </a:pPr>
            <a:r>
              <a:rPr lang="ko-KR" altLang="en-US" sz="2400" b="1" i="0">
                <a:solidFill>
                  <a:srgbClr val="2A5298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제안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DBD22BD9-C0D7-68AC-0B93-B32165A312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6400" y="4684268"/>
            <a:ext cx="14451442" cy="2600688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19FE1C4E-C890-2223-B45D-26ABFD884FA1}"/>
              </a:ext>
            </a:extLst>
          </p:cNvPr>
          <p:cNvSpPr txBox="1"/>
          <p:nvPr/>
        </p:nvSpPr>
        <p:spPr>
          <a:xfrm>
            <a:off x="1734457" y="7439847"/>
            <a:ext cx="1139532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250"/>
              </a:spcBef>
              <a:spcAft>
                <a:spcPts val="1500"/>
              </a:spcAft>
              <a:buNone/>
            </a:pPr>
            <a:r>
              <a:rPr lang="ko-KR" altLang="en-US" sz="2400" b="1">
                <a:solidFill>
                  <a:srgbClr val="2A5298"/>
                </a:solidFill>
                <a:latin typeface="페이퍼로지 4 Regular" pitchFamily="2" charset="-127"/>
                <a:ea typeface="페이퍼로지 4 Regular" pitchFamily="2" charset="-127"/>
              </a:rPr>
              <a:t>개선방안</a:t>
            </a:r>
            <a:endParaRPr lang="ko-KR" altLang="en-US" sz="2400" b="1" i="0">
              <a:solidFill>
                <a:srgbClr val="2A5298"/>
              </a:solidFill>
              <a:effectLst/>
              <a:latin typeface="페이퍼로지 4 Regular" pitchFamily="2" charset="-127"/>
              <a:ea typeface="페이퍼로지 4 Regular" pitchFamily="2" charset="-127"/>
            </a:endParaRPr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5F0CE282-2F46-E6FA-8394-8105668FBD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4457" y="8025560"/>
            <a:ext cx="14346652" cy="1476581"/>
          </a:xfrm>
          <a:prstGeom prst="rect">
            <a:avLst/>
          </a:prstGeom>
        </p:spPr>
      </p:pic>
      <p:sp>
        <p:nvSpPr>
          <p:cNvPr id="32" name="슬라이드 번호 개체 틀 31">
            <a:extLst>
              <a:ext uri="{FF2B5EF4-FFF2-40B4-BE49-F238E27FC236}">
                <a16:creationId xmlns:a16="http://schemas.microsoft.com/office/drawing/2014/main" id="{815C9A41-DB9E-9301-DB28-56DB790BE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26662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B9B357-A6EC-5093-A25C-6A41BB1814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2C053C5D-D1D0-F3F7-CA81-E39614A4FC3B}"/>
              </a:ext>
            </a:extLst>
          </p:cNvPr>
          <p:cNvSpPr/>
          <p:nvPr/>
        </p:nvSpPr>
        <p:spPr>
          <a:xfrm flipV="1">
            <a:off x="1028700" y="1169525"/>
            <a:ext cx="16230600" cy="0"/>
          </a:xfrm>
          <a:prstGeom prst="line">
            <a:avLst/>
          </a:prstGeom>
          <a:ln w="19050" cap="flat">
            <a:solidFill>
              <a:srgbClr val="D9D9D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D588AA0F-F808-8B76-AC98-8C6EBD3A3B56}"/>
              </a:ext>
            </a:extLst>
          </p:cNvPr>
          <p:cNvSpPr txBox="1"/>
          <p:nvPr/>
        </p:nvSpPr>
        <p:spPr>
          <a:xfrm>
            <a:off x="1028700" y="1399848"/>
            <a:ext cx="1502946" cy="11319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579"/>
              </a:lnSpc>
            </a:pPr>
            <a:r>
              <a:rPr lang="en-US" altLang="ko-KR" sz="7983" spc="-239">
                <a:solidFill>
                  <a:srgbClr val="15A9F1"/>
                </a:solidFill>
                <a:latin typeface="페이퍼로지 5 Medium" pitchFamily="2" charset="-127"/>
                <a:ea typeface="페이퍼로지 5 Medium" pitchFamily="2" charset="-127"/>
                <a:cs typeface="Nanum Square Bold"/>
                <a:sym typeface="Nanum Square Bold"/>
              </a:rPr>
              <a:t>05</a:t>
            </a:r>
            <a:endParaRPr lang="en-US" sz="7983" spc="-239">
              <a:solidFill>
                <a:srgbClr val="15A9F1"/>
              </a:solidFill>
              <a:latin typeface="페이퍼로지 5 Medium" pitchFamily="2" charset="-127"/>
              <a:ea typeface="페이퍼로지 5 Medium" pitchFamily="2" charset="-127"/>
              <a:cs typeface="Nanum Square Bold"/>
              <a:sym typeface="Nanum Square Bold"/>
            </a:endParaRP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9C563E75-ED84-7053-8E57-5DD57EC09867}"/>
              </a:ext>
            </a:extLst>
          </p:cNvPr>
          <p:cNvSpPr txBox="1"/>
          <p:nvPr/>
        </p:nvSpPr>
        <p:spPr>
          <a:xfrm>
            <a:off x="2531646" y="1626872"/>
            <a:ext cx="14232354" cy="7694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ko-KR" altLang="en-US" sz="5000">
                <a:solidFill>
                  <a:srgbClr val="454444"/>
                </a:solidFill>
                <a:latin typeface="페이퍼로지 5 Medium" pitchFamily="2" charset="-127"/>
                <a:ea typeface="페이퍼로지 5 Medium" pitchFamily="2" charset="-127"/>
                <a:sym typeface="Nanum Square Bold"/>
              </a:rPr>
              <a:t>개선 방향 </a:t>
            </a:r>
            <a:r>
              <a:rPr lang="en-US" altLang="ko-KR" sz="5000">
                <a:solidFill>
                  <a:srgbClr val="454444"/>
                </a:solidFill>
                <a:latin typeface="페이퍼로지 5 Medium" pitchFamily="2" charset="-127"/>
                <a:ea typeface="페이퍼로지 5 Medium" pitchFamily="2" charset="-127"/>
                <a:sym typeface="Nanum Square Bold"/>
              </a:rPr>
              <a:t>– </a:t>
            </a:r>
            <a:r>
              <a:rPr lang="ko-KR" altLang="en-US" sz="5000">
                <a:solidFill>
                  <a:srgbClr val="454444"/>
                </a:solidFill>
                <a:highlight>
                  <a:srgbClr val="FFFF00"/>
                </a:highlight>
                <a:latin typeface="페이퍼로지 5 Medium" pitchFamily="2" charset="-127"/>
                <a:ea typeface="페이퍼로지 5 Medium" pitchFamily="2" charset="-127"/>
              </a:rPr>
              <a:t>재승인 기간 확대 </a:t>
            </a:r>
            <a:r>
              <a:rPr lang="en-US" altLang="ko-KR" sz="5000">
                <a:solidFill>
                  <a:srgbClr val="454444"/>
                </a:solidFill>
                <a:highlight>
                  <a:srgbClr val="FFFF00"/>
                </a:highlight>
                <a:latin typeface="페이퍼로지 5 Medium" pitchFamily="2" charset="-127"/>
                <a:ea typeface="페이퍼로지 5 Medium" pitchFamily="2" charset="-127"/>
              </a:rPr>
              <a:t>+ </a:t>
            </a:r>
            <a:r>
              <a:rPr lang="ko-KR" altLang="en-US" sz="5000">
                <a:solidFill>
                  <a:srgbClr val="454444"/>
                </a:solidFill>
                <a:highlight>
                  <a:srgbClr val="FFFF00"/>
                </a:highlight>
                <a:latin typeface="페이퍼로지 5 Medium" pitchFamily="2" charset="-127"/>
                <a:ea typeface="페이퍼로지 5 Medium" pitchFamily="2" charset="-127"/>
              </a:rPr>
              <a:t>총량 평가 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23EC7A8D-DBFB-4F6A-0C7F-B9A5355B5CF7}"/>
              </a:ext>
            </a:extLst>
          </p:cNvPr>
          <p:cNvSpPr txBox="1"/>
          <p:nvPr/>
        </p:nvSpPr>
        <p:spPr>
          <a:xfrm>
            <a:off x="1123950" y="811675"/>
            <a:ext cx="3295650" cy="2239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888"/>
              </a:lnSpc>
            </a:pPr>
            <a:r>
              <a:rPr lang="ko-KR" altLang="en-US" sz="1574">
                <a:solidFill>
                  <a:srgbClr val="545454"/>
                </a:solidFill>
                <a:latin typeface="페이퍼로지 3 Light" pitchFamily="2" charset="-127"/>
                <a:ea typeface="페이퍼로지 3 Light" pitchFamily="2" charset="-127"/>
                <a:cs typeface="Nanum Square"/>
                <a:sym typeface="Nanum Square"/>
              </a:rPr>
              <a:t>한국언론학회 </a:t>
            </a:r>
            <a:r>
              <a:rPr lang="en-US" altLang="ko-KR" sz="1574">
                <a:solidFill>
                  <a:srgbClr val="545454"/>
                </a:solidFill>
                <a:latin typeface="페이퍼로지 3 Light" pitchFamily="2" charset="-127"/>
                <a:ea typeface="페이퍼로지 3 Light" pitchFamily="2" charset="-127"/>
                <a:cs typeface="Nanum Square"/>
                <a:sym typeface="Nanum Square"/>
              </a:rPr>
              <a:t>2025 </a:t>
            </a:r>
            <a:r>
              <a:rPr lang="ko-KR" altLang="en-US" sz="1574">
                <a:solidFill>
                  <a:srgbClr val="545454"/>
                </a:solidFill>
                <a:latin typeface="페이퍼로지 3 Light" pitchFamily="2" charset="-127"/>
                <a:ea typeface="페이퍼로지 3 Light" pitchFamily="2" charset="-127"/>
                <a:cs typeface="Nanum Square"/>
                <a:sym typeface="Nanum Square"/>
              </a:rPr>
              <a:t>가을철 학술대회</a:t>
            </a:r>
            <a:endParaRPr lang="en-US" altLang="ko-KR" sz="1574">
              <a:solidFill>
                <a:srgbClr val="545454"/>
              </a:solidFill>
              <a:latin typeface="페이퍼로지 3 Light" pitchFamily="2" charset="-127"/>
              <a:ea typeface="페이퍼로지 3 Light" pitchFamily="2" charset="-127"/>
              <a:cs typeface="Nanum Square"/>
              <a:sym typeface="Nanum Square"/>
            </a:endParaRPr>
          </a:p>
        </p:txBody>
      </p:sp>
      <p:sp>
        <p:nvSpPr>
          <p:cNvPr id="20" name="TextBox 12">
            <a:extLst>
              <a:ext uri="{FF2B5EF4-FFF2-40B4-BE49-F238E27FC236}">
                <a16:creationId xmlns:a16="http://schemas.microsoft.com/office/drawing/2014/main" id="{A544F1B2-6F5E-38D1-99CE-24D497B8DF98}"/>
              </a:ext>
            </a:extLst>
          </p:cNvPr>
          <p:cNvSpPr txBox="1"/>
          <p:nvPr/>
        </p:nvSpPr>
        <p:spPr>
          <a:xfrm>
            <a:off x="15135245" y="792625"/>
            <a:ext cx="2124055" cy="2116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768"/>
              </a:lnSpc>
            </a:pPr>
            <a:r>
              <a:rPr lang="ko-KR" altLang="en-US" sz="1474" b="1">
                <a:solidFill>
                  <a:srgbClr val="545454"/>
                </a:solidFill>
                <a:latin typeface="페이퍼로지 6 SemiBold" pitchFamily="2" charset="-127"/>
                <a:ea typeface="페이퍼로지 6 SemiBold" pitchFamily="2" charset="-127"/>
                <a:cs typeface="Nanum Square Bold"/>
                <a:sym typeface="Nanum Square Bold"/>
              </a:rPr>
              <a:t>선문대학교</a:t>
            </a:r>
            <a:endParaRPr lang="en-US" sz="1474" b="1">
              <a:solidFill>
                <a:srgbClr val="545454"/>
              </a:solidFill>
              <a:latin typeface="페이퍼로지 6 SemiBold" pitchFamily="2" charset="-127"/>
              <a:ea typeface="페이퍼로지 6 SemiBold" pitchFamily="2" charset="-127"/>
              <a:cs typeface="Nanum Square Bold"/>
              <a:sym typeface="Nanum Square Bold"/>
            </a:endParaRPr>
          </a:p>
        </p:txBody>
      </p:sp>
      <p:sp>
        <p:nvSpPr>
          <p:cNvPr id="29" name="Freeform 11">
            <a:extLst>
              <a:ext uri="{FF2B5EF4-FFF2-40B4-BE49-F238E27FC236}">
                <a16:creationId xmlns:a16="http://schemas.microsoft.com/office/drawing/2014/main" id="{A736FD22-DE7F-96D2-5D37-99229FC65870}"/>
              </a:ext>
            </a:extLst>
          </p:cNvPr>
          <p:cNvSpPr/>
          <p:nvPr/>
        </p:nvSpPr>
        <p:spPr>
          <a:xfrm>
            <a:off x="1707951" y="8627344"/>
            <a:ext cx="496132" cy="493858"/>
          </a:xfrm>
          <a:custGeom>
            <a:avLst/>
            <a:gdLst/>
            <a:ahLst/>
            <a:cxnLst/>
            <a:rect l="l" t="t" r="r" b="b"/>
            <a:pathLst>
              <a:path w="496132" h="493858">
                <a:moveTo>
                  <a:pt x="0" y="0"/>
                </a:moveTo>
                <a:lnTo>
                  <a:pt x="496132" y="0"/>
                </a:lnTo>
                <a:lnTo>
                  <a:pt x="496132" y="493858"/>
                </a:lnTo>
                <a:lnTo>
                  <a:pt x="0" y="4938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B56817F-F2BF-3422-3847-55EDB705B3C1}"/>
              </a:ext>
            </a:extLst>
          </p:cNvPr>
          <p:cNvSpPr txBox="1"/>
          <p:nvPr/>
        </p:nvSpPr>
        <p:spPr>
          <a:xfrm>
            <a:off x="2239525" y="8660128"/>
            <a:ext cx="1346493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250"/>
              </a:spcBef>
              <a:spcAft>
                <a:spcPts val="1500"/>
              </a:spcAft>
              <a:buNone/>
            </a:pPr>
            <a:r>
              <a:rPr lang="ko-KR" altLang="en-US" sz="2800" i="0">
                <a:effectLst/>
                <a:latin typeface="페이퍼로지 5 Medium" pitchFamily="2" charset="-127"/>
                <a:ea typeface="페이퍼로지 5 Medium" pitchFamily="2" charset="-127"/>
              </a:rPr>
              <a:t>핵심 장점</a:t>
            </a:r>
            <a:r>
              <a:rPr lang="en-US" altLang="ko-KR" sz="2800" i="0">
                <a:effectLst/>
                <a:latin typeface="페이퍼로지 5 Medium" pitchFamily="2" charset="-127"/>
                <a:ea typeface="페이퍼로지 5 Medium" pitchFamily="2" charset="-127"/>
              </a:rPr>
              <a:t>: </a:t>
            </a:r>
            <a:r>
              <a:rPr lang="ko-KR" altLang="en-US" sz="2800" i="0">
                <a:effectLst/>
                <a:latin typeface="페이퍼로지 5 Medium" pitchFamily="2" charset="-127"/>
                <a:ea typeface="페이퍼로지 5 Medium" pitchFamily="2" charset="-127"/>
              </a:rPr>
              <a:t>재승인 기간</a:t>
            </a:r>
            <a:r>
              <a:rPr lang="en-US" altLang="ko-KR" sz="2800" i="0">
                <a:effectLst/>
                <a:latin typeface="페이퍼로지 5 Medium" pitchFamily="2" charset="-127"/>
                <a:ea typeface="페이퍼로지 5 Medium" pitchFamily="2" charset="-127"/>
              </a:rPr>
              <a:t>(</a:t>
            </a:r>
            <a:r>
              <a:rPr lang="ko-KR" altLang="en-US" sz="2800" i="0">
                <a:effectLst/>
                <a:latin typeface="페이퍼로지 5 Medium" pitchFamily="2" charset="-127"/>
                <a:ea typeface="페이퍼로지 5 Medium" pitchFamily="2" charset="-127"/>
              </a:rPr>
              <a:t>증가</a:t>
            </a:r>
            <a:r>
              <a:rPr lang="en-US" altLang="ko-KR" sz="2800" i="0">
                <a:effectLst/>
                <a:latin typeface="페이퍼로지 5 Medium" pitchFamily="2" charset="-127"/>
                <a:ea typeface="페이퍼로지 5 Medium" pitchFamily="2" charset="-127"/>
              </a:rPr>
              <a:t>) x </a:t>
            </a:r>
            <a:r>
              <a:rPr lang="ko-KR" altLang="en-US" sz="2800" i="0">
                <a:effectLst/>
                <a:latin typeface="페이퍼로지 5 Medium" pitchFamily="2" charset="-127"/>
                <a:ea typeface="페이퍼로지 5 Medium" pitchFamily="2" charset="-127"/>
              </a:rPr>
              <a:t>총량 평가 </a:t>
            </a:r>
            <a:r>
              <a:rPr lang="en-US" altLang="ko-KR" sz="2800" i="0">
                <a:effectLst/>
                <a:latin typeface="페이퍼로지 5 Medium" pitchFamily="2" charset="-127"/>
                <a:ea typeface="페이퍼로지 5 Medium" pitchFamily="2" charset="-127"/>
              </a:rPr>
              <a:t>= </a:t>
            </a:r>
            <a:r>
              <a:rPr lang="ko-KR" altLang="en-US" sz="2800" i="0">
                <a:effectLst/>
                <a:latin typeface="페이퍼로지 5 Medium" pitchFamily="2" charset="-127"/>
                <a:ea typeface="페이퍼로지 5 Medium" pitchFamily="2" charset="-127"/>
              </a:rPr>
              <a:t>안정성 </a:t>
            </a:r>
            <a:r>
              <a:rPr lang="en-US" altLang="ko-KR" sz="2800" i="0">
                <a:effectLst/>
                <a:latin typeface="페이퍼로지 5 Medium" pitchFamily="2" charset="-127"/>
                <a:ea typeface="페이퍼로지 5 Medium" pitchFamily="2" charset="-127"/>
              </a:rPr>
              <a:t>+ </a:t>
            </a:r>
            <a:r>
              <a:rPr lang="ko-KR" altLang="en-US" sz="2800" i="0">
                <a:effectLst/>
                <a:latin typeface="페이퍼로지 5 Medium" pitchFamily="2" charset="-127"/>
                <a:ea typeface="페이퍼로지 5 Medium" pitchFamily="2" charset="-127"/>
              </a:rPr>
              <a:t>유연성 동시 확보</a:t>
            </a:r>
          </a:p>
        </p:txBody>
      </p:sp>
      <p:sp>
        <p:nvSpPr>
          <p:cNvPr id="32" name="슬라이드 번호 개체 틀 31">
            <a:extLst>
              <a:ext uri="{FF2B5EF4-FFF2-40B4-BE49-F238E27FC236}">
                <a16:creationId xmlns:a16="http://schemas.microsoft.com/office/drawing/2014/main" id="{BD02278A-3E60-9267-6210-2D8212FC9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30</a:t>
            </a:fld>
            <a:endParaRPr lang="en-US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05600B9A-2BFD-C297-4096-8D44CC83C8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2954775"/>
              </p:ext>
            </p:extLst>
          </p:nvPr>
        </p:nvGraphicFramePr>
        <p:xfrm>
          <a:off x="1640114" y="4064614"/>
          <a:ext cx="15619185" cy="4063360"/>
        </p:xfrm>
        <a:graphic>
          <a:graphicData uri="http://schemas.openxmlformats.org/drawingml/2006/table">
            <a:tbl>
              <a:tblPr/>
              <a:tblGrid>
                <a:gridCol w="5206395">
                  <a:extLst>
                    <a:ext uri="{9D8B030D-6E8A-4147-A177-3AD203B41FA5}">
                      <a16:colId xmlns:a16="http://schemas.microsoft.com/office/drawing/2014/main" val="3215737958"/>
                    </a:ext>
                  </a:extLst>
                </a:gridCol>
                <a:gridCol w="5206395">
                  <a:extLst>
                    <a:ext uri="{9D8B030D-6E8A-4147-A177-3AD203B41FA5}">
                      <a16:colId xmlns:a16="http://schemas.microsoft.com/office/drawing/2014/main" val="2497869883"/>
                    </a:ext>
                  </a:extLst>
                </a:gridCol>
                <a:gridCol w="5206395">
                  <a:extLst>
                    <a:ext uri="{9D8B030D-6E8A-4147-A177-3AD203B41FA5}">
                      <a16:colId xmlns:a16="http://schemas.microsoft.com/office/drawing/2014/main" val="1052331784"/>
                    </a:ext>
                  </a:extLst>
                </a:gridCol>
              </a:tblGrid>
              <a:tr h="71748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2000" b="1">
                          <a:solidFill>
                            <a:srgbClr val="FFFFFF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연도</a:t>
                      </a:r>
                    </a:p>
                  </a:txBody>
                  <a:tcPr marL="92716" marR="92716" marT="92716" marB="92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A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2000" b="1">
                          <a:solidFill>
                            <a:srgbClr val="FFFFFF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투자액</a:t>
                      </a:r>
                    </a:p>
                  </a:txBody>
                  <a:tcPr marL="92716" marR="92716" marT="92716" marB="92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A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2000" b="1">
                          <a:solidFill>
                            <a:srgbClr val="FFFFFF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비고</a:t>
                      </a:r>
                    </a:p>
                  </a:txBody>
                  <a:tcPr marL="92716" marR="92716" marT="92716" marB="92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A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6909483"/>
                  </a:ext>
                </a:extLst>
              </a:tr>
              <a:tr h="6691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2000"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</a:t>
                      </a:r>
                      <a:r>
                        <a:rPr lang="ko-KR" altLang="en-US" sz="2000"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년차</a:t>
                      </a:r>
                    </a:p>
                  </a:txBody>
                  <a:tcPr marL="77238" marR="77238" marT="77238" marB="772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2000"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1,500</a:t>
                      </a:r>
                      <a:r>
                        <a:rPr lang="ko-KR" altLang="en-US" sz="2000"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억</a:t>
                      </a:r>
                    </a:p>
                  </a:txBody>
                  <a:tcPr marL="77238" marR="77238" marT="77238" marB="772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2000"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적극 투자</a:t>
                      </a:r>
                    </a:p>
                  </a:txBody>
                  <a:tcPr marL="77238" marR="77238" marT="77238" marB="772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1466556"/>
                  </a:ext>
                </a:extLst>
              </a:tr>
              <a:tr h="6691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2000"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2</a:t>
                      </a:r>
                      <a:r>
                        <a:rPr lang="ko-KR" altLang="en-US" sz="2000"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년차</a:t>
                      </a:r>
                    </a:p>
                  </a:txBody>
                  <a:tcPr marL="77238" marR="77238" marT="77238" marB="7723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2000"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900</a:t>
                      </a:r>
                      <a:r>
                        <a:rPr lang="ko-KR" altLang="en-US" sz="2000"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억</a:t>
                      </a:r>
                    </a:p>
                  </a:txBody>
                  <a:tcPr marL="77238" marR="77238" marT="77238" marB="7723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2000"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시장 악화 대응</a:t>
                      </a:r>
                    </a:p>
                  </a:txBody>
                  <a:tcPr marL="77238" marR="77238" marT="77238" marB="7723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1069429"/>
                  </a:ext>
                </a:extLst>
              </a:tr>
              <a:tr h="6691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2000"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3</a:t>
                      </a:r>
                      <a:r>
                        <a:rPr lang="ko-KR" altLang="en-US" sz="2000"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년차</a:t>
                      </a:r>
                    </a:p>
                  </a:txBody>
                  <a:tcPr marL="77238" marR="77238" marT="77238" marB="7723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2000"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1,400</a:t>
                      </a:r>
                      <a:r>
                        <a:rPr lang="ko-KR" altLang="en-US" sz="2000"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억</a:t>
                      </a:r>
                    </a:p>
                  </a:txBody>
                  <a:tcPr marL="77238" marR="77238" marT="77238" marB="7723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2000"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회복 투자</a:t>
                      </a:r>
                    </a:p>
                  </a:txBody>
                  <a:tcPr marL="77238" marR="77238" marT="77238" marB="7723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6912600"/>
                  </a:ext>
                </a:extLst>
              </a:tr>
              <a:tr h="6691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2000"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4</a:t>
                      </a:r>
                      <a:r>
                        <a:rPr lang="ko-KR" altLang="en-US" sz="2000"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년차</a:t>
                      </a:r>
                    </a:p>
                  </a:txBody>
                  <a:tcPr marL="77238" marR="77238" marT="77238" marB="7723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2000"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1,000</a:t>
                      </a:r>
                      <a:r>
                        <a:rPr lang="ko-KR" altLang="en-US" sz="2000"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억</a:t>
                      </a:r>
                    </a:p>
                  </a:txBody>
                  <a:tcPr marL="77238" marR="77238" marT="77238" marB="7723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2000"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안정 투자</a:t>
                      </a:r>
                    </a:p>
                  </a:txBody>
                  <a:tcPr marL="77238" marR="77238" marT="77238" marB="7723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8738395"/>
                  </a:ext>
                </a:extLst>
              </a:tr>
              <a:tr h="6691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2000" b="1"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합계</a:t>
                      </a:r>
                      <a:endParaRPr lang="ko-KR" altLang="en-US" sz="2000"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77238" marR="77238" marT="77238" marB="7723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2000" b="1"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4,800</a:t>
                      </a:r>
                      <a:r>
                        <a:rPr lang="ko-KR" altLang="en-US" sz="2000" b="1"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억</a:t>
                      </a:r>
                      <a:endParaRPr lang="ko-KR" altLang="en-US" sz="2000"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77238" marR="77238" marT="77238" marB="7723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2000" b="1"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조건 충족</a:t>
                      </a:r>
                      <a:endParaRPr lang="ko-KR" altLang="en-US" sz="2000"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77238" marR="77238" marT="77238" marB="7723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9450287"/>
                  </a:ext>
                </a:extLst>
              </a:tr>
            </a:tbl>
          </a:graphicData>
        </a:graphic>
      </p:graphicFrame>
      <p:sp>
        <p:nvSpPr>
          <p:cNvPr id="4" name="Rectangle 1">
            <a:extLst>
              <a:ext uri="{FF2B5EF4-FFF2-40B4-BE49-F238E27FC236}">
                <a16:creationId xmlns:a16="http://schemas.microsoft.com/office/drawing/2014/main" id="{D1258600-28EE-2E95-0C27-8AD74E432C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9865" y="4063937"/>
            <a:ext cx="1828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115820847" rIns="0" bIns="86812074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1" i="0" u="none" strike="noStrike" cap="none" normalizeH="0" baseline="0">
                <a:ln>
                  <a:noFill/>
                </a:ln>
                <a:solidFill>
                  <a:srgbClr val="2A5298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예시 (5년 4,800억 계획)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000" b="1" i="0" u="none" strike="noStrike" cap="none" normalizeH="0" baseline="0">
              <a:ln>
                <a:noFill/>
              </a:ln>
              <a:solidFill>
                <a:srgbClr val="2A5298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1" i="0" u="none" strike="noStrike" cap="none" normalizeH="0" baseline="0">
                <a:ln>
                  <a:noFill/>
                </a:ln>
                <a:solidFill>
                  <a:srgbClr val="2A5298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장점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C9BE97-2752-6D2F-4F0F-F52CD29C8705}"/>
              </a:ext>
            </a:extLst>
          </p:cNvPr>
          <p:cNvSpPr txBox="1"/>
          <p:nvPr/>
        </p:nvSpPr>
        <p:spPr>
          <a:xfrm>
            <a:off x="1639865" y="3371101"/>
            <a:ext cx="1139532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250"/>
              </a:spcBef>
              <a:spcAft>
                <a:spcPts val="1500"/>
              </a:spcAft>
              <a:buNone/>
            </a:pPr>
            <a:r>
              <a:rPr lang="ko-KR" altLang="en-US" sz="2400" b="1" i="0">
                <a:solidFill>
                  <a:srgbClr val="2A5298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예시 </a:t>
            </a:r>
            <a:r>
              <a:rPr lang="en-US" altLang="ko-KR" sz="2400" b="1" i="0">
                <a:solidFill>
                  <a:srgbClr val="2A5298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(5</a:t>
            </a:r>
            <a:r>
              <a:rPr lang="ko-KR" altLang="en-US" sz="2400" b="1" i="0">
                <a:solidFill>
                  <a:srgbClr val="2A5298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년 </a:t>
            </a:r>
            <a:r>
              <a:rPr lang="en-US" altLang="ko-KR" sz="2400" b="1" i="0">
                <a:solidFill>
                  <a:srgbClr val="2A5298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4,800</a:t>
            </a:r>
            <a:r>
              <a:rPr lang="ko-KR" altLang="en-US" sz="2400" b="1" i="0">
                <a:solidFill>
                  <a:srgbClr val="2A5298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억 계획</a:t>
            </a:r>
            <a:r>
              <a:rPr lang="en-US" altLang="ko-KR" sz="2400" b="1" i="0">
                <a:solidFill>
                  <a:srgbClr val="2A5298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)</a:t>
            </a:r>
            <a:endParaRPr lang="ko-KR" altLang="en-US" sz="2400" b="1" i="0">
              <a:solidFill>
                <a:srgbClr val="2A5298"/>
              </a:solidFill>
              <a:effectLst/>
              <a:latin typeface="페이퍼로지 4 Regular" pitchFamily="2" charset="-127"/>
              <a:ea typeface="페이퍼로지 4 Regular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3250347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FE3301-B8A8-6AE9-7A9D-69E720456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B0AC1C24-AC82-61CF-D726-87A8867D7A25}"/>
              </a:ext>
            </a:extLst>
          </p:cNvPr>
          <p:cNvSpPr/>
          <p:nvPr/>
        </p:nvSpPr>
        <p:spPr>
          <a:xfrm flipV="1">
            <a:off x="1028700" y="1169525"/>
            <a:ext cx="16230600" cy="0"/>
          </a:xfrm>
          <a:prstGeom prst="line">
            <a:avLst/>
          </a:prstGeom>
          <a:ln w="19050" cap="flat">
            <a:solidFill>
              <a:srgbClr val="D9D9D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C460B1A2-643C-79A8-DA4B-13D77870DF92}"/>
              </a:ext>
            </a:extLst>
          </p:cNvPr>
          <p:cNvSpPr txBox="1"/>
          <p:nvPr/>
        </p:nvSpPr>
        <p:spPr>
          <a:xfrm>
            <a:off x="1028700" y="1399848"/>
            <a:ext cx="1502946" cy="11319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579"/>
              </a:lnSpc>
            </a:pPr>
            <a:r>
              <a:rPr lang="en-US" altLang="ko-KR" sz="7983" spc="-239">
                <a:solidFill>
                  <a:srgbClr val="15A9F1"/>
                </a:solidFill>
                <a:latin typeface="페이퍼로지 5 Medium" pitchFamily="2" charset="-127"/>
                <a:ea typeface="페이퍼로지 5 Medium" pitchFamily="2" charset="-127"/>
                <a:cs typeface="Nanum Square Bold"/>
                <a:sym typeface="Nanum Square Bold"/>
              </a:rPr>
              <a:t>05</a:t>
            </a:r>
            <a:endParaRPr lang="en-US" sz="7983" spc="-239">
              <a:solidFill>
                <a:srgbClr val="15A9F1"/>
              </a:solidFill>
              <a:latin typeface="페이퍼로지 5 Medium" pitchFamily="2" charset="-127"/>
              <a:ea typeface="페이퍼로지 5 Medium" pitchFamily="2" charset="-127"/>
              <a:cs typeface="Nanum Square Bold"/>
              <a:sym typeface="Nanum Square Bold"/>
            </a:endParaRP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091F6C77-4AB2-050F-4822-C7E0DBCD1D40}"/>
              </a:ext>
            </a:extLst>
          </p:cNvPr>
          <p:cNvSpPr txBox="1"/>
          <p:nvPr/>
        </p:nvSpPr>
        <p:spPr>
          <a:xfrm>
            <a:off x="2531646" y="1626872"/>
            <a:ext cx="14232354" cy="7694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ko-KR" altLang="en-US" sz="5000">
                <a:solidFill>
                  <a:srgbClr val="454444"/>
                </a:solidFill>
                <a:latin typeface="페이퍼로지 5 Medium" pitchFamily="2" charset="-127"/>
                <a:ea typeface="페이퍼로지 5 Medium" pitchFamily="2" charset="-127"/>
                <a:sym typeface="Nanum Square Bold"/>
              </a:rPr>
              <a:t>개선 방향 </a:t>
            </a:r>
            <a:r>
              <a:rPr lang="en-US" altLang="ko-KR" sz="5000">
                <a:solidFill>
                  <a:srgbClr val="454444"/>
                </a:solidFill>
                <a:latin typeface="페이퍼로지 5 Medium" pitchFamily="2" charset="-127"/>
                <a:ea typeface="페이퍼로지 5 Medium" pitchFamily="2" charset="-127"/>
                <a:sym typeface="Nanum Square Bold"/>
              </a:rPr>
              <a:t>– </a:t>
            </a:r>
            <a:r>
              <a:rPr lang="ko-KR" altLang="en-US" sz="5000">
                <a:solidFill>
                  <a:srgbClr val="454444"/>
                </a:solidFill>
                <a:highlight>
                  <a:srgbClr val="FFFF00"/>
                </a:highlight>
                <a:latin typeface="페이퍼로지 5 Medium" pitchFamily="2" charset="-127"/>
                <a:ea typeface="페이퍼로지 5 Medium" pitchFamily="2" charset="-127"/>
              </a:rPr>
              <a:t>대안 비교 및 선택 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45523E29-8374-3C4C-DFF6-E8880A507995}"/>
              </a:ext>
            </a:extLst>
          </p:cNvPr>
          <p:cNvSpPr txBox="1"/>
          <p:nvPr/>
        </p:nvSpPr>
        <p:spPr>
          <a:xfrm>
            <a:off x="1123950" y="811675"/>
            <a:ext cx="3295650" cy="2239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888"/>
              </a:lnSpc>
            </a:pPr>
            <a:r>
              <a:rPr lang="ko-KR" altLang="en-US" sz="1574">
                <a:solidFill>
                  <a:srgbClr val="545454"/>
                </a:solidFill>
                <a:latin typeface="페이퍼로지 3 Light" pitchFamily="2" charset="-127"/>
                <a:ea typeface="페이퍼로지 3 Light" pitchFamily="2" charset="-127"/>
                <a:cs typeface="Nanum Square"/>
                <a:sym typeface="Nanum Square"/>
              </a:rPr>
              <a:t>한국언론학회 </a:t>
            </a:r>
            <a:r>
              <a:rPr lang="en-US" altLang="ko-KR" sz="1574">
                <a:solidFill>
                  <a:srgbClr val="545454"/>
                </a:solidFill>
                <a:latin typeface="페이퍼로지 3 Light" pitchFamily="2" charset="-127"/>
                <a:ea typeface="페이퍼로지 3 Light" pitchFamily="2" charset="-127"/>
                <a:cs typeface="Nanum Square"/>
                <a:sym typeface="Nanum Square"/>
              </a:rPr>
              <a:t>2025 </a:t>
            </a:r>
            <a:r>
              <a:rPr lang="ko-KR" altLang="en-US" sz="1574">
                <a:solidFill>
                  <a:srgbClr val="545454"/>
                </a:solidFill>
                <a:latin typeface="페이퍼로지 3 Light" pitchFamily="2" charset="-127"/>
                <a:ea typeface="페이퍼로지 3 Light" pitchFamily="2" charset="-127"/>
                <a:cs typeface="Nanum Square"/>
                <a:sym typeface="Nanum Square"/>
              </a:rPr>
              <a:t>가을철 학술대회</a:t>
            </a:r>
            <a:endParaRPr lang="en-US" altLang="ko-KR" sz="1574">
              <a:solidFill>
                <a:srgbClr val="545454"/>
              </a:solidFill>
              <a:latin typeface="페이퍼로지 3 Light" pitchFamily="2" charset="-127"/>
              <a:ea typeface="페이퍼로지 3 Light" pitchFamily="2" charset="-127"/>
              <a:cs typeface="Nanum Square"/>
              <a:sym typeface="Nanum Square"/>
            </a:endParaRPr>
          </a:p>
        </p:txBody>
      </p:sp>
      <p:sp>
        <p:nvSpPr>
          <p:cNvPr id="20" name="TextBox 12">
            <a:extLst>
              <a:ext uri="{FF2B5EF4-FFF2-40B4-BE49-F238E27FC236}">
                <a16:creationId xmlns:a16="http://schemas.microsoft.com/office/drawing/2014/main" id="{F16B54FC-1B47-7323-1F30-08B64A43668F}"/>
              </a:ext>
            </a:extLst>
          </p:cNvPr>
          <p:cNvSpPr txBox="1"/>
          <p:nvPr/>
        </p:nvSpPr>
        <p:spPr>
          <a:xfrm>
            <a:off x="15135245" y="792625"/>
            <a:ext cx="2124055" cy="2116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768"/>
              </a:lnSpc>
            </a:pPr>
            <a:r>
              <a:rPr lang="ko-KR" altLang="en-US" sz="1474" b="1">
                <a:solidFill>
                  <a:srgbClr val="545454"/>
                </a:solidFill>
                <a:latin typeface="페이퍼로지 6 SemiBold" pitchFamily="2" charset="-127"/>
                <a:ea typeface="페이퍼로지 6 SemiBold" pitchFamily="2" charset="-127"/>
                <a:cs typeface="Nanum Square Bold"/>
                <a:sym typeface="Nanum Square Bold"/>
              </a:rPr>
              <a:t>선문대학교</a:t>
            </a:r>
            <a:endParaRPr lang="en-US" sz="1474" b="1">
              <a:solidFill>
                <a:srgbClr val="545454"/>
              </a:solidFill>
              <a:latin typeface="페이퍼로지 6 SemiBold" pitchFamily="2" charset="-127"/>
              <a:ea typeface="페이퍼로지 6 SemiBold" pitchFamily="2" charset="-127"/>
              <a:cs typeface="Nanum Square Bold"/>
              <a:sym typeface="Nanum Square Bold"/>
            </a:endParaRPr>
          </a:p>
        </p:txBody>
      </p:sp>
      <p:sp>
        <p:nvSpPr>
          <p:cNvPr id="32" name="슬라이드 번호 개체 틀 31">
            <a:extLst>
              <a:ext uri="{FF2B5EF4-FFF2-40B4-BE49-F238E27FC236}">
                <a16:creationId xmlns:a16="http://schemas.microsoft.com/office/drawing/2014/main" id="{6B17DD1E-0298-C762-874D-8458730A6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B05A34-C58C-0871-0877-582CB057D1B2}"/>
              </a:ext>
            </a:extLst>
          </p:cNvPr>
          <p:cNvSpPr txBox="1"/>
          <p:nvPr/>
        </p:nvSpPr>
        <p:spPr>
          <a:xfrm>
            <a:off x="1639865" y="3185846"/>
            <a:ext cx="1139532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250"/>
              </a:spcBef>
              <a:spcAft>
                <a:spcPts val="1500"/>
              </a:spcAft>
              <a:buNone/>
            </a:pPr>
            <a:r>
              <a:rPr lang="ko-KR" altLang="en-US" sz="2400" b="1" i="0">
                <a:solidFill>
                  <a:srgbClr val="2A5298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예시 </a:t>
            </a:r>
            <a:r>
              <a:rPr lang="en-US" altLang="ko-KR" sz="2400" b="1" i="0">
                <a:solidFill>
                  <a:srgbClr val="2A5298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(5</a:t>
            </a:r>
            <a:r>
              <a:rPr lang="ko-KR" altLang="en-US" sz="2400" b="1" i="0">
                <a:solidFill>
                  <a:srgbClr val="2A5298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년 </a:t>
            </a:r>
            <a:r>
              <a:rPr lang="en-US" altLang="ko-KR" sz="2400" b="1" i="0">
                <a:solidFill>
                  <a:srgbClr val="2A5298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4,800</a:t>
            </a:r>
            <a:r>
              <a:rPr lang="ko-KR" altLang="en-US" sz="2400" b="1" i="0">
                <a:solidFill>
                  <a:srgbClr val="2A5298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억 계획</a:t>
            </a:r>
            <a:r>
              <a:rPr lang="en-US" altLang="ko-KR" sz="2400" b="1" i="0">
                <a:solidFill>
                  <a:srgbClr val="2A5298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)</a:t>
            </a:r>
            <a:endParaRPr lang="ko-KR" altLang="en-US" sz="2400" b="1" i="0">
              <a:solidFill>
                <a:srgbClr val="2A5298"/>
              </a:solidFill>
              <a:effectLst/>
              <a:latin typeface="페이퍼로지 4 Regular" pitchFamily="2" charset="-127"/>
              <a:ea typeface="페이퍼로지 4 Regular" pitchFamily="2" charset="-127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EAF9875E-0573-C054-25B6-A365E2DA71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3221241"/>
              </p:ext>
            </p:extLst>
          </p:nvPr>
        </p:nvGraphicFramePr>
        <p:xfrm>
          <a:off x="1707950" y="3849094"/>
          <a:ext cx="15551350" cy="2395598"/>
        </p:xfrm>
        <a:graphic>
          <a:graphicData uri="http://schemas.openxmlformats.org/drawingml/2006/table">
            <a:tbl>
              <a:tblPr/>
              <a:tblGrid>
                <a:gridCol w="3110270">
                  <a:extLst>
                    <a:ext uri="{9D8B030D-6E8A-4147-A177-3AD203B41FA5}">
                      <a16:colId xmlns:a16="http://schemas.microsoft.com/office/drawing/2014/main" val="1652968272"/>
                    </a:ext>
                  </a:extLst>
                </a:gridCol>
                <a:gridCol w="3110270">
                  <a:extLst>
                    <a:ext uri="{9D8B030D-6E8A-4147-A177-3AD203B41FA5}">
                      <a16:colId xmlns:a16="http://schemas.microsoft.com/office/drawing/2014/main" val="994362711"/>
                    </a:ext>
                  </a:extLst>
                </a:gridCol>
                <a:gridCol w="3110270">
                  <a:extLst>
                    <a:ext uri="{9D8B030D-6E8A-4147-A177-3AD203B41FA5}">
                      <a16:colId xmlns:a16="http://schemas.microsoft.com/office/drawing/2014/main" val="360352883"/>
                    </a:ext>
                  </a:extLst>
                </a:gridCol>
                <a:gridCol w="3110270">
                  <a:extLst>
                    <a:ext uri="{9D8B030D-6E8A-4147-A177-3AD203B41FA5}">
                      <a16:colId xmlns:a16="http://schemas.microsoft.com/office/drawing/2014/main" val="1895876872"/>
                    </a:ext>
                  </a:extLst>
                </a:gridCol>
                <a:gridCol w="3110270">
                  <a:extLst>
                    <a:ext uri="{9D8B030D-6E8A-4147-A177-3AD203B41FA5}">
                      <a16:colId xmlns:a16="http://schemas.microsoft.com/office/drawing/2014/main" val="1711240000"/>
                    </a:ext>
                  </a:extLst>
                </a:gridCol>
              </a:tblGrid>
              <a:tr h="630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2000" b="1">
                          <a:solidFill>
                            <a:srgbClr val="FFFFFF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대안</a:t>
                      </a:r>
                    </a:p>
                  </a:txBody>
                  <a:tcPr marL="92716" marR="92716" marT="92716" marB="92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A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2000" b="1">
                          <a:solidFill>
                            <a:srgbClr val="FFFFFF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자율성</a:t>
                      </a:r>
                    </a:p>
                  </a:txBody>
                  <a:tcPr marL="92716" marR="92716" marT="92716" marB="92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A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2000" b="1">
                          <a:solidFill>
                            <a:srgbClr val="FFFFFF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투자 확대</a:t>
                      </a:r>
                    </a:p>
                  </a:txBody>
                  <a:tcPr marL="92716" marR="92716" marT="92716" marB="92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A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2000" b="1">
                          <a:solidFill>
                            <a:srgbClr val="FFFFFF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실현 가능성</a:t>
                      </a:r>
                    </a:p>
                  </a:txBody>
                  <a:tcPr marL="92716" marR="92716" marT="92716" marB="92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A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2000" b="1">
                          <a:solidFill>
                            <a:srgbClr val="FFFFFF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추천도</a:t>
                      </a:r>
                    </a:p>
                  </a:txBody>
                  <a:tcPr marL="92716" marR="92716" marT="92716" marB="92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A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9975105"/>
                  </a:ext>
                </a:extLst>
              </a:tr>
              <a:tr h="58828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2000" b="1"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전면 폐지</a:t>
                      </a:r>
                      <a:endParaRPr lang="ko-KR" altLang="en-US" sz="2000"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77238" marR="77238" marT="77238" marB="772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2000"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높음</a:t>
                      </a:r>
                    </a:p>
                  </a:txBody>
                  <a:tcPr marL="77238" marR="77238" marT="77238" marB="772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2000"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높음</a:t>
                      </a:r>
                    </a:p>
                  </a:txBody>
                  <a:tcPr marL="77238" marR="77238" marT="77238" marB="772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2000"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보통</a:t>
                      </a:r>
                    </a:p>
                  </a:txBody>
                  <a:tcPr marL="77238" marR="77238" marT="77238" marB="772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2000" b="1">
                          <a:solidFill>
                            <a:srgbClr val="4FACFE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1</a:t>
                      </a:r>
                      <a:r>
                        <a:rPr lang="ko-KR" altLang="en-US" sz="2000" b="1">
                          <a:solidFill>
                            <a:srgbClr val="4FACFE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순위</a:t>
                      </a:r>
                      <a:endParaRPr lang="ko-KR" altLang="en-US" sz="2000"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77238" marR="77238" marT="77238" marB="772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9236425"/>
                  </a:ext>
                </a:extLst>
              </a:tr>
              <a:tr h="58828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2000"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매출 연동형</a:t>
                      </a:r>
                    </a:p>
                  </a:txBody>
                  <a:tcPr marL="77238" marR="77238" marT="77238" marB="7723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C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2000"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보통</a:t>
                      </a:r>
                    </a:p>
                  </a:txBody>
                  <a:tcPr marL="77238" marR="77238" marT="77238" marB="7723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C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2000"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보통</a:t>
                      </a:r>
                    </a:p>
                  </a:txBody>
                  <a:tcPr marL="77238" marR="77238" marT="77238" marB="7723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C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2000"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높음</a:t>
                      </a:r>
                    </a:p>
                  </a:txBody>
                  <a:tcPr marL="77238" marR="77238" marT="77238" marB="7723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C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2000" b="1">
                          <a:solidFill>
                            <a:srgbClr val="667EEA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2</a:t>
                      </a:r>
                      <a:r>
                        <a:rPr lang="ko-KR" altLang="en-US" sz="2000" b="1">
                          <a:solidFill>
                            <a:srgbClr val="667EEA"/>
                          </a:solidFill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순위</a:t>
                      </a:r>
                      <a:endParaRPr lang="ko-KR" altLang="en-US" sz="2000">
                        <a:effectLst/>
                        <a:latin typeface="페이퍼로지 4 Regular" pitchFamily="2" charset="-127"/>
                        <a:ea typeface="페이퍼로지 4 Regular" pitchFamily="2" charset="-127"/>
                      </a:endParaRPr>
                    </a:p>
                  </a:txBody>
                  <a:tcPr marL="77238" marR="77238" marT="77238" marB="7723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C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6328192"/>
                  </a:ext>
                </a:extLst>
              </a:tr>
              <a:tr h="58828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2000"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총량 관리</a:t>
                      </a:r>
                    </a:p>
                  </a:txBody>
                  <a:tcPr marL="77238" marR="77238" marT="77238" marB="7723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2000"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낮음</a:t>
                      </a:r>
                    </a:p>
                  </a:txBody>
                  <a:tcPr marL="77238" marR="77238" marT="77238" marB="7723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2000"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낮음</a:t>
                      </a:r>
                    </a:p>
                  </a:txBody>
                  <a:tcPr marL="77238" marR="77238" marT="77238" marB="7723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2000"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높음</a:t>
                      </a:r>
                    </a:p>
                  </a:txBody>
                  <a:tcPr marL="77238" marR="77238" marT="77238" marB="7723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2000"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3</a:t>
                      </a:r>
                      <a:r>
                        <a:rPr lang="ko-KR" altLang="en-US" sz="2000">
                          <a:effectLst/>
                          <a:latin typeface="페이퍼로지 4 Regular" pitchFamily="2" charset="-127"/>
                          <a:ea typeface="페이퍼로지 4 Regular" pitchFamily="2" charset="-127"/>
                        </a:rPr>
                        <a:t>순위</a:t>
                      </a:r>
                    </a:p>
                  </a:txBody>
                  <a:tcPr marL="77238" marR="77238" marT="77238" marB="7723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536936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BFB5DD64-D93C-389E-2930-B1758830122D}"/>
              </a:ext>
            </a:extLst>
          </p:cNvPr>
          <p:cNvSpPr txBox="1"/>
          <p:nvPr/>
        </p:nvSpPr>
        <p:spPr>
          <a:xfrm>
            <a:off x="1729723" y="6661118"/>
            <a:ext cx="11395329" cy="21467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250"/>
              </a:spcBef>
              <a:spcAft>
                <a:spcPts val="1500"/>
              </a:spcAft>
              <a:buNone/>
            </a:pPr>
            <a:r>
              <a:rPr lang="ko-KR" altLang="en-US" sz="2400" b="1" i="0">
                <a:solidFill>
                  <a:srgbClr val="2A5298"/>
                </a:solidFill>
                <a:effectLst/>
                <a:latin typeface="페이퍼로지 4 Regular" pitchFamily="2" charset="-127"/>
                <a:ea typeface="페이퍼로지 4 Regular" pitchFamily="2" charset="-127"/>
              </a:rPr>
              <a:t>선택기준</a:t>
            </a:r>
            <a:endParaRPr lang="en-US" altLang="ko-KR" sz="2400" b="1" i="0">
              <a:solidFill>
                <a:srgbClr val="2A5298"/>
              </a:solidFill>
              <a:effectLst/>
              <a:latin typeface="페이퍼로지 4 Regular" pitchFamily="2" charset="-127"/>
              <a:ea typeface="페이퍼로지 4 Regular" pitchFamily="2" charset="-127"/>
            </a:endParaRPr>
          </a:p>
          <a:p>
            <a:pPr marL="342900" indent="-342900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altLang="ko-KR" sz="2400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</a:rPr>
              <a:t>1</a:t>
            </a:r>
            <a:r>
              <a:rPr lang="ko-KR" altLang="en-US" sz="2400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</a:rPr>
              <a:t>순위 </a:t>
            </a:r>
            <a:r>
              <a:rPr lang="en-US" altLang="ko-KR" sz="2400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</a:rPr>
              <a:t>(</a:t>
            </a:r>
            <a:r>
              <a:rPr lang="ko-KR" altLang="en-US" sz="2400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</a:rPr>
              <a:t>전면 폐지</a:t>
            </a:r>
            <a:r>
              <a:rPr lang="en-US" altLang="ko-KR" sz="2400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</a:rPr>
              <a:t>): </a:t>
            </a:r>
            <a:r>
              <a:rPr lang="ko-KR" altLang="en-US" sz="2400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</a:rPr>
              <a:t>이미 정책 목표 달성</a:t>
            </a:r>
            <a:r>
              <a:rPr lang="en-US" altLang="ko-KR" sz="2400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2400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</a:rPr>
              <a:t>구축효과 해소</a:t>
            </a:r>
          </a:p>
          <a:p>
            <a:pPr marL="342900" indent="-342900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altLang="ko-KR" sz="2400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</a:rPr>
              <a:t>2</a:t>
            </a:r>
            <a:r>
              <a:rPr lang="ko-KR" altLang="en-US" sz="2400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</a:rPr>
              <a:t>순위 </a:t>
            </a:r>
            <a:r>
              <a:rPr lang="en-US" altLang="ko-KR" sz="2400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</a:rPr>
              <a:t>(</a:t>
            </a:r>
            <a:r>
              <a:rPr lang="ko-KR" altLang="en-US" sz="2400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</a:rPr>
              <a:t>매출 연동</a:t>
            </a:r>
            <a:r>
              <a:rPr lang="en-US" altLang="ko-KR" sz="2400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</a:rPr>
              <a:t>): </a:t>
            </a:r>
            <a:r>
              <a:rPr lang="ko-KR" altLang="en-US" sz="2400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</a:rPr>
              <a:t>정책 목표 자동 조정</a:t>
            </a:r>
            <a:r>
              <a:rPr lang="en-US" altLang="ko-KR" sz="2400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2400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</a:rPr>
              <a:t>일정 수준의 수익성 보장</a:t>
            </a:r>
          </a:p>
          <a:p>
            <a:pPr marL="342900" indent="-342900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altLang="ko-KR" sz="2400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</a:rPr>
              <a:t>3</a:t>
            </a:r>
            <a:r>
              <a:rPr lang="ko-KR" altLang="en-US" sz="2400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</a:rPr>
              <a:t>순위 </a:t>
            </a:r>
            <a:r>
              <a:rPr lang="en-US" altLang="ko-KR" sz="2400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</a:rPr>
              <a:t>(</a:t>
            </a:r>
            <a:r>
              <a:rPr lang="ko-KR" altLang="en-US" sz="2400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</a:rPr>
              <a:t>총량 관리</a:t>
            </a:r>
            <a:r>
              <a:rPr lang="en-US" altLang="ko-KR" sz="2400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</a:rPr>
              <a:t>): </a:t>
            </a:r>
            <a:r>
              <a:rPr lang="ko-KR" altLang="en-US" sz="2400">
                <a:solidFill>
                  <a:srgbClr val="4A5568"/>
                </a:solidFill>
                <a:latin typeface="페이퍼로지 4 Regular" pitchFamily="2" charset="-127"/>
                <a:ea typeface="페이퍼로지 4 Regular" pitchFamily="2" charset="-127"/>
              </a:rPr>
              <a:t>최소한의 유연성</a:t>
            </a:r>
            <a:endParaRPr lang="ko-KR" altLang="en-US" sz="2400" b="1" i="0">
              <a:solidFill>
                <a:srgbClr val="2A5298"/>
              </a:solidFill>
              <a:effectLst/>
              <a:latin typeface="페이퍼로지 4 Regular" pitchFamily="2" charset="-127"/>
              <a:ea typeface="페이퍼로지 4 Regular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0852033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7D8862-647D-D57C-E488-E5308FDEC8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4DB197F4-DDF2-1423-49CE-43DECE16B983}"/>
              </a:ext>
            </a:extLst>
          </p:cNvPr>
          <p:cNvSpPr/>
          <p:nvPr/>
        </p:nvSpPr>
        <p:spPr>
          <a:xfrm flipV="1">
            <a:off x="1028700" y="1169525"/>
            <a:ext cx="16230600" cy="0"/>
          </a:xfrm>
          <a:prstGeom prst="line">
            <a:avLst/>
          </a:prstGeom>
          <a:ln w="19050" cap="flat">
            <a:solidFill>
              <a:srgbClr val="D9D9D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BD918942-38B9-AA21-D640-C4204B26F060}"/>
              </a:ext>
            </a:extLst>
          </p:cNvPr>
          <p:cNvSpPr txBox="1"/>
          <p:nvPr/>
        </p:nvSpPr>
        <p:spPr>
          <a:xfrm>
            <a:off x="1123950" y="1631572"/>
            <a:ext cx="14232354" cy="7694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ko-KR" altLang="en-US" sz="5000">
                <a:solidFill>
                  <a:srgbClr val="454444"/>
                </a:solidFill>
                <a:latin typeface="페이퍼로지 5 Medium" pitchFamily="2" charset="-127"/>
                <a:ea typeface="페이퍼로지 5 Medium" pitchFamily="2" charset="-127"/>
                <a:sym typeface="Nanum Square Bold"/>
              </a:rPr>
              <a:t>결론</a:t>
            </a:r>
            <a:endParaRPr lang="ko-KR" altLang="en-US" sz="5000">
              <a:solidFill>
                <a:srgbClr val="454444"/>
              </a:solidFill>
              <a:highlight>
                <a:srgbClr val="FFFF00"/>
              </a:highlight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D2909AE0-48FC-3775-6E09-5D246190CA88}"/>
              </a:ext>
            </a:extLst>
          </p:cNvPr>
          <p:cNvSpPr txBox="1"/>
          <p:nvPr/>
        </p:nvSpPr>
        <p:spPr>
          <a:xfrm>
            <a:off x="1123950" y="811675"/>
            <a:ext cx="3295650" cy="2239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888"/>
              </a:lnSpc>
            </a:pPr>
            <a:r>
              <a:rPr lang="ko-KR" altLang="en-US" sz="1574">
                <a:solidFill>
                  <a:srgbClr val="545454"/>
                </a:solidFill>
                <a:latin typeface="페이퍼로지 3 Light" pitchFamily="2" charset="-127"/>
                <a:ea typeface="페이퍼로지 3 Light" pitchFamily="2" charset="-127"/>
                <a:cs typeface="Nanum Square"/>
                <a:sym typeface="Nanum Square"/>
              </a:rPr>
              <a:t>한국언론학회 </a:t>
            </a:r>
            <a:r>
              <a:rPr lang="en-US" altLang="ko-KR" sz="1574">
                <a:solidFill>
                  <a:srgbClr val="545454"/>
                </a:solidFill>
                <a:latin typeface="페이퍼로지 3 Light" pitchFamily="2" charset="-127"/>
                <a:ea typeface="페이퍼로지 3 Light" pitchFamily="2" charset="-127"/>
                <a:cs typeface="Nanum Square"/>
                <a:sym typeface="Nanum Square"/>
              </a:rPr>
              <a:t>2025 </a:t>
            </a:r>
            <a:r>
              <a:rPr lang="ko-KR" altLang="en-US" sz="1574">
                <a:solidFill>
                  <a:srgbClr val="545454"/>
                </a:solidFill>
                <a:latin typeface="페이퍼로지 3 Light" pitchFamily="2" charset="-127"/>
                <a:ea typeface="페이퍼로지 3 Light" pitchFamily="2" charset="-127"/>
                <a:cs typeface="Nanum Square"/>
                <a:sym typeface="Nanum Square"/>
              </a:rPr>
              <a:t>가을철 학술대회</a:t>
            </a:r>
            <a:endParaRPr lang="en-US" altLang="ko-KR" sz="1574">
              <a:solidFill>
                <a:srgbClr val="545454"/>
              </a:solidFill>
              <a:latin typeface="페이퍼로지 3 Light" pitchFamily="2" charset="-127"/>
              <a:ea typeface="페이퍼로지 3 Light" pitchFamily="2" charset="-127"/>
              <a:cs typeface="Nanum Square"/>
              <a:sym typeface="Nanum Square"/>
            </a:endParaRPr>
          </a:p>
        </p:txBody>
      </p:sp>
      <p:sp>
        <p:nvSpPr>
          <p:cNvPr id="20" name="TextBox 12">
            <a:extLst>
              <a:ext uri="{FF2B5EF4-FFF2-40B4-BE49-F238E27FC236}">
                <a16:creationId xmlns:a16="http://schemas.microsoft.com/office/drawing/2014/main" id="{F017545D-452E-5417-4024-D44244683989}"/>
              </a:ext>
            </a:extLst>
          </p:cNvPr>
          <p:cNvSpPr txBox="1"/>
          <p:nvPr/>
        </p:nvSpPr>
        <p:spPr>
          <a:xfrm>
            <a:off x="15135245" y="792625"/>
            <a:ext cx="2124055" cy="2116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768"/>
              </a:lnSpc>
            </a:pPr>
            <a:r>
              <a:rPr lang="ko-KR" altLang="en-US" sz="1474" b="1">
                <a:solidFill>
                  <a:srgbClr val="545454"/>
                </a:solidFill>
                <a:latin typeface="페이퍼로지 6 SemiBold" pitchFamily="2" charset="-127"/>
                <a:ea typeface="페이퍼로지 6 SemiBold" pitchFamily="2" charset="-127"/>
                <a:cs typeface="Nanum Square Bold"/>
                <a:sym typeface="Nanum Square Bold"/>
              </a:rPr>
              <a:t>선문대학교</a:t>
            </a:r>
            <a:endParaRPr lang="en-US" sz="1474" b="1">
              <a:solidFill>
                <a:srgbClr val="545454"/>
              </a:solidFill>
              <a:latin typeface="페이퍼로지 6 SemiBold" pitchFamily="2" charset="-127"/>
              <a:ea typeface="페이퍼로지 6 SemiBold" pitchFamily="2" charset="-127"/>
              <a:cs typeface="Nanum Square Bold"/>
              <a:sym typeface="Nanum Square Bold"/>
            </a:endParaRPr>
          </a:p>
        </p:txBody>
      </p:sp>
      <p:sp>
        <p:nvSpPr>
          <p:cNvPr id="32" name="슬라이드 번호 개체 틀 31">
            <a:extLst>
              <a:ext uri="{FF2B5EF4-FFF2-40B4-BE49-F238E27FC236}">
                <a16:creationId xmlns:a16="http://schemas.microsoft.com/office/drawing/2014/main" id="{5ED4E0B2-3919-6C8E-4A42-9A9BFBCA2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48BE4AB-457E-7AA4-4500-A387E7B69A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9865" y="4063937"/>
            <a:ext cx="1828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115820847" rIns="0" bIns="86812074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1" i="0" u="none" strike="noStrike" cap="none" normalizeH="0" baseline="0">
                <a:ln>
                  <a:noFill/>
                </a:ln>
                <a:solidFill>
                  <a:srgbClr val="2A5298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예시 (5년 4,800억 계획)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000" b="1" i="0" u="none" strike="noStrike" cap="none" normalizeH="0" baseline="0">
              <a:ln>
                <a:noFill/>
              </a:ln>
              <a:solidFill>
                <a:srgbClr val="2A5298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1" i="0" u="none" strike="noStrike" cap="none" normalizeH="0" baseline="0">
                <a:ln>
                  <a:noFill/>
                </a:ln>
                <a:solidFill>
                  <a:srgbClr val="2A5298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장점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077A8B91-B8CC-4E8B-43BF-8E45E689DA12}"/>
              </a:ext>
            </a:extLst>
          </p:cNvPr>
          <p:cNvSpPr/>
          <p:nvPr/>
        </p:nvSpPr>
        <p:spPr>
          <a:xfrm>
            <a:off x="1123950" y="2705100"/>
            <a:ext cx="7948076" cy="1358833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200" b="1">
                <a:latin typeface="페이퍼로지 6 SemiBold" pitchFamily="2" charset="-127"/>
                <a:ea typeface="페이퍼로지 6 SemiBold" pitchFamily="2" charset="-127"/>
              </a:rPr>
              <a:t>규제 혁신이 산업 경쟁력을 높인다</a:t>
            </a:r>
          </a:p>
        </p:txBody>
      </p:sp>
      <p:grpSp>
        <p:nvGrpSpPr>
          <p:cNvPr id="10" name="Group 3">
            <a:extLst>
              <a:ext uri="{FF2B5EF4-FFF2-40B4-BE49-F238E27FC236}">
                <a16:creationId xmlns:a16="http://schemas.microsoft.com/office/drawing/2014/main" id="{569879D9-4808-A8B8-4639-2F5273952405}"/>
              </a:ext>
            </a:extLst>
          </p:cNvPr>
          <p:cNvGrpSpPr/>
          <p:nvPr/>
        </p:nvGrpSpPr>
        <p:grpSpPr>
          <a:xfrm>
            <a:off x="1195924" y="4813718"/>
            <a:ext cx="7948076" cy="5130381"/>
            <a:chOff x="0" y="0"/>
            <a:chExt cx="3869376" cy="2095205"/>
          </a:xfrm>
        </p:grpSpPr>
        <p:sp>
          <p:nvSpPr>
            <p:cNvPr id="11" name="Freeform 4">
              <a:extLst>
                <a:ext uri="{FF2B5EF4-FFF2-40B4-BE49-F238E27FC236}">
                  <a16:creationId xmlns:a16="http://schemas.microsoft.com/office/drawing/2014/main" id="{8319B0C9-37CD-969C-3140-2F80E3548EE7}"/>
                </a:ext>
              </a:extLst>
            </p:cNvPr>
            <p:cNvSpPr/>
            <p:nvPr/>
          </p:nvSpPr>
          <p:spPr>
            <a:xfrm>
              <a:off x="0" y="0"/>
              <a:ext cx="3869376" cy="2095205"/>
            </a:xfrm>
            <a:custGeom>
              <a:avLst/>
              <a:gdLst/>
              <a:ahLst/>
              <a:cxnLst/>
              <a:rect l="l" t="t" r="r" b="b"/>
              <a:pathLst>
                <a:path w="3869376" h="2095205">
                  <a:moveTo>
                    <a:pt x="14611" y="0"/>
                  </a:moveTo>
                  <a:lnTo>
                    <a:pt x="3854765" y="0"/>
                  </a:lnTo>
                  <a:cubicBezTo>
                    <a:pt x="3858640" y="0"/>
                    <a:pt x="3862357" y="1539"/>
                    <a:pt x="3865097" y="4279"/>
                  </a:cubicBezTo>
                  <a:cubicBezTo>
                    <a:pt x="3867837" y="7020"/>
                    <a:pt x="3869376" y="10736"/>
                    <a:pt x="3869376" y="14611"/>
                  </a:cubicBezTo>
                  <a:lnTo>
                    <a:pt x="3869376" y="2080594"/>
                  </a:lnTo>
                  <a:cubicBezTo>
                    <a:pt x="3869376" y="2088664"/>
                    <a:pt x="3862835" y="2095205"/>
                    <a:pt x="3854765" y="2095205"/>
                  </a:cubicBezTo>
                  <a:lnTo>
                    <a:pt x="14611" y="2095205"/>
                  </a:lnTo>
                  <a:cubicBezTo>
                    <a:pt x="10736" y="2095205"/>
                    <a:pt x="7020" y="2093666"/>
                    <a:pt x="4279" y="2090926"/>
                  </a:cubicBezTo>
                  <a:cubicBezTo>
                    <a:pt x="1539" y="2088186"/>
                    <a:pt x="0" y="2084469"/>
                    <a:pt x="0" y="2080594"/>
                  </a:cubicBezTo>
                  <a:lnTo>
                    <a:pt x="0" y="14611"/>
                  </a:lnTo>
                  <a:cubicBezTo>
                    <a:pt x="0" y="6542"/>
                    <a:pt x="6542" y="0"/>
                    <a:pt x="1461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15A9F1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BFA6FBE-86F6-BAB7-8BF8-1FA50C914221}"/>
                </a:ext>
              </a:extLst>
            </p:cNvPr>
            <p:cNvSpPr txBox="1"/>
            <p:nvPr/>
          </p:nvSpPr>
          <p:spPr>
            <a:xfrm>
              <a:off x="0" y="-9525"/>
              <a:ext cx="3869376" cy="21047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27"/>
                </a:lnSpc>
              </a:pPr>
              <a:endParaRPr/>
            </a:p>
          </p:txBody>
        </p:sp>
      </p:grpSp>
      <p:sp>
        <p:nvSpPr>
          <p:cNvPr id="15" name="TextBox 22">
            <a:extLst>
              <a:ext uri="{FF2B5EF4-FFF2-40B4-BE49-F238E27FC236}">
                <a16:creationId xmlns:a16="http://schemas.microsoft.com/office/drawing/2014/main" id="{7FA91E66-80B6-9E14-0D8E-A9DE0153A43E}"/>
              </a:ext>
            </a:extLst>
          </p:cNvPr>
          <p:cNvSpPr txBox="1"/>
          <p:nvPr/>
        </p:nvSpPr>
        <p:spPr>
          <a:xfrm>
            <a:off x="1650357" y="5224144"/>
            <a:ext cx="6528369" cy="4825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2"/>
              </a:lnSpc>
            </a:pPr>
            <a:r>
              <a:rPr lang="ko-KR" altLang="en-US" sz="3376">
                <a:solidFill>
                  <a:srgbClr val="454444"/>
                </a:solidFill>
                <a:latin typeface="페이퍼로지 4 Regular" pitchFamily="2" charset="-127"/>
                <a:ea typeface="페이퍼로지 4 Regular" pitchFamily="2" charset="-127"/>
                <a:cs typeface="Nanum Square Bold"/>
                <a:sym typeface="Nanum Square Bold"/>
              </a:rPr>
              <a:t>핵심발견</a:t>
            </a:r>
          </a:p>
        </p:txBody>
      </p:sp>
      <p:sp>
        <p:nvSpPr>
          <p:cNvPr id="16" name="TextBox 17">
            <a:extLst>
              <a:ext uri="{FF2B5EF4-FFF2-40B4-BE49-F238E27FC236}">
                <a16:creationId xmlns:a16="http://schemas.microsoft.com/office/drawing/2014/main" id="{7080FB57-A814-4E08-5EAB-78D22BB154BF}"/>
              </a:ext>
            </a:extLst>
          </p:cNvPr>
          <p:cNvSpPr txBox="1"/>
          <p:nvPr/>
        </p:nvSpPr>
        <p:spPr>
          <a:xfrm>
            <a:off x="1447800" y="6506718"/>
            <a:ext cx="7454560" cy="32671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>
                <a:latin typeface="페이퍼로지 4 Regular" pitchFamily="2" charset="-127"/>
                <a:ea typeface="페이퍼로지 4 Regular" pitchFamily="2" charset="-127"/>
              </a:rPr>
              <a:t>종편 콘텐츠 투자비 준수 조건은 정책 목표 이미 달성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>
                <a:latin typeface="페이퍼로지 4 Regular" pitchFamily="2" charset="-127"/>
                <a:ea typeface="페이퍼로지 4 Regular" pitchFamily="2" charset="-127"/>
              </a:rPr>
              <a:t>15</a:t>
            </a:r>
            <a:r>
              <a:rPr lang="ko-KR" altLang="en-US">
                <a:latin typeface="페이퍼로지 4 Regular" pitchFamily="2" charset="-127"/>
                <a:ea typeface="페이퍼로지 4 Regular" pitchFamily="2" charset="-127"/>
              </a:rPr>
              <a:t>년간 투자 정착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>
                <a:latin typeface="페이퍼로지 4 Regular" pitchFamily="2" charset="-127"/>
                <a:ea typeface="페이퍼로지 4 Regular" pitchFamily="2" charset="-127"/>
              </a:rPr>
              <a:t>연 </a:t>
            </a:r>
            <a:r>
              <a:rPr lang="en-US" altLang="ko-KR">
                <a:latin typeface="페이퍼로지 4 Regular" pitchFamily="2" charset="-127"/>
                <a:ea typeface="페이퍼로지 4 Regular" pitchFamily="2" charset="-127"/>
              </a:rPr>
              <a:t>2,000</a:t>
            </a:r>
            <a:r>
              <a:rPr lang="ko-KR" altLang="en-US">
                <a:latin typeface="페이퍼로지 4 Regular" pitchFamily="2" charset="-127"/>
                <a:ea typeface="페이퍼로지 4 Regular" pitchFamily="2" charset="-127"/>
              </a:rPr>
              <a:t>억 규모 안정적 투자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>
                <a:latin typeface="페이퍼로지 4 Regular" pitchFamily="2" charset="-127"/>
                <a:ea typeface="페이퍼로지 4 Regular" pitchFamily="2" charset="-127"/>
              </a:rPr>
              <a:t>강제 규제가 오히려 총 투자 감소 </a:t>
            </a:r>
            <a:r>
              <a:rPr lang="en-US" altLang="ko-KR">
                <a:latin typeface="페이퍼로지 4 Regular" pitchFamily="2" charset="-127"/>
                <a:ea typeface="페이퍼로지 4 Regular" pitchFamily="2" charset="-127"/>
              </a:rPr>
              <a:t>(</a:t>
            </a:r>
            <a:r>
              <a:rPr lang="ko-KR" altLang="en-US">
                <a:latin typeface="페이퍼로지 4 Regular" pitchFamily="2" charset="-127"/>
                <a:ea typeface="페이퍼로지 4 Regular" pitchFamily="2" charset="-127"/>
              </a:rPr>
              <a:t>구축효과</a:t>
            </a:r>
            <a:r>
              <a:rPr lang="en-US" altLang="ko-KR">
                <a:latin typeface="페이퍼로지 4 Regular" pitchFamily="2" charset="-127"/>
                <a:ea typeface="페이퍼로지 4 Regular" pitchFamily="2" charset="-127"/>
              </a:rPr>
              <a:t>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>
                <a:latin typeface="페이퍼로지 4 Regular" pitchFamily="2" charset="-127"/>
                <a:ea typeface="페이퍼로지 4 Regular" pitchFamily="2" charset="-127"/>
              </a:rPr>
              <a:t>기금 </a:t>
            </a:r>
            <a:r>
              <a:rPr lang="en-US" altLang="ko-KR">
                <a:latin typeface="페이퍼로지 4 Regular" pitchFamily="2" charset="-127"/>
                <a:ea typeface="페이퍼로지 4 Regular" pitchFamily="2" charset="-127"/>
              </a:rPr>
              <a:t>431</a:t>
            </a:r>
            <a:r>
              <a:rPr lang="ko-KR" altLang="en-US">
                <a:latin typeface="페이퍼로지 4 Regular" pitchFamily="2" charset="-127"/>
                <a:ea typeface="페이퍼로지 4 Regular" pitchFamily="2" charset="-127"/>
              </a:rPr>
              <a:t>억 </a:t>
            </a:r>
            <a:r>
              <a:rPr lang="en-US" altLang="ko-KR">
                <a:latin typeface="페이퍼로지 4 Regular" pitchFamily="2" charset="-127"/>
                <a:ea typeface="페이퍼로지 4 Regular" pitchFamily="2" charset="-127"/>
                <a:sym typeface="Wingdings" panose="05000000000000000000" pitchFamily="2" charset="2"/>
              </a:rPr>
              <a:t></a:t>
            </a:r>
            <a:r>
              <a:rPr lang="en-US" altLang="ko-KR">
                <a:latin typeface="페이퍼로지 4 Regular" pitchFamily="2" charset="-127"/>
                <a:ea typeface="페이퍼로지 4 Regular" pitchFamily="2" charset="-127"/>
              </a:rPr>
              <a:t> </a:t>
            </a:r>
            <a:r>
              <a:rPr lang="ko-KR" altLang="en-US">
                <a:latin typeface="페이퍼로지 4 Regular" pitchFamily="2" charset="-127"/>
                <a:ea typeface="페이퍼로지 4 Regular" pitchFamily="2" charset="-127"/>
              </a:rPr>
              <a:t>투자 </a:t>
            </a:r>
            <a:r>
              <a:rPr lang="en-US" altLang="ko-KR">
                <a:latin typeface="페이퍼로지 4 Regular" pitchFamily="2" charset="-127"/>
                <a:ea typeface="페이퍼로지 4 Regular" pitchFamily="2" charset="-127"/>
              </a:rPr>
              <a:t>733~1,640</a:t>
            </a:r>
            <a:r>
              <a:rPr lang="ko-KR" altLang="en-US">
                <a:latin typeface="페이퍼로지 4 Regular" pitchFamily="2" charset="-127"/>
                <a:ea typeface="페이퍼로지 4 Regular" pitchFamily="2" charset="-127"/>
              </a:rPr>
              <a:t>억 감소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>
                <a:latin typeface="페이퍼로지 4 Regular" pitchFamily="2" charset="-127"/>
                <a:ea typeface="페이퍼로지 4 Regular" pitchFamily="2" charset="-127"/>
              </a:rPr>
              <a:t>경직된 규제가 시장 대응력 약화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>
                <a:latin typeface="페이퍼로지 4 Regular" pitchFamily="2" charset="-127"/>
                <a:ea typeface="페이퍼로지 4 Regular" pitchFamily="2" charset="-127"/>
              </a:rPr>
              <a:t>5</a:t>
            </a:r>
            <a:r>
              <a:rPr lang="ko-KR" altLang="en-US">
                <a:latin typeface="페이퍼로지 4 Regular" pitchFamily="2" charset="-127"/>
                <a:ea typeface="페이퍼로지 4 Regular" pitchFamily="2" charset="-127"/>
              </a:rPr>
              <a:t>년 계획 강제 </a:t>
            </a:r>
            <a:r>
              <a:rPr lang="en-US" altLang="ko-KR">
                <a:latin typeface="페이퍼로지 4 Regular" pitchFamily="2" charset="-127"/>
                <a:ea typeface="페이퍼로지 4 Regular" pitchFamily="2" charset="-127"/>
                <a:sym typeface="Wingdings" panose="05000000000000000000" pitchFamily="2" charset="2"/>
              </a:rPr>
              <a:t></a:t>
            </a:r>
            <a:r>
              <a:rPr lang="en-US" altLang="ko-KR">
                <a:latin typeface="페이퍼로지 4 Regular" pitchFamily="2" charset="-127"/>
                <a:ea typeface="페이퍼로지 4 Regular" pitchFamily="2" charset="-127"/>
              </a:rPr>
              <a:t> </a:t>
            </a:r>
            <a:r>
              <a:rPr lang="ko-KR" altLang="en-US">
                <a:latin typeface="페이퍼로지 4 Regular" pitchFamily="2" charset="-127"/>
                <a:ea typeface="페이퍼로지 4 Regular" pitchFamily="2" charset="-127"/>
              </a:rPr>
              <a:t>변화 대응 불가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>
                <a:latin typeface="페이퍼로지 4 Regular" pitchFamily="2" charset="-127"/>
                <a:ea typeface="페이퍼로지 4 Regular" pitchFamily="2" charset="-127"/>
              </a:rPr>
              <a:t>지속가능성 저해</a:t>
            </a:r>
          </a:p>
        </p:txBody>
      </p:sp>
      <p:sp>
        <p:nvSpPr>
          <p:cNvPr id="17" name="AutoShape 9">
            <a:extLst>
              <a:ext uri="{FF2B5EF4-FFF2-40B4-BE49-F238E27FC236}">
                <a16:creationId xmlns:a16="http://schemas.microsoft.com/office/drawing/2014/main" id="{06B76A52-282F-23FE-FFEE-A46535B2CB6E}"/>
              </a:ext>
            </a:extLst>
          </p:cNvPr>
          <p:cNvSpPr/>
          <p:nvPr/>
        </p:nvSpPr>
        <p:spPr>
          <a:xfrm>
            <a:off x="1447800" y="6134100"/>
            <a:ext cx="7508233" cy="0"/>
          </a:xfrm>
          <a:prstGeom prst="line">
            <a:avLst/>
          </a:prstGeom>
          <a:ln w="9525" cap="flat">
            <a:solidFill>
              <a:srgbClr val="15A9F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C79A53ED-1FC2-C734-BCDF-3184C45F60FA}"/>
              </a:ext>
            </a:extLst>
          </p:cNvPr>
          <p:cNvSpPr/>
          <p:nvPr/>
        </p:nvSpPr>
        <p:spPr>
          <a:xfrm>
            <a:off x="9587941" y="2717800"/>
            <a:ext cx="7948076" cy="1358833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b="1">
                <a:latin typeface="페이퍼로지 6 SemiBold" pitchFamily="2" charset="-127"/>
                <a:ea typeface="페이퍼로지 6 SemiBold" pitchFamily="2" charset="-127"/>
              </a:rPr>
              <a:t>JTBC </a:t>
            </a:r>
            <a:r>
              <a:rPr lang="ko-KR" altLang="en-US" sz="3200" b="1">
                <a:latin typeface="페이퍼로지 6 SemiBold" pitchFamily="2" charset="-127"/>
                <a:ea typeface="페이퍼로지 6 SemiBold" pitchFamily="2" charset="-127"/>
              </a:rPr>
              <a:t>재승인 계기로</a:t>
            </a:r>
          </a:p>
          <a:p>
            <a:pPr algn="ctr"/>
            <a:r>
              <a:rPr lang="ko-KR" altLang="en-US" sz="2000" b="1">
                <a:latin typeface="페이퍼로지 6 SemiBold" pitchFamily="2" charset="-127"/>
                <a:ea typeface="페이퍼로지 6 SemiBold" pitchFamily="2" charset="-127"/>
              </a:rPr>
              <a:t>콘텐츠 투자비 준수 조건 전면 폐지</a:t>
            </a:r>
          </a:p>
          <a:p>
            <a:pPr algn="ctr"/>
            <a:r>
              <a:rPr lang="ko-KR" altLang="en-US" sz="2000" b="1">
                <a:latin typeface="페이퍼로지 6 SemiBold" pitchFamily="2" charset="-127"/>
                <a:ea typeface="페이퍼로지 6 SemiBold" pitchFamily="2" charset="-127"/>
              </a:rPr>
              <a:t>종편 </a:t>
            </a:r>
            <a:r>
              <a:rPr lang="en-US" altLang="ko-KR" sz="2000" b="1">
                <a:latin typeface="페이퍼로지 6 SemiBold" pitchFamily="2" charset="-127"/>
                <a:ea typeface="페이퍼로지 6 SemiBold" pitchFamily="2" charset="-127"/>
              </a:rPr>
              <a:t>4</a:t>
            </a:r>
            <a:r>
              <a:rPr lang="ko-KR" altLang="en-US" sz="2000" b="1">
                <a:latin typeface="페이퍼로지 6 SemiBold" pitchFamily="2" charset="-127"/>
                <a:ea typeface="페이퍼로지 6 SemiBold" pitchFamily="2" charset="-127"/>
              </a:rPr>
              <a:t>사 일괄 적용</a:t>
            </a:r>
          </a:p>
        </p:txBody>
      </p:sp>
      <p:grpSp>
        <p:nvGrpSpPr>
          <p:cNvPr id="21" name="Group 3">
            <a:extLst>
              <a:ext uri="{FF2B5EF4-FFF2-40B4-BE49-F238E27FC236}">
                <a16:creationId xmlns:a16="http://schemas.microsoft.com/office/drawing/2014/main" id="{0EE09A4A-B5D0-53ED-6275-5D7804F15943}"/>
              </a:ext>
            </a:extLst>
          </p:cNvPr>
          <p:cNvGrpSpPr/>
          <p:nvPr/>
        </p:nvGrpSpPr>
        <p:grpSpPr>
          <a:xfrm>
            <a:off x="9659915" y="4826418"/>
            <a:ext cx="7948076" cy="5130381"/>
            <a:chOff x="0" y="0"/>
            <a:chExt cx="3869376" cy="2095205"/>
          </a:xfrm>
        </p:grpSpPr>
        <p:sp>
          <p:nvSpPr>
            <p:cNvPr id="22" name="Freeform 4">
              <a:extLst>
                <a:ext uri="{FF2B5EF4-FFF2-40B4-BE49-F238E27FC236}">
                  <a16:creationId xmlns:a16="http://schemas.microsoft.com/office/drawing/2014/main" id="{6C116F25-6D83-835A-825A-26981574B76B}"/>
                </a:ext>
              </a:extLst>
            </p:cNvPr>
            <p:cNvSpPr/>
            <p:nvPr/>
          </p:nvSpPr>
          <p:spPr>
            <a:xfrm>
              <a:off x="0" y="0"/>
              <a:ext cx="3869376" cy="2095205"/>
            </a:xfrm>
            <a:custGeom>
              <a:avLst/>
              <a:gdLst/>
              <a:ahLst/>
              <a:cxnLst/>
              <a:rect l="l" t="t" r="r" b="b"/>
              <a:pathLst>
                <a:path w="3869376" h="2095205">
                  <a:moveTo>
                    <a:pt x="14611" y="0"/>
                  </a:moveTo>
                  <a:lnTo>
                    <a:pt x="3854765" y="0"/>
                  </a:lnTo>
                  <a:cubicBezTo>
                    <a:pt x="3858640" y="0"/>
                    <a:pt x="3862357" y="1539"/>
                    <a:pt x="3865097" y="4279"/>
                  </a:cubicBezTo>
                  <a:cubicBezTo>
                    <a:pt x="3867837" y="7020"/>
                    <a:pt x="3869376" y="10736"/>
                    <a:pt x="3869376" y="14611"/>
                  </a:cubicBezTo>
                  <a:lnTo>
                    <a:pt x="3869376" y="2080594"/>
                  </a:lnTo>
                  <a:cubicBezTo>
                    <a:pt x="3869376" y="2088664"/>
                    <a:pt x="3862835" y="2095205"/>
                    <a:pt x="3854765" y="2095205"/>
                  </a:cubicBezTo>
                  <a:lnTo>
                    <a:pt x="14611" y="2095205"/>
                  </a:lnTo>
                  <a:cubicBezTo>
                    <a:pt x="10736" y="2095205"/>
                    <a:pt x="7020" y="2093666"/>
                    <a:pt x="4279" y="2090926"/>
                  </a:cubicBezTo>
                  <a:cubicBezTo>
                    <a:pt x="1539" y="2088186"/>
                    <a:pt x="0" y="2084469"/>
                    <a:pt x="0" y="2080594"/>
                  </a:cubicBezTo>
                  <a:lnTo>
                    <a:pt x="0" y="14611"/>
                  </a:lnTo>
                  <a:cubicBezTo>
                    <a:pt x="0" y="6542"/>
                    <a:pt x="6542" y="0"/>
                    <a:pt x="1461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15A9F1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EF4461B-7451-CC3C-569A-53D3207EFC44}"/>
                </a:ext>
              </a:extLst>
            </p:cNvPr>
            <p:cNvSpPr txBox="1"/>
            <p:nvPr/>
          </p:nvSpPr>
          <p:spPr>
            <a:xfrm>
              <a:off x="0" y="-9525"/>
              <a:ext cx="3869376" cy="21047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27"/>
                </a:lnSpc>
              </a:pPr>
              <a:endParaRPr/>
            </a:p>
          </p:txBody>
        </p:sp>
      </p:grpSp>
      <p:sp>
        <p:nvSpPr>
          <p:cNvPr id="24" name="TextBox 22">
            <a:extLst>
              <a:ext uri="{FF2B5EF4-FFF2-40B4-BE49-F238E27FC236}">
                <a16:creationId xmlns:a16="http://schemas.microsoft.com/office/drawing/2014/main" id="{7D34ADA0-58F5-7C46-FA97-EAD69333B943}"/>
              </a:ext>
            </a:extLst>
          </p:cNvPr>
          <p:cNvSpPr txBox="1"/>
          <p:nvPr/>
        </p:nvSpPr>
        <p:spPr>
          <a:xfrm>
            <a:off x="10114348" y="5236844"/>
            <a:ext cx="6528369" cy="4825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2"/>
              </a:lnSpc>
            </a:pPr>
            <a:r>
              <a:rPr lang="ko-KR" altLang="en-US" sz="3376">
                <a:solidFill>
                  <a:srgbClr val="454444"/>
                </a:solidFill>
                <a:latin typeface="페이퍼로지 4 Regular" pitchFamily="2" charset="-127"/>
                <a:ea typeface="페이퍼로지 4 Regular" pitchFamily="2" charset="-127"/>
                <a:cs typeface="Nanum Square Bold"/>
                <a:sym typeface="Nanum Square Bold"/>
              </a:rPr>
              <a:t>즉시 추진사항 </a:t>
            </a:r>
          </a:p>
        </p:txBody>
      </p:sp>
      <p:sp>
        <p:nvSpPr>
          <p:cNvPr id="25" name="TextBox 17">
            <a:extLst>
              <a:ext uri="{FF2B5EF4-FFF2-40B4-BE49-F238E27FC236}">
                <a16:creationId xmlns:a16="http://schemas.microsoft.com/office/drawing/2014/main" id="{500B3244-CCA6-A80E-60E0-65859DB4CA09}"/>
              </a:ext>
            </a:extLst>
          </p:cNvPr>
          <p:cNvSpPr txBox="1"/>
          <p:nvPr/>
        </p:nvSpPr>
        <p:spPr>
          <a:xfrm>
            <a:off x="9911791" y="6519418"/>
            <a:ext cx="7454560" cy="28516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>
                <a:latin typeface="페이퍼로지 4 Regular" pitchFamily="2" charset="-127"/>
                <a:ea typeface="페이퍼로지 4 Regular" pitchFamily="2" charset="-127"/>
              </a:rPr>
              <a:t>폐지가 어려울 경우</a:t>
            </a:r>
            <a:endParaRPr lang="en-US" altLang="ko-KR">
              <a:latin typeface="페이퍼로지 4 Regular" pitchFamily="2" charset="-127"/>
              <a:ea typeface="페이퍼로지 4 Regular" pitchFamily="2" charset="-127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>
                <a:latin typeface="페이퍼로지 4 Regular" pitchFamily="2" charset="-127"/>
                <a:ea typeface="페이퍼로지 4 Regular" pitchFamily="2" charset="-127"/>
              </a:rPr>
              <a:t>매출액 연동형 </a:t>
            </a:r>
            <a:r>
              <a:rPr lang="en-US" altLang="ko-KR">
                <a:latin typeface="페이퍼로지 4 Regular" pitchFamily="2" charset="-127"/>
                <a:ea typeface="페이퍼로지 4 Regular" pitchFamily="2" charset="-127"/>
              </a:rPr>
              <a:t>30% </a:t>
            </a:r>
            <a:r>
              <a:rPr lang="ko-KR" altLang="en-US">
                <a:latin typeface="페이퍼로지 4 Regular" pitchFamily="2" charset="-127"/>
                <a:ea typeface="페이퍼로지 4 Regular" pitchFamily="2" charset="-127"/>
              </a:rPr>
              <a:t>기준 </a:t>
            </a:r>
            <a:r>
              <a:rPr lang="en-US" altLang="ko-KR">
                <a:latin typeface="페이퍼로지 4 Regular" pitchFamily="2" charset="-127"/>
                <a:ea typeface="페이퍼로지 4 Regular" pitchFamily="2" charset="-127"/>
              </a:rPr>
              <a:t>(1</a:t>
            </a:r>
            <a:r>
              <a:rPr lang="ko-KR" altLang="en-US">
                <a:latin typeface="페이퍼로지 4 Regular" pitchFamily="2" charset="-127"/>
                <a:ea typeface="페이퍼로지 4 Regular" pitchFamily="2" charset="-127"/>
              </a:rPr>
              <a:t>순위</a:t>
            </a:r>
            <a:r>
              <a:rPr lang="en-US" altLang="ko-KR">
                <a:latin typeface="페이퍼로지 4 Regular" pitchFamily="2" charset="-127"/>
                <a:ea typeface="페이퍼로지 4 Regular" pitchFamily="2" charset="-127"/>
              </a:rPr>
              <a:t>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>
                <a:latin typeface="페이퍼로지 4 Regular" pitchFamily="2" charset="-127"/>
                <a:ea typeface="페이퍼로지 4 Regular" pitchFamily="2" charset="-127"/>
              </a:rPr>
              <a:t>총량 관리 방식 </a:t>
            </a:r>
            <a:r>
              <a:rPr lang="en-US" altLang="ko-KR">
                <a:latin typeface="페이퍼로지 4 Regular" pitchFamily="2" charset="-127"/>
                <a:ea typeface="페이퍼로지 4 Regular" pitchFamily="2" charset="-127"/>
              </a:rPr>
              <a:t>(2</a:t>
            </a:r>
            <a:r>
              <a:rPr lang="ko-KR" altLang="en-US">
                <a:latin typeface="페이퍼로지 4 Regular" pitchFamily="2" charset="-127"/>
                <a:ea typeface="페이퍼로지 4 Regular" pitchFamily="2" charset="-127"/>
              </a:rPr>
              <a:t>순위</a:t>
            </a:r>
            <a:r>
              <a:rPr lang="en-US" altLang="ko-KR">
                <a:latin typeface="페이퍼로지 4 Regular" pitchFamily="2" charset="-127"/>
                <a:ea typeface="페이퍼로지 4 Regular" pitchFamily="2" charset="-127"/>
              </a:rPr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>
                <a:latin typeface="페이퍼로지 4 Regular" pitchFamily="2" charset="-127"/>
                <a:ea typeface="페이퍼로지 4 Regular" pitchFamily="2" charset="-127"/>
              </a:rPr>
              <a:t>제도 개선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>
                <a:latin typeface="페이퍼로지 4 Regular" pitchFamily="2" charset="-127"/>
                <a:ea typeface="페이퍼로지 4 Regular" pitchFamily="2" charset="-127"/>
              </a:rPr>
              <a:t>재승인 유효기간 </a:t>
            </a:r>
            <a:r>
              <a:rPr lang="en-US" altLang="ko-KR">
                <a:latin typeface="페이퍼로지 4 Regular" pitchFamily="2" charset="-127"/>
                <a:ea typeface="페이퍼로지 4 Regular" pitchFamily="2" charset="-127"/>
              </a:rPr>
              <a:t>7</a:t>
            </a:r>
            <a:r>
              <a:rPr lang="ko-KR" altLang="en-US">
                <a:latin typeface="페이퍼로지 4 Regular" pitchFamily="2" charset="-127"/>
                <a:ea typeface="페이퍼로지 4 Regular" pitchFamily="2" charset="-127"/>
              </a:rPr>
              <a:t>년으로 확대 </a:t>
            </a:r>
            <a:br>
              <a:rPr lang="en-US" altLang="ko-KR">
                <a:latin typeface="페이퍼로지 4 Regular" pitchFamily="2" charset="-127"/>
                <a:ea typeface="페이퍼로지 4 Regular" pitchFamily="2" charset="-127"/>
              </a:rPr>
            </a:br>
            <a:r>
              <a:rPr lang="en-US" altLang="ko-KR">
                <a:latin typeface="페이퍼로지 4 Regular" pitchFamily="2" charset="-127"/>
                <a:ea typeface="페이퍼로지 4 Regular" pitchFamily="2" charset="-127"/>
                <a:sym typeface="Wingdings" panose="05000000000000000000" pitchFamily="2" charset="2"/>
              </a:rPr>
              <a:t> </a:t>
            </a:r>
            <a:r>
              <a:rPr lang="ko-KR" altLang="en-US">
                <a:latin typeface="페이퍼로지 4 Regular" pitchFamily="2" charset="-127"/>
                <a:ea typeface="페이퍼로지 4 Regular" pitchFamily="2" charset="-127"/>
                <a:sym typeface="Wingdings" panose="05000000000000000000" pitchFamily="2" charset="2"/>
              </a:rPr>
              <a:t>또는</a:t>
            </a:r>
            <a:r>
              <a:rPr lang="en-US" altLang="ko-KR">
                <a:latin typeface="페이퍼로지 4 Regular" pitchFamily="2" charset="-127"/>
                <a:ea typeface="페이퍼로지 4 Regular" pitchFamily="2" charset="-127"/>
                <a:sym typeface="Wingdings" panose="05000000000000000000" pitchFamily="2" charset="2"/>
              </a:rPr>
              <a:t>, </a:t>
            </a:r>
            <a:r>
              <a:rPr lang="ko-KR" altLang="en-US">
                <a:latin typeface="페이퍼로지 4 Regular" pitchFamily="2" charset="-127"/>
                <a:ea typeface="페이퍼로지 4 Regular" pitchFamily="2" charset="-127"/>
                <a:sym typeface="Wingdings" panose="05000000000000000000" pitchFamily="2" charset="2"/>
              </a:rPr>
              <a:t>과감한 폐지 및 사회적 모니터링 및 압력 시스템 마련</a:t>
            </a:r>
            <a:endParaRPr lang="ko-KR" altLang="en-US">
              <a:latin typeface="페이퍼로지 4 Regular" pitchFamily="2" charset="-127"/>
              <a:ea typeface="페이퍼로지 4 Regular" pitchFamily="2" charset="-127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>
                <a:latin typeface="페이퍼로지 4 Regular" pitchFamily="2" charset="-127"/>
                <a:ea typeface="페이퍼로지 4 Regular" pitchFamily="2" charset="-127"/>
              </a:rPr>
              <a:t>방송사업자 자율성 보장을 통한 경쟁력 확보</a:t>
            </a:r>
          </a:p>
        </p:txBody>
      </p:sp>
      <p:sp>
        <p:nvSpPr>
          <p:cNvPr id="26" name="AutoShape 9">
            <a:extLst>
              <a:ext uri="{FF2B5EF4-FFF2-40B4-BE49-F238E27FC236}">
                <a16:creationId xmlns:a16="http://schemas.microsoft.com/office/drawing/2014/main" id="{CD2E27C1-B1C2-C903-FA58-8BF9D559E652}"/>
              </a:ext>
            </a:extLst>
          </p:cNvPr>
          <p:cNvSpPr/>
          <p:nvPr/>
        </p:nvSpPr>
        <p:spPr>
          <a:xfrm>
            <a:off x="9911791" y="6146800"/>
            <a:ext cx="7508233" cy="0"/>
          </a:xfrm>
          <a:prstGeom prst="line">
            <a:avLst/>
          </a:prstGeom>
          <a:ln w="9525" cap="flat">
            <a:solidFill>
              <a:srgbClr val="15A9F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671756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1028700" y="1169525"/>
            <a:ext cx="16230600" cy="0"/>
          </a:xfrm>
          <a:prstGeom prst="line">
            <a:avLst/>
          </a:prstGeom>
          <a:ln w="19050" cap="flat">
            <a:solidFill>
              <a:srgbClr val="D9D9D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Box 6"/>
          <p:cNvSpPr txBox="1"/>
          <p:nvPr/>
        </p:nvSpPr>
        <p:spPr>
          <a:xfrm>
            <a:off x="1028700" y="2802306"/>
            <a:ext cx="4936163" cy="10843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158"/>
              </a:lnSpc>
            </a:pPr>
            <a:r>
              <a:rPr lang="en-US" sz="7632" b="1" spc="-228">
                <a:solidFill>
                  <a:srgbClr val="454444"/>
                </a:solidFill>
                <a:latin typeface="페이퍼로지 6 SemiBold" pitchFamily="2" charset="-127"/>
                <a:ea typeface="페이퍼로지 6 SemiBold" pitchFamily="2" charset="-127"/>
                <a:cs typeface="Nanum Square Bold"/>
                <a:sym typeface="Nanum Square Bold"/>
              </a:rPr>
              <a:t>감사합니다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4022769"/>
            <a:ext cx="7512193" cy="11319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579"/>
              </a:lnSpc>
            </a:pPr>
            <a:r>
              <a:rPr lang="en-US" sz="7983" b="1" spc="-239">
                <a:solidFill>
                  <a:srgbClr val="15A9F1"/>
                </a:solidFill>
                <a:latin typeface="페이퍼로지 6 SemiBold" pitchFamily="2" charset="-127"/>
                <a:ea typeface="페이퍼로지 6 SemiBold" pitchFamily="2" charset="-127"/>
                <a:cs typeface="Nanum Square Bold"/>
                <a:sym typeface="Nanum Square Bold"/>
              </a:rPr>
              <a:t>THANK YOU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652584" y="8723224"/>
            <a:ext cx="2429909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FFFFFF"/>
                </a:solidFill>
                <a:latin typeface="페이퍼로지 3 Light" pitchFamily="2" charset="-127"/>
                <a:ea typeface="페이퍼로지 3 Light" pitchFamily="2" charset="-127"/>
                <a:cs typeface="Nanum Square"/>
                <a:sym typeface="Nanum Square"/>
              </a:rPr>
              <a:t>담당자 : 이수진 팀장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025428" y="8723224"/>
            <a:ext cx="3171816" cy="615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FFFFFF"/>
                </a:solidFill>
                <a:latin typeface="페이퍼로지 3 Light" pitchFamily="2" charset="-127"/>
                <a:ea typeface="페이퍼로지 3 Light" pitchFamily="2" charset="-127"/>
                <a:cs typeface="Nanum Square"/>
                <a:sym typeface="Nanum Square"/>
              </a:rPr>
              <a:t>hello@reallygreatsite.com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392446" y="8723224"/>
            <a:ext cx="2151280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FFFFFF"/>
                </a:solidFill>
                <a:latin typeface="페이퍼로지 3 Light" pitchFamily="2" charset="-127"/>
                <a:ea typeface="페이퍼로지 3 Light" pitchFamily="2" charset="-127"/>
                <a:cs typeface="Nanum Square"/>
                <a:sym typeface="Nanum Square"/>
              </a:rPr>
              <a:t>+123-456-7890</a:t>
            </a:r>
          </a:p>
        </p:txBody>
      </p:sp>
      <p:sp>
        <p:nvSpPr>
          <p:cNvPr id="14" name="Freeform 14"/>
          <p:cNvSpPr/>
          <p:nvPr/>
        </p:nvSpPr>
        <p:spPr>
          <a:xfrm flipH="1">
            <a:off x="11299354" y="3420732"/>
            <a:ext cx="5674196" cy="4931392"/>
          </a:xfrm>
          <a:custGeom>
            <a:avLst/>
            <a:gdLst/>
            <a:ahLst/>
            <a:cxnLst/>
            <a:rect l="l" t="t" r="r" b="b"/>
            <a:pathLst>
              <a:path w="5674196" h="4931392">
                <a:moveTo>
                  <a:pt x="5674196" y="0"/>
                </a:moveTo>
                <a:lnTo>
                  <a:pt x="0" y="0"/>
                </a:lnTo>
                <a:lnTo>
                  <a:pt x="0" y="4931391"/>
                </a:lnTo>
                <a:lnTo>
                  <a:pt x="5674196" y="4931391"/>
                </a:lnTo>
                <a:lnTo>
                  <a:pt x="567419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17" name="Group 3">
            <a:extLst>
              <a:ext uri="{FF2B5EF4-FFF2-40B4-BE49-F238E27FC236}">
                <a16:creationId xmlns:a16="http://schemas.microsoft.com/office/drawing/2014/main" id="{BD12966B-5582-89F7-3433-9C0D885F65A9}"/>
              </a:ext>
            </a:extLst>
          </p:cNvPr>
          <p:cNvGrpSpPr/>
          <p:nvPr/>
        </p:nvGrpSpPr>
        <p:grpSpPr>
          <a:xfrm>
            <a:off x="1028700" y="8352123"/>
            <a:ext cx="16230600" cy="1085101"/>
            <a:chOff x="0" y="0"/>
            <a:chExt cx="8160170" cy="545550"/>
          </a:xfrm>
        </p:grpSpPr>
        <p:sp>
          <p:nvSpPr>
            <p:cNvPr id="18" name="Freeform 4">
              <a:extLst>
                <a:ext uri="{FF2B5EF4-FFF2-40B4-BE49-F238E27FC236}">
                  <a16:creationId xmlns:a16="http://schemas.microsoft.com/office/drawing/2014/main" id="{6EEDAE3D-087A-48A9-3EE5-01A21727914D}"/>
                </a:ext>
              </a:extLst>
            </p:cNvPr>
            <p:cNvSpPr/>
            <p:nvPr/>
          </p:nvSpPr>
          <p:spPr>
            <a:xfrm>
              <a:off x="0" y="0"/>
              <a:ext cx="8160169" cy="545550"/>
            </a:xfrm>
            <a:custGeom>
              <a:avLst/>
              <a:gdLst/>
              <a:ahLst/>
              <a:cxnLst/>
              <a:rect l="l" t="t" r="r" b="b"/>
              <a:pathLst>
                <a:path w="8160169" h="545550">
                  <a:moveTo>
                    <a:pt x="6678" y="0"/>
                  </a:moveTo>
                  <a:lnTo>
                    <a:pt x="8153491" y="0"/>
                  </a:lnTo>
                  <a:cubicBezTo>
                    <a:pt x="8157180" y="0"/>
                    <a:pt x="8160169" y="2990"/>
                    <a:pt x="8160169" y="6678"/>
                  </a:cubicBezTo>
                  <a:lnTo>
                    <a:pt x="8160169" y="538872"/>
                  </a:lnTo>
                  <a:cubicBezTo>
                    <a:pt x="8160169" y="542561"/>
                    <a:pt x="8157180" y="545550"/>
                    <a:pt x="8153491" y="545550"/>
                  </a:cubicBezTo>
                  <a:lnTo>
                    <a:pt x="6678" y="545550"/>
                  </a:lnTo>
                  <a:cubicBezTo>
                    <a:pt x="2990" y="545550"/>
                    <a:pt x="0" y="542561"/>
                    <a:pt x="0" y="538872"/>
                  </a:cubicBezTo>
                  <a:lnTo>
                    <a:pt x="0" y="6678"/>
                  </a:lnTo>
                  <a:cubicBezTo>
                    <a:pt x="0" y="2990"/>
                    <a:pt x="2990" y="0"/>
                    <a:pt x="6678" y="0"/>
                  </a:cubicBezTo>
                  <a:close/>
                </a:path>
              </a:pathLst>
            </a:custGeom>
            <a:solidFill>
              <a:srgbClr val="00ACFF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9" name="TextBox 5">
              <a:extLst>
                <a:ext uri="{FF2B5EF4-FFF2-40B4-BE49-F238E27FC236}">
                  <a16:creationId xmlns:a16="http://schemas.microsoft.com/office/drawing/2014/main" id="{E9DCECDE-D53C-A091-1349-F5A79FD04AB5}"/>
                </a:ext>
              </a:extLst>
            </p:cNvPr>
            <p:cNvSpPr txBox="1"/>
            <p:nvPr/>
          </p:nvSpPr>
          <p:spPr>
            <a:xfrm>
              <a:off x="0" y="-9525"/>
              <a:ext cx="8160170" cy="555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27"/>
                </a:lnSpc>
              </a:pPr>
              <a:endParaRPr/>
            </a:p>
          </p:txBody>
        </p:sp>
      </p:grpSp>
      <p:sp>
        <p:nvSpPr>
          <p:cNvPr id="20" name="TextBox 9">
            <a:extLst>
              <a:ext uri="{FF2B5EF4-FFF2-40B4-BE49-F238E27FC236}">
                <a16:creationId xmlns:a16="http://schemas.microsoft.com/office/drawing/2014/main" id="{ADB5AC2A-2FC3-1A70-7805-E330A2606B6D}"/>
              </a:ext>
            </a:extLst>
          </p:cNvPr>
          <p:cNvSpPr txBox="1"/>
          <p:nvPr/>
        </p:nvSpPr>
        <p:spPr>
          <a:xfrm>
            <a:off x="1652584" y="8723224"/>
            <a:ext cx="2429909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ko-KR" altLang="en-US" sz="2000">
                <a:solidFill>
                  <a:srgbClr val="FFFFFF"/>
                </a:solidFill>
                <a:latin typeface="페이퍼로지 3 Light" pitchFamily="2" charset="-127"/>
                <a:ea typeface="페이퍼로지 3 Light" pitchFamily="2" charset="-127"/>
                <a:cs typeface="Nanum Square"/>
                <a:sym typeface="Nanum Square"/>
              </a:rPr>
              <a:t>발표자</a:t>
            </a:r>
            <a:r>
              <a:rPr lang="en-US" altLang="ko-KR" sz="2000">
                <a:solidFill>
                  <a:srgbClr val="FFFFFF"/>
                </a:solidFill>
                <a:latin typeface="페이퍼로지 3 Light" pitchFamily="2" charset="-127"/>
                <a:ea typeface="페이퍼로지 3 Light" pitchFamily="2" charset="-127"/>
                <a:cs typeface="Nanum Square"/>
                <a:sym typeface="Nanum Square"/>
              </a:rPr>
              <a:t>: </a:t>
            </a:r>
            <a:r>
              <a:rPr lang="ko-KR" altLang="en-US" sz="2000">
                <a:solidFill>
                  <a:srgbClr val="FFFFFF"/>
                </a:solidFill>
                <a:latin typeface="페이퍼로지 3 Light" pitchFamily="2" charset="-127"/>
                <a:ea typeface="페이퍼로지 3 Light" pitchFamily="2" charset="-127"/>
                <a:cs typeface="Nanum Square"/>
                <a:sym typeface="Nanum Square"/>
              </a:rPr>
              <a:t>김용희</a:t>
            </a:r>
            <a:endParaRPr lang="en-US" sz="2000">
              <a:solidFill>
                <a:srgbClr val="FFFFFF"/>
              </a:solidFill>
              <a:latin typeface="페이퍼로지 3 Light" pitchFamily="2" charset="-127"/>
              <a:ea typeface="페이퍼로지 3 Light" pitchFamily="2" charset="-127"/>
              <a:cs typeface="Nanum Square"/>
              <a:sym typeface="Nanum Square"/>
            </a:endParaRPr>
          </a:p>
        </p:txBody>
      </p:sp>
      <p:sp>
        <p:nvSpPr>
          <p:cNvPr id="21" name="TextBox 10">
            <a:extLst>
              <a:ext uri="{FF2B5EF4-FFF2-40B4-BE49-F238E27FC236}">
                <a16:creationId xmlns:a16="http://schemas.microsoft.com/office/drawing/2014/main" id="{3277E7E0-CBC9-1ED8-A6A2-5407AE2E6B7C}"/>
              </a:ext>
            </a:extLst>
          </p:cNvPr>
          <p:cNvSpPr txBox="1"/>
          <p:nvPr/>
        </p:nvSpPr>
        <p:spPr>
          <a:xfrm>
            <a:off x="7025428" y="8723224"/>
            <a:ext cx="4273926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FFFFFF"/>
                </a:solidFill>
                <a:latin typeface="페이퍼로지 3 Light" pitchFamily="2" charset="-127"/>
                <a:ea typeface="페이퍼로지 3 Light" pitchFamily="2" charset="-127"/>
                <a:cs typeface="Nanum Square"/>
                <a:sym typeface="Nanum Square"/>
              </a:rPr>
              <a:t>yhkim1981@sunmoon.ac.kr</a:t>
            </a:r>
          </a:p>
        </p:txBody>
      </p:sp>
      <p:sp>
        <p:nvSpPr>
          <p:cNvPr id="22" name="TextBox 11">
            <a:extLst>
              <a:ext uri="{FF2B5EF4-FFF2-40B4-BE49-F238E27FC236}">
                <a16:creationId xmlns:a16="http://schemas.microsoft.com/office/drawing/2014/main" id="{E2736D8F-F842-8A34-A756-03468089BCAC}"/>
              </a:ext>
            </a:extLst>
          </p:cNvPr>
          <p:cNvSpPr txBox="1"/>
          <p:nvPr/>
        </p:nvSpPr>
        <p:spPr>
          <a:xfrm>
            <a:off x="4382921" y="8723224"/>
            <a:ext cx="2151280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FFFFFF"/>
                </a:solidFill>
                <a:latin typeface="페이퍼로지 3 Light" pitchFamily="2" charset="-127"/>
                <a:ea typeface="페이퍼로지 3 Light" pitchFamily="2" charset="-127"/>
                <a:cs typeface="Nanum Square"/>
                <a:sym typeface="Nanum Square"/>
              </a:rPr>
              <a:t>01087321208</a:t>
            </a:r>
          </a:p>
        </p:txBody>
      </p:sp>
      <p:sp>
        <p:nvSpPr>
          <p:cNvPr id="3" name="TextBox 12">
            <a:extLst>
              <a:ext uri="{FF2B5EF4-FFF2-40B4-BE49-F238E27FC236}">
                <a16:creationId xmlns:a16="http://schemas.microsoft.com/office/drawing/2014/main" id="{53E578E8-BEB2-F9C3-B705-9654E791AD13}"/>
              </a:ext>
            </a:extLst>
          </p:cNvPr>
          <p:cNvSpPr txBox="1"/>
          <p:nvPr/>
        </p:nvSpPr>
        <p:spPr>
          <a:xfrm>
            <a:off x="15135245" y="792625"/>
            <a:ext cx="2124055" cy="2116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768"/>
              </a:lnSpc>
            </a:pPr>
            <a:r>
              <a:rPr lang="ko-KR" altLang="en-US" sz="1474" b="1">
                <a:solidFill>
                  <a:srgbClr val="545454"/>
                </a:solidFill>
                <a:latin typeface="페이퍼로지 6 SemiBold" pitchFamily="2" charset="-127"/>
                <a:ea typeface="페이퍼로지 6 SemiBold" pitchFamily="2" charset="-127"/>
                <a:cs typeface="Nanum Square Bold"/>
                <a:sym typeface="Nanum Square Bold"/>
              </a:rPr>
              <a:t>선문대학교</a:t>
            </a:r>
            <a:endParaRPr lang="en-US" sz="1474" b="1">
              <a:solidFill>
                <a:srgbClr val="545454"/>
              </a:solidFill>
              <a:latin typeface="페이퍼로지 6 SemiBold" pitchFamily="2" charset="-127"/>
              <a:ea typeface="페이퍼로지 6 SemiBold" pitchFamily="2" charset="-127"/>
              <a:cs typeface="Nanum Square Bold"/>
              <a:sym typeface="Nanum Square Bold"/>
            </a:endParaRPr>
          </a:p>
        </p:txBody>
      </p:sp>
      <p:sp>
        <p:nvSpPr>
          <p:cNvPr id="4" name="TextBox 13">
            <a:extLst>
              <a:ext uri="{FF2B5EF4-FFF2-40B4-BE49-F238E27FC236}">
                <a16:creationId xmlns:a16="http://schemas.microsoft.com/office/drawing/2014/main" id="{758E2F66-CC42-4BD7-1F0D-522B7C44DBE9}"/>
              </a:ext>
            </a:extLst>
          </p:cNvPr>
          <p:cNvSpPr txBox="1"/>
          <p:nvPr/>
        </p:nvSpPr>
        <p:spPr>
          <a:xfrm>
            <a:off x="1123950" y="811675"/>
            <a:ext cx="3143250" cy="2239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888"/>
              </a:lnSpc>
            </a:pPr>
            <a:r>
              <a:rPr lang="ko-KR" altLang="en-US" sz="1574">
                <a:solidFill>
                  <a:srgbClr val="545454"/>
                </a:solidFill>
                <a:latin typeface="페이퍼로지 3 Light" pitchFamily="2" charset="-127"/>
                <a:ea typeface="페이퍼로지 3 Light" pitchFamily="2" charset="-127"/>
                <a:cs typeface="Nanum Square"/>
                <a:sym typeface="Nanum Square"/>
              </a:rPr>
              <a:t>한국언론학회 </a:t>
            </a:r>
            <a:r>
              <a:rPr lang="en-US" altLang="ko-KR" sz="1574">
                <a:solidFill>
                  <a:srgbClr val="545454"/>
                </a:solidFill>
                <a:latin typeface="페이퍼로지 3 Light" pitchFamily="2" charset="-127"/>
                <a:ea typeface="페이퍼로지 3 Light" pitchFamily="2" charset="-127"/>
                <a:cs typeface="Nanum Square"/>
                <a:sym typeface="Nanum Square"/>
              </a:rPr>
              <a:t>2025 </a:t>
            </a:r>
            <a:r>
              <a:rPr lang="ko-KR" altLang="en-US" sz="1574">
                <a:solidFill>
                  <a:srgbClr val="545454"/>
                </a:solidFill>
                <a:latin typeface="페이퍼로지 3 Light" pitchFamily="2" charset="-127"/>
                <a:ea typeface="페이퍼로지 3 Light" pitchFamily="2" charset="-127"/>
                <a:cs typeface="Nanum Square"/>
                <a:sym typeface="Nanum Square"/>
              </a:rPr>
              <a:t>가을철 학술대회</a:t>
            </a:r>
            <a:endParaRPr lang="en-US" sz="1574">
              <a:solidFill>
                <a:srgbClr val="545454"/>
              </a:solidFill>
              <a:latin typeface="페이퍼로지 3 Light" pitchFamily="2" charset="-127"/>
              <a:ea typeface="페이퍼로지 3 Light" pitchFamily="2" charset="-127"/>
              <a:cs typeface="Nanum Square"/>
              <a:sym typeface="Nanum Squar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612</TotalTime>
  <Words>2190</Words>
  <Application>Microsoft Office PowerPoint</Application>
  <PresentationFormat>사용자 지정</PresentationFormat>
  <Paragraphs>501</Paragraphs>
  <Slides>33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33</vt:i4>
      </vt:variant>
    </vt:vector>
  </HeadingPairs>
  <TitlesOfParts>
    <vt:vector size="45" baseType="lpstr">
      <vt:lpstr>페이퍼로지 4 Regular</vt:lpstr>
      <vt:lpstr>Arial</vt:lpstr>
      <vt:lpstr>페이퍼로지 2 ExtraLight</vt:lpstr>
      <vt:lpstr>페이퍼로지 5 Medium</vt:lpstr>
      <vt:lpstr>페이퍼로지 6 SemiBold</vt:lpstr>
      <vt:lpstr>페이퍼로지 3 Light</vt:lpstr>
      <vt:lpstr>페이퍼로지 7 Bold</vt:lpstr>
      <vt:lpstr>Calibri</vt:lpstr>
      <vt:lpstr>맑은 고딕</vt:lpstr>
      <vt:lpstr>조선굵은명조</vt:lpstr>
      <vt:lpstr>Noto Sans KR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yonghee kim</dc:creator>
  <cp:lastModifiedBy>yonghee kim</cp:lastModifiedBy>
  <cp:revision>6</cp:revision>
  <dcterms:created xsi:type="dcterms:W3CDTF">2006-08-16T00:00:00Z</dcterms:created>
  <dcterms:modified xsi:type="dcterms:W3CDTF">2025-10-11T01:22:27Z</dcterms:modified>
  <dc:identifier>DAG1Z2QKvSQ</dc:identifier>
</cp:coreProperties>
</file>